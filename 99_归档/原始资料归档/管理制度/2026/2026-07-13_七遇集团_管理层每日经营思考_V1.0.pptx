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over-title|s=$coverTitle"/>
          <p:cNvSpPr txBox="1"/>
          <p:nvPr/>
        </p:nvSpPr>
        <p:spPr>
          <a:xfrm>
            <a:off x="1333500" y="2286000"/>
            <a:ext cx="9525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3300" noProof="1" spc="150">
                <a:solidFill>
                  <a:srgbClr val="2D3436"/>
                </a:solidFill>
                <a:latin typeface="Liter"/>
                <a:ea typeface="alimamashuheiti"/>
              </a:rPr>
              <a:t>管理层每日经营思考</a:t>
            </a:r>
          </a:p>
        </p:txBody>
      </p:sp>
      <p:cxnSp>
        <p:nvCxnSpPr>
          <p:cNvPr id="3" name="dsl:cover-line"/>
          <p:cNvCxnSpPr/>
          <p:nvPr/>
        </p:nvCxnSpPr>
        <p:spPr>
          <a:xfrm>
            <a:off x="5143500" y="3143250"/>
            <a:ext cx="1905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cover-subtitle|s=$subtitle"/>
          <p:cNvSpPr txBox="1"/>
          <p:nvPr/>
        </p:nvSpPr>
        <p:spPr>
          <a:xfrm>
            <a:off x="2286000" y="33337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650" noProof="1">
                <a:solidFill>
                  <a:srgbClr val="636E72"/>
                </a:solidFill>
                <a:latin typeface="Liter"/>
                <a:ea typeface="MiSans"/>
              </a:rPr>
              <a:t>不是日报，而是把管理者训练成经营者</a:t>
            </a:r>
          </a:p>
        </p:txBody>
      </p:sp>
      <p:sp>
        <p:nvSpPr>
          <p:cNvPr id="5" name="dsl:cover-footer|s=$footer"/>
          <p:cNvSpPr txBox="1"/>
          <p:nvPr/>
        </p:nvSpPr>
        <p:spPr>
          <a:xfrm>
            <a:off x="3238500" y="590550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2-title|s=$title"/>
          <p:cNvSpPr txBox="1"/>
          <p:nvPr/>
        </p:nvSpPr>
        <p:spPr>
          <a:xfrm>
            <a:off x="762000" y="4762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2D3436"/>
                </a:solidFill>
                <a:latin typeface="Liter"/>
                <a:ea typeface="alimamashuheiti"/>
              </a:rPr>
              <a:t>今天不是来增加一张表</a:t>
            </a:r>
          </a:p>
        </p:txBody>
      </p:sp>
      <p:cxnSp>
        <p:nvCxnSpPr>
          <p:cNvPr id="3" name="dsl:p2-title-line"/>
          <p:cNvCxnSpPr/>
          <p:nvPr/>
        </p:nvCxnSpPr>
        <p:spPr>
          <a:xfrm>
            <a:off x="762000" y="914400"/>
            <a:ext cx="762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2-body|s=$body"/>
          <p:cNvSpPr txBox="1"/>
          <p:nvPr/>
        </p:nvSpPr>
        <p:spPr>
          <a:xfrm>
            <a:off x="762000" y="1238250"/>
            <a:ext cx="666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如果大家只把它理解成"又多了一份日报"，这件事一定做不好。</a:t>
            </a: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我们真正要做的，不是让管理层每天多写几行字。</a:t>
            </a: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而是让每一位管理者每天完成一次</a:t>
            </a:r>
            <a:r>
              <a:rPr b="1" sz="1500" noProof="1">
                <a:solidFill>
                  <a:srgbClr val="2D3436"/>
                </a:solidFill>
                <a:latin typeface="Liter"/>
                <a:ea typeface="MiSans"/>
              </a:rPr>
              <a:t>经营思考</a:t>
            </a: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。</a:t>
            </a:r>
          </a:p>
        </p:txBody>
      </p:sp>
      <p:sp>
        <p:nvSpPr>
          <p:cNvPr id="5" name="dsl:p2-quote-card"/>
          <p:cNvSpPr/>
          <p:nvPr/>
        </p:nvSpPr>
        <p:spPr>
          <a:xfrm>
            <a:off x="762000" y="3619500"/>
            <a:ext cx="10668000" cy="1143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p2-quote-bar"/>
          <p:cNvSpPr/>
          <p:nvPr/>
        </p:nvSpPr>
        <p:spPr>
          <a:xfrm>
            <a:off x="762000" y="3619500"/>
            <a:ext cx="38100" cy="1143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p2-quote"/>
          <p:cNvSpPr txBox="1"/>
          <p:nvPr/>
        </p:nvSpPr>
        <p:spPr>
          <a:xfrm>
            <a:off x="1047750" y="3810000"/>
            <a:ext cx="100965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800" noProof="1">
                <a:solidFill>
                  <a:srgbClr val="1B3A5C"/>
                </a:solidFill>
                <a:latin typeface="Liter"/>
                <a:ea typeface="alimamashuheiti"/>
              </a:rPr>
              <a:t>这不是日报，这是管理层经营能力训练。</a:t>
            </a:r>
          </a:p>
        </p:txBody>
      </p:sp>
      <p:sp>
        <p:nvSpPr>
          <p:cNvPr id="8" name="dsl:p2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3-title|s=$title"/>
          <p:cNvSpPr txBox="1"/>
          <p:nvPr/>
        </p:nvSpPr>
        <p:spPr>
          <a:xfrm>
            <a:off x="762000" y="47625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2D3436"/>
                </a:solidFill>
                <a:latin typeface="Liter"/>
                <a:ea typeface="alimamashuheiti"/>
              </a:rPr>
              <a:t>日报能看到工作，但看不到经营能力</a:t>
            </a:r>
          </a:p>
        </p:txBody>
      </p:sp>
      <p:cxnSp>
        <p:nvCxnSpPr>
          <p:cNvPr id="3" name="dsl:p3-title-line"/>
          <p:cNvCxnSpPr/>
          <p:nvPr/>
        </p:nvCxnSpPr>
        <p:spPr>
          <a:xfrm>
            <a:off x="762000" y="914400"/>
            <a:ext cx="762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3-left-header"/>
          <p:cNvSpPr txBox="1"/>
          <p:nvPr/>
        </p:nvSpPr>
        <p:spPr>
          <a:xfrm>
            <a:off x="762000" y="1238250"/>
            <a:ext cx="4953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636E72"/>
                </a:solidFill>
                <a:latin typeface="Liter"/>
                <a:ea typeface="alimamashuheiti"/>
              </a:rPr>
              <a:t>普通日报看到：</a:t>
            </a:r>
          </a:p>
        </p:txBody>
      </p:sp>
      <p:sp>
        <p:nvSpPr>
          <p:cNvPr id="5" name="dsl:p3-left-card"/>
          <p:cNvSpPr/>
          <p:nvPr/>
        </p:nvSpPr>
        <p:spPr>
          <a:xfrm>
            <a:off x="762000" y="1676400"/>
            <a:ext cx="4953000" cy="2286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p3-left-body|s=$bodySmall"/>
          <p:cNvSpPr txBox="1"/>
          <p:nvPr/>
        </p:nvSpPr>
        <p:spPr>
          <a:xfrm>
            <a:off x="1047750" y="1866900"/>
            <a:ext cx="4381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做了什么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忙不忙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有没有完成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还有什么待办</a:t>
            </a:r>
          </a:p>
        </p:txBody>
      </p:sp>
      <p:sp>
        <p:nvSpPr>
          <p:cNvPr id="7" name="dsl:p3-right-header"/>
          <p:cNvSpPr txBox="1"/>
          <p:nvPr/>
        </p:nvSpPr>
        <p:spPr>
          <a:xfrm>
            <a:off x="6096000" y="1238250"/>
            <a:ext cx="5334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1B3A5C"/>
                </a:solidFill>
                <a:latin typeface="Liter"/>
                <a:ea typeface="alimamashuheiti"/>
              </a:rPr>
              <a:t>公司真正需要看到：</a:t>
            </a:r>
          </a:p>
        </p:txBody>
      </p:sp>
      <p:sp>
        <p:nvSpPr>
          <p:cNvPr id="8" name="dsl:p3-right-card"/>
          <p:cNvSpPr/>
          <p:nvPr/>
        </p:nvSpPr>
        <p:spPr>
          <a:xfrm>
            <a:off x="6096000" y="1676400"/>
            <a:ext cx="5334000" cy="2286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p3-right-bar"/>
          <p:cNvSpPr/>
          <p:nvPr/>
        </p:nvSpPr>
        <p:spPr>
          <a:xfrm>
            <a:off x="6096000" y="1676400"/>
            <a:ext cx="38100" cy="2286000"/>
          </a:xfrm>
          <a:prstGeom prst="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3-right-body|s=$bodySmall"/>
          <p:cNvSpPr txBox="1"/>
          <p:nvPr/>
        </p:nvSpPr>
        <p:spPr>
          <a:xfrm>
            <a:off x="6381750" y="1866900"/>
            <a:ext cx="4762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创造了什么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经营结果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发现了什么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经营风险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做出了什么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判断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提出了什么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方案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沉淀了什么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组织资产</a:t>
            </a:r>
          </a:p>
        </p:txBody>
      </p:sp>
      <p:cxnSp>
        <p:nvCxnSpPr>
          <p:cNvPr id="11" name="dsl:p3-bottom-line"/>
          <p:cNvCxnSpPr/>
          <p:nvPr/>
        </p:nvCxnSpPr>
        <p:spPr>
          <a:xfrm>
            <a:off x="762000" y="4381500"/>
            <a:ext cx="10668000" cy="0"/>
          </a:xfrm>
          <a:prstGeom prst="straightConnector1">
            <a:avLst/>
          </a:prstGeom>
          <a:ln w="12700">
            <a:solidFill>
              <a:srgbClr val="B2BEC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p3-quote"/>
          <p:cNvSpPr txBox="1"/>
          <p:nvPr/>
        </p:nvSpPr>
        <p:spPr>
          <a:xfrm>
            <a:off x="762000" y="4667250"/>
            <a:ext cx="10668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50" noProof="1">
                <a:solidFill>
                  <a:srgbClr val="2D3436"/>
                </a:solidFill>
                <a:latin typeface="Liter"/>
                <a:ea typeface="alimamashuheiti"/>
              </a:rPr>
              <a:t>工作记录只能说明今天做过什么，经营思考才能说明你是否在管理。</a:t>
            </a:r>
          </a:p>
        </p:txBody>
      </p:sp>
      <p:sp>
        <p:nvSpPr>
          <p:cNvPr id="13" name="dsl:p3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4-title|s=$title"/>
          <p:cNvSpPr txBox="1"/>
          <p:nvPr/>
        </p:nvSpPr>
        <p:spPr>
          <a:xfrm>
            <a:off x="762000" y="476250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2D3436"/>
                </a:solidFill>
                <a:latin typeface="Liter"/>
                <a:ea typeface="alimamashuheiti"/>
              </a:rPr>
              <a:t>公司不缺做事的人，缺真正经营事情的人</a:t>
            </a:r>
          </a:p>
        </p:txBody>
      </p:sp>
      <p:cxnSp>
        <p:nvCxnSpPr>
          <p:cNvPr id="3" name="dsl:p4-title-line"/>
          <p:cNvCxnSpPr/>
          <p:nvPr/>
        </p:nvCxnSpPr>
        <p:spPr>
          <a:xfrm>
            <a:off x="762000" y="914400"/>
            <a:ext cx="762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4-left-header"/>
          <p:cNvSpPr txBox="1"/>
          <p:nvPr/>
        </p:nvSpPr>
        <p:spPr>
          <a:xfrm>
            <a:off x="762000" y="1333500"/>
            <a:ext cx="4953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636E72"/>
                </a:solidFill>
                <a:latin typeface="Liter"/>
                <a:ea typeface="alimamashuheiti"/>
              </a:rPr>
              <a:t>管理层不能只做：</a:t>
            </a:r>
          </a:p>
        </p:txBody>
      </p:sp>
      <p:sp>
        <p:nvSpPr>
          <p:cNvPr id="5" name="dsl:p4-left-card"/>
          <p:cNvSpPr/>
          <p:nvPr/>
        </p:nvSpPr>
        <p:spPr>
          <a:xfrm>
            <a:off x="762000" y="1771650"/>
            <a:ext cx="4953000" cy="20955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p4-left-body|s=$bodySmall"/>
          <p:cNvSpPr txBox="1"/>
          <p:nvPr/>
        </p:nvSpPr>
        <p:spPr>
          <a:xfrm>
            <a:off x="1047750" y="1962150"/>
            <a:ext cx="43815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任务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执行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者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问题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传递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者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结果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汇报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者</a:t>
            </a:r>
          </a:p>
        </p:txBody>
      </p:sp>
      <p:sp>
        <p:nvSpPr>
          <p:cNvPr id="7" name="dsl:p4-arrow"/>
          <p:cNvSpPr/>
          <p:nvPr/>
        </p:nvSpPr>
        <p:spPr>
          <a:xfrm>
            <a:off x="5810250" y="2476500"/>
            <a:ext cx="571500" cy="571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p4-right-header"/>
          <p:cNvSpPr txBox="1"/>
          <p:nvPr/>
        </p:nvSpPr>
        <p:spPr>
          <a:xfrm>
            <a:off x="6667500" y="1333500"/>
            <a:ext cx="4762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1B3A5C"/>
                </a:solidFill>
                <a:latin typeface="Liter"/>
                <a:ea typeface="alimamashuheiti"/>
              </a:rPr>
              <a:t>管理层要成为：</a:t>
            </a:r>
          </a:p>
        </p:txBody>
      </p:sp>
      <p:sp>
        <p:nvSpPr>
          <p:cNvPr id="9" name="dsl:p4-right-card"/>
          <p:cNvSpPr/>
          <p:nvPr/>
        </p:nvSpPr>
        <p:spPr>
          <a:xfrm>
            <a:off x="6667500" y="1771650"/>
            <a:ext cx="4762500" cy="2667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4-right-bar"/>
          <p:cNvSpPr/>
          <p:nvPr/>
        </p:nvSpPr>
        <p:spPr>
          <a:xfrm>
            <a:off x="6667500" y="1771650"/>
            <a:ext cx="38100" cy="2667000"/>
          </a:xfrm>
          <a:prstGeom prst="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p4-right-body|s=$bodySmall"/>
          <p:cNvSpPr txBox="1"/>
          <p:nvPr/>
        </p:nvSpPr>
        <p:spPr>
          <a:xfrm>
            <a:off x="6953250" y="1962150"/>
            <a:ext cx="4191000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问题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发现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者</a:t>
            </a:r>
          </a:p>
          <a:p>
            <a:pPr algn="l">
              <a:lnSpc>
                <a:spcPct val="150000"/>
              </a:lnSpc>
              <a:spcBef>
                <a:spcPts val="10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经营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判断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者</a:t>
            </a:r>
          </a:p>
          <a:p>
            <a:pPr algn="l">
              <a:lnSpc>
                <a:spcPct val="150000"/>
              </a:lnSpc>
              <a:spcBef>
                <a:spcPts val="10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方案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提出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者</a:t>
            </a:r>
          </a:p>
          <a:p>
            <a:pPr algn="l">
              <a:lnSpc>
                <a:spcPct val="150000"/>
              </a:lnSpc>
              <a:spcBef>
                <a:spcPts val="10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结果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负责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人</a:t>
            </a:r>
          </a:p>
          <a:p>
            <a:pPr algn="l">
              <a:lnSpc>
                <a:spcPct val="150000"/>
              </a:lnSpc>
              <a:spcBef>
                <a:spcPts val="10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组织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能力建设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者</a:t>
            </a:r>
          </a:p>
        </p:txBody>
      </p:sp>
      <p:sp>
        <p:nvSpPr>
          <p:cNvPr id="12" name="dsl:p4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5-title|s=$title"/>
          <p:cNvSpPr txBox="1"/>
          <p:nvPr/>
        </p:nvSpPr>
        <p:spPr>
          <a:xfrm>
            <a:off x="762000" y="476250"/>
            <a:ext cx="571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2D3436"/>
                </a:solidFill>
                <a:latin typeface="Liter"/>
                <a:ea typeface="alimamashuheiti"/>
              </a:rPr>
              <a:t>从执行者，到经营者</a:t>
            </a:r>
          </a:p>
        </p:txBody>
      </p:sp>
      <p:cxnSp>
        <p:nvCxnSpPr>
          <p:cNvPr id="3" name="dsl:p5-title-line"/>
          <p:cNvCxnSpPr/>
          <p:nvPr/>
        </p:nvCxnSpPr>
        <p:spPr>
          <a:xfrm>
            <a:off x="762000" y="914400"/>
            <a:ext cx="762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5-left-header"/>
          <p:cNvSpPr txBox="1"/>
          <p:nvPr/>
        </p:nvSpPr>
        <p:spPr>
          <a:xfrm>
            <a:off x="762000" y="1238250"/>
            <a:ext cx="4953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636E72"/>
                </a:solidFill>
                <a:latin typeface="Liter"/>
                <a:ea typeface="alimamashuheiti"/>
              </a:rPr>
              <a:t>执行者</a:t>
            </a:r>
          </a:p>
        </p:txBody>
      </p:sp>
      <p:sp>
        <p:nvSpPr>
          <p:cNvPr id="5" name="dsl:p5-left-card"/>
          <p:cNvSpPr/>
          <p:nvPr/>
        </p:nvSpPr>
        <p:spPr>
          <a:xfrm>
            <a:off x="762000" y="1676400"/>
            <a:ext cx="4953000" cy="1905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p5-left-body|s=$bodySmall"/>
          <p:cNvSpPr txBox="1"/>
          <p:nvPr/>
        </p:nvSpPr>
        <p:spPr>
          <a:xfrm>
            <a:off x="1047750" y="1866900"/>
            <a:ext cx="43815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等任务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报进度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讲困难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等老板判断</a:t>
            </a:r>
          </a:p>
        </p:txBody>
      </p:sp>
      <p:sp>
        <p:nvSpPr>
          <p:cNvPr id="7" name="dsl:p5-right-header"/>
          <p:cNvSpPr txBox="1"/>
          <p:nvPr/>
        </p:nvSpPr>
        <p:spPr>
          <a:xfrm>
            <a:off x="6096000" y="1238250"/>
            <a:ext cx="5334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2D5A3D"/>
                </a:solidFill>
                <a:latin typeface="Liter"/>
                <a:ea typeface="alimamashuheiti"/>
              </a:rPr>
              <a:t>经营者</a:t>
            </a:r>
          </a:p>
        </p:txBody>
      </p:sp>
      <p:sp>
        <p:nvSpPr>
          <p:cNvPr id="8" name="dsl:p5-right-card"/>
          <p:cNvSpPr/>
          <p:nvPr/>
        </p:nvSpPr>
        <p:spPr>
          <a:xfrm>
            <a:off x="6096000" y="1676400"/>
            <a:ext cx="5334000" cy="2286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p5-right-bar"/>
          <p:cNvSpPr/>
          <p:nvPr/>
        </p:nvSpPr>
        <p:spPr>
          <a:xfrm>
            <a:off x="6096000" y="1676400"/>
            <a:ext cx="38100" cy="2286000"/>
          </a:xfrm>
          <a:prstGeom prst="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5-right-body|s=$bodySmall"/>
          <p:cNvSpPr txBox="1"/>
          <p:nvPr/>
        </p:nvSpPr>
        <p:spPr>
          <a:xfrm>
            <a:off x="6381750" y="1866900"/>
            <a:ext cx="4762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看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结果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找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风险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做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判断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带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方案</a:t>
            </a:r>
          </a:p>
          <a:p>
            <a:pPr algn="l">
              <a:lnSpc>
                <a:spcPct val="150000"/>
              </a:lnSpc>
              <a:spcBef>
                <a:spcPts val="9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建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机制</a:t>
            </a:r>
          </a:p>
        </p:txBody>
      </p:sp>
      <p:cxnSp>
        <p:nvCxnSpPr>
          <p:cNvPr id="11" name="dsl:p5-bottom-line"/>
          <p:cNvCxnSpPr/>
          <p:nvPr/>
        </p:nvCxnSpPr>
        <p:spPr>
          <a:xfrm>
            <a:off x="762000" y="4381500"/>
            <a:ext cx="10668000" cy="0"/>
          </a:xfrm>
          <a:prstGeom prst="straightConnector1">
            <a:avLst/>
          </a:prstGeom>
          <a:ln w="12700">
            <a:solidFill>
              <a:srgbClr val="B2BEC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p5-quote"/>
          <p:cNvSpPr txBox="1"/>
          <p:nvPr/>
        </p:nvSpPr>
        <p:spPr>
          <a:xfrm>
            <a:off x="762000" y="4667250"/>
            <a:ext cx="10668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noProof="1">
                <a:solidFill>
                  <a:srgbClr val="2D3436"/>
                </a:solidFill>
                <a:latin typeface="Liter"/>
                <a:ea typeface="alimamashuheiti"/>
              </a:rPr>
              <a:t>管理者的价值，不是让老板知道你很忙，而是让公司更早看到问题、更快形成方案。</a:t>
            </a:r>
          </a:p>
        </p:txBody>
      </p:sp>
      <p:sp>
        <p:nvSpPr>
          <p:cNvPr id="13" name="dsl:p5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6-quote|s=$quote"/>
          <p:cNvSpPr txBox="1"/>
          <p:nvPr/>
        </p:nvSpPr>
        <p:spPr>
          <a:xfrm>
            <a:off x="1143000" y="2286000"/>
            <a:ext cx="9906000" cy="1333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3000" noProof="1" spc="150">
                <a:solidFill>
                  <a:srgbClr val="2D3436"/>
                </a:solidFill>
                <a:latin typeface="Liter"/>
                <a:ea typeface="alimamashuheiti"/>
              </a:rPr>
              <a:t>管理层每天至少要完成</a:t>
            </a:r>
          </a:p>
          <a:p>
            <a:pPr algn="ctr">
              <a:lnSpc>
                <a:spcPct val="140000"/>
              </a:lnSpc>
            </a:pPr>
            <a:r>
              <a:rPr sz="3000" noProof="1" spc="150">
                <a:solidFill>
                  <a:srgbClr val="2D3436"/>
                </a:solidFill>
                <a:latin typeface="Liter"/>
                <a:ea typeface="alimamashuheiti"/>
              </a:rPr>
              <a:t>一次经营判断。</a:t>
            </a:r>
          </a:p>
        </p:txBody>
      </p:sp>
      <p:cxnSp>
        <p:nvCxnSpPr>
          <p:cNvPr id="3" name="dsl:p6-line-top"/>
          <p:cNvCxnSpPr/>
          <p:nvPr/>
        </p:nvCxnSpPr>
        <p:spPr>
          <a:xfrm>
            <a:off x="5143500" y="2000250"/>
            <a:ext cx="1905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sl:p6-line-bottom"/>
          <p:cNvCxnSpPr/>
          <p:nvPr/>
        </p:nvCxnSpPr>
        <p:spPr>
          <a:xfrm>
            <a:off x="5143500" y="3810000"/>
            <a:ext cx="1905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sl:p6-sub|s=$quoteSub"/>
          <p:cNvSpPr txBox="1"/>
          <p:nvPr/>
        </p:nvSpPr>
        <p:spPr>
          <a:xfrm>
            <a:off x="2286000" y="4095750"/>
            <a:ext cx="7620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1350" noProof="1">
                <a:solidFill>
                  <a:srgbClr val="636E72"/>
                </a:solidFill>
                <a:latin typeface="Liter"/>
                <a:ea typeface="MiSans"/>
              </a:rPr>
              <a:t>没有判断，就没有管理。没有沉淀，就没有组织能力。</a:t>
            </a:r>
          </a:p>
        </p:txBody>
      </p:sp>
      <p:sp>
        <p:nvSpPr>
          <p:cNvPr id="6" name="dsl:p6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7-title|s=$title"/>
          <p:cNvSpPr txBox="1"/>
          <p:nvPr/>
        </p:nvSpPr>
        <p:spPr>
          <a:xfrm>
            <a:off x="762000" y="476250"/>
            <a:ext cx="571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2D3436"/>
                </a:solidFill>
                <a:latin typeface="Liter"/>
                <a:ea typeface="alimamashuheiti"/>
              </a:rPr>
              <a:t>每天只回答七个问题</a:t>
            </a:r>
          </a:p>
        </p:txBody>
      </p:sp>
      <p:cxnSp>
        <p:nvCxnSpPr>
          <p:cNvPr id="3" name="dsl:p7-title-line"/>
          <p:cNvCxnSpPr/>
          <p:nvPr/>
        </p:nvCxnSpPr>
        <p:spPr>
          <a:xfrm>
            <a:off x="762000" y="914400"/>
            <a:ext cx="762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7-q1-bg"/>
          <p:cNvSpPr/>
          <p:nvPr/>
        </p:nvSpPr>
        <p:spPr>
          <a:xfrm>
            <a:off x="762000" y="1238250"/>
            <a:ext cx="3429000" cy="762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p7-q1-num"/>
          <p:cNvSpPr txBox="1"/>
          <p:nvPr/>
        </p:nvSpPr>
        <p:spPr>
          <a:xfrm>
            <a:off x="857250" y="1333500"/>
            <a:ext cx="381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1B3A5C"/>
                </a:solidFill>
                <a:latin typeface="Liter"/>
                <a:ea typeface="alimamashuheiti"/>
              </a:rPr>
              <a:t>01</a:t>
            </a:r>
          </a:p>
        </p:txBody>
      </p:sp>
      <p:sp>
        <p:nvSpPr>
          <p:cNvPr id="6" name="dsl:p7-q1-text"/>
          <p:cNvSpPr txBox="1"/>
          <p:nvPr/>
        </p:nvSpPr>
        <p:spPr>
          <a:xfrm>
            <a:off x="1333500" y="1333500"/>
            <a:ext cx="27622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今天最大的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经营成果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是什么？</a:t>
            </a:r>
          </a:p>
        </p:txBody>
      </p:sp>
      <p:sp>
        <p:nvSpPr>
          <p:cNvPr id="7" name="dsl:p7-q2-bg"/>
          <p:cNvSpPr/>
          <p:nvPr/>
        </p:nvSpPr>
        <p:spPr>
          <a:xfrm>
            <a:off x="4381500" y="1238250"/>
            <a:ext cx="3429000" cy="762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p7-q2-num"/>
          <p:cNvSpPr txBox="1"/>
          <p:nvPr/>
        </p:nvSpPr>
        <p:spPr>
          <a:xfrm>
            <a:off x="4476750" y="1333500"/>
            <a:ext cx="381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1B3A5C"/>
                </a:solidFill>
                <a:latin typeface="Liter"/>
                <a:ea typeface="alimamashuheiti"/>
              </a:rPr>
              <a:t>02</a:t>
            </a:r>
          </a:p>
        </p:txBody>
      </p:sp>
      <p:sp>
        <p:nvSpPr>
          <p:cNvPr id="9" name="dsl:p7-q2-text"/>
          <p:cNvSpPr txBox="1"/>
          <p:nvPr/>
        </p:nvSpPr>
        <p:spPr>
          <a:xfrm>
            <a:off x="4953000" y="1333500"/>
            <a:ext cx="27622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今天发现了什么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经营风险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？</a:t>
            </a:r>
          </a:p>
        </p:txBody>
      </p:sp>
      <p:sp>
        <p:nvSpPr>
          <p:cNvPr id="10" name="dsl:p7-q3-bg"/>
          <p:cNvSpPr/>
          <p:nvPr/>
        </p:nvSpPr>
        <p:spPr>
          <a:xfrm>
            <a:off x="8001000" y="1238250"/>
            <a:ext cx="3429000" cy="762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p7-q3-num"/>
          <p:cNvSpPr txBox="1"/>
          <p:nvPr/>
        </p:nvSpPr>
        <p:spPr>
          <a:xfrm>
            <a:off x="8096250" y="1333500"/>
            <a:ext cx="381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1B3A5C"/>
                </a:solidFill>
                <a:latin typeface="Liter"/>
                <a:ea typeface="alimamashuheiti"/>
              </a:rPr>
              <a:t>03</a:t>
            </a:r>
          </a:p>
        </p:txBody>
      </p:sp>
      <p:sp>
        <p:nvSpPr>
          <p:cNvPr id="12" name="dsl:p7-q3-text"/>
          <p:cNvSpPr txBox="1"/>
          <p:nvPr/>
        </p:nvSpPr>
        <p:spPr>
          <a:xfrm>
            <a:off x="8572500" y="1333500"/>
            <a:ext cx="27622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我的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判断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是什么？</a:t>
            </a:r>
          </a:p>
        </p:txBody>
      </p:sp>
      <p:sp>
        <p:nvSpPr>
          <p:cNvPr id="13" name="dsl:p7-q4-bg"/>
          <p:cNvSpPr/>
          <p:nvPr/>
        </p:nvSpPr>
        <p:spPr>
          <a:xfrm>
            <a:off x="762000" y="2190750"/>
            <a:ext cx="3429000" cy="762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7-q4-num"/>
          <p:cNvSpPr txBox="1"/>
          <p:nvPr/>
        </p:nvSpPr>
        <p:spPr>
          <a:xfrm>
            <a:off x="857250" y="2286000"/>
            <a:ext cx="381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1B3A5C"/>
                </a:solidFill>
                <a:latin typeface="Liter"/>
                <a:ea typeface="alimamashuheiti"/>
              </a:rPr>
              <a:t>04</a:t>
            </a:r>
          </a:p>
        </p:txBody>
      </p:sp>
      <p:sp>
        <p:nvSpPr>
          <p:cNvPr id="15" name="dsl:p7-q4-text"/>
          <p:cNvSpPr txBox="1"/>
          <p:nvPr/>
        </p:nvSpPr>
        <p:spPr>
          <a:xfrm>
            <a:off x="1333500" y="2286000"/>
            <a:ext cx="27622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我的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解决方案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是什么？</a:t>
            </a:r>
          </a:p>
        </p:txBody>
      </p:sp>
      <p:sp>
        <p:nvSpPr>
          <p:cNvPr id="16" name="dsl:p7-q5-bg"/>
          <p:cNvSpPr/>
          <p:nvPr/>
        </p:nvSpPr>
        <p:spPr>
          <a:xfrm>
            <a:off x="4381500" y="2190750"/>
            <a:ext cx="3429000" cy="762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p7-q5-num"/>
          <p:cNvSpPr txBox="1"/>
          <p:nvPr/>
        </p:nvSpPr>
        <p:spPr>
          <a:xfrm>
            <a:off x="4476750" y="2286000"/>
            <a:ext cx="381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1B3A5C"/>
                </a:solidFill>
                <a:latin typeface="Liter"/>
                <a:ea typeface="alimamashuheiti"/>
              </a:rPr>
              <a:t>05</a:t>
            </a:r>
          </a:p>
        </p:txBody>
      </p:sp>
      <p:sp>
        <p:nvSpPr>
          <p:cNvPr id="18" name="dsl:p7-q5-text"/>
          <p:cNvSpPr txBox="1"/>
          <p:nvPr/>
        </p:nvSpPr>
        <p:spPr>
          <a:xfrm>
            <a:off x="4953000" y="2286000"/>
            <a:ext cx="27622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今天需要老板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支持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什么？</a:t>
            </a:r>
          </a:p>
        </p:txBody>
      </p:sp>
      <p:sp>
        <p:nvSpPr>
          <p:cNvPr id="19" name="dsl:p7-q6-bg"/>
          <p:cNvSpPr/>
          <p:nvPr/>
        </p:nvSpPr>
        <p:spPr>
          <a:xfrm>
            <a:off x="8001000" y="2190750"/>
            <a:ext cx="3429000" cy="762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p7-q6-num"/>
          <p:cNvSpPr txBox="1"/>
          <p:nvPr/>
        </p:nvSpPr>
        <p:spPr>
          <a:xfrm>
            <a:off x="8096250" y="2286000"/>
            <a:ext cx="381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1B3A5C"/>
                </a:solidFill>
                <a:latin typeface="Liter"/>
                <a:ea typeface="alimamashuheiti"/>
              </a:rPr>
              <a:t>06</a:t>
            </a:r>
          </a:p>
        </p:txBody>
      </p:sp>
      <p:sp>
        <p:nvSpPr>
          <p:cNvPr id="21" name="dsl:p7-q6-text"/>
          <p:cNvSpPr txBox="1"/>
          <p:nvPr/>
        </p:nvSpPr>
        <p:spPr>
          <a:xfrm>
            <a:off x="8572500" y="2286000"/>
            <a:ext cx="27622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今天沉淀了什么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组织资产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？</a:t>
            </a:r>
          </a:p>
        </p:txBody>
      </p:sp>
      <p:sp>
        <p:nvSpPr>
          <p:cNvPr id="22" name="dsl:p7-q7-bg"/>
          <p:cNvSpPr/>
          <p:nvPr/>
        </p:nvSpPr>
        <p:spPr>
          <a:xfrm>
            <a:off x="762000" y="3143250"/>
            <a:ext cx="3429000" cy="762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p7-q7-num"/>
          <p:cNvSpPr txBox="1"/>
          <p:nvPr/>
        </p:nvSpPr>
        <p:spPr>
          <a:xfrm>
            <a:off x="857250" y="3238500"/>
            <a:ext cx="381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1B3A5C"/>
                </a:solidFill>
                <a:latin typeface="Liter"/>
                <a:ea typeface="alimamashuheiti"/>
              </a:rPr>
              <a:t>07</a:t>
            </a:r>
          </a:p>
        </p:txBody>
      </p:sp>
      <p:sp>
        <p:nvSpPr>
          <p:cNvPr id="24" name="dsl:p7-q7-text"/>
          <p:cNvSpPr txBox="1"/>
          <p:nvPr/>
        </p:nvSpPr>
        <p:spPr>
          <a:xfrm>
            <a:off x="1333500" y="3238500"/>
            <a:ext cx="27622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明天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最重要的一件事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是什么？</a:t>
            </a:r>
          </a:p>
        </p:txBody>
      </p:sp>
      <p:cxnSp>
        <p:nvCxnSpPr>
          <p:cNvPr id="25" name="dsl:p7-bottom-line"/>
          <p:cNvCxnSpPr/>
          <p:nvPr/>
        </p:nvCxnSpPr>
        <p:spPr>
          <a:xfrm>
            <a:off x="762000" y="4381500"/>
            <a:ext cx="10668000" cy="0"/>
          </a:xfrm>
          <a:prstGeom prst="straightConnector1">
            <a:avLst/>
          </a:prstGeom>
          <a:ln w="12700">
            <a:solidFill>
              <a:srgbClr val="B2BEC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sl:p7-note"/>
          <p:cNvSpPr txBox="1"/>
          <p:nvPr/>
        </p:nvSpPr>
        <p:spPr>
          <a:xfrm>
            <a:off x="762000" y="4667250"/>
            <a:ext cx="10668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50" noProof="1">
                <a:solidFill>
                  <a:srgbClr val="1B3A5C"/>
                </a:solidFill>
                <a:latin typeface="Liter"/>
                <a:ea typeface="alimamashuheiti"/>
              </a:rPr>
              <a:t>这七个问题，不是为了写得好看，而是为了训练管理者的经营脑。</a:t>
            </a:r>
          </a:p>
        </p:txBody>
      </p:sp>
      <p:sp>
        <p:nvSpPr>
          <p:cNvPr id="27" name="dsl:p7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8-title|s=$title"/>
          <p:cNvSpPr txBox="1"/>
          <p:nvPr/>
        </p:nvSpPr>
        <p:spPr>
          <a:xfrm>
            <a:off x="762000" y="47625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2D3436"/>
                </a:solidFill>
                <a:latin typeface="Liter"/>
                <a:ea typeface="alimamashuheiti"/>
              </a:rPr>
              <a:t>不要写工作内容，要写经营价值</a:t>
            </a:r>
          </a:p>
        </p:txBody>
      </p:sp>
      <p:cxnSp>
        <p:nvCxnSpPr>
          <p:cNvPr id="3" name="dsl:p8-title-line"/>
          <p:cNvCxnSpPr/>
          <p:nvPr/>
        </p:nvCxnSpPr>
        <p:spPr>
          <a:xfrm>
            <a:off x="762000" y="914400"/>
            <a:ext cx="762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8-label"/>
          <p:cNvSpPr txBox="1"/>
          <p:nvPr/>
        </p:nvSpPr>
        <p:spPr>
          <a:xfrm>
            <a:off x="762000" y="1143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1B3A5C"/>
                </a:solidFill>
                <a:latin typeface="Liter"/>
                <a:ea typeface="MiSans"/>
              </a:rPr>
              <a:t>第一问 ｜ 今天最大的经营成果</a:t>
            </a:r>
          </a:p>
        </p:txBody>
      </p:sp>
      <p:sp>
        <p:nvSpPr>
          <p:cNvPr id="5" name="dsl:p8-question"/>
          <p:cNvSpPr txBox="1"/>
          <p:nvPr/>
        </p:nvSpPr>
        <p:spPr>
          <a:xfrm>
            <a:off x="762000" y="1524000"/>
            <a:ext cx="6667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2D3436"/>
                </a:solidFill>
                <a:latin typeface="Liter"/>
                <a:ea typeface="alimamashuheiti"/>
              </a:rPr>
              <a:t>今天真正推动经营向前的一件事是什么？</a:t>
            </a:r>
          </a:p>
        </p:txBody>
      </p:sp>
      <p:sp>
        <p:nvSpPr>
          <p:cNvPr id="6" name="dsl:p8-example-header"/>
          <p:cNvSpPr txBox="1"/>
          <p:nvPr/>
        </p:nvSpPr>
        <p:spPr>
          <a:xfrm>
            <a:off x="762000" y="2095500"/>
            <a:ext cx="190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36E72"/>
                </a:solidFill>
                <a:latin typeface="Liter"/>
                <a:ea typeface="MiSans"/>
              </a:rPr>
              <a:t>示例：</a:t>
            </a:r>
          </a:p>
        </p:txBody>
      </p:sp>
      <p:sp>
        <p:nvSpPr>
          <p:cNvPr id="7" name="dsl:p8-example-card"/>
          <p:cNvSpPr/>
          <p:nvPr/>
        </p:nvSpPr>
        <p:spPr>
          <a:xfrm>
            <a:off x="762000" y="2476500"/>
            <a:ext cx="6667500" cy="1905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p8-example-body|s=$bodySmall"/>
          <p:cNvSpPr txBox="1"/>
          <p:nvPr/>
        </p:nvSpPr>
        <p:spPr>
          <a:xfrm>
            <a:off x="1047750" y="2667000"/>
            <a:ext cx="6096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推进某OEM客户合作，明确成交节点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谈回毛利2个百分点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优化报价流程，减少重复沟通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用AI生成报价模板，提高团队效率</a:t>
            </a:r>
          </a:p>
        </p:txBody>
      </p:sp>
      <p:sp>
        <p:nvSpPr>
          <p:cNvPr id="9" name="dsl:p8-criteria-header"/>
          <p:cNvSpPr txBox="1"/>
          <p:nvPr/>
        </p:nvSpPr>
        <p:spPr>
          <a:xfrm>
            <a:off x="762000" y="466725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36E72"/>
                </a:solidFill>
                <a:latin typeface="Liter"/>
                <a:ea typeface="MiSans"/>
              </a:rPr>
              <a:t>判断标准：</a:t>
            </a:r>
          </a:p>
        </p:txBody>
      </p:sp>
      <p:sp>
        <p:nvSpPr>
          <p:cNvPr id="10" name="dsl:p8-criteria-body"/>
          <p:cNvSpPr txBox="1"/>
          <p:nvPr/>
        </p:nvSpPr>
        <p:spPr>
          <a:xfrm>
            <a:off x="762000" y="5048250"/>
            <a:ext cx="7620000" cy="3429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是否影响收入、利润、效率、交付、客户信任或组织能力？</a:t>
            </a:r>
          </a:p>
        </p:txBody>
      </p:sp>
      <p:sp>
        <p:nvSpPr>
          <p:cNvPr id="11" name="dsl:p8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9-title|s=$title"/>
          <p:cNvSpPr txBox="1"/>
          <p:nvPr/>
        </p:nvSpPr>
        <p:spPr>
          <a:xfrm>
            <a:off x="762000" y="47625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2D3436"/>
                </a:solidFill>
                <a:latin typeface="Liter"/>
                <a:ea typeface="alimamashuheiti"/>
              </a:rPr>
              <a:t>风险不是抱怨，是提前看见问题</a:t>
            </a:r>
          </a:p>
        </p:txBody>
      </p:sp>
      <p:cxnSp>
        <p:nvCxnSpPr>
          <p:cNvPr id="3" name="dsl:p9-title-line"/>
          <p:cNvCxnSpPr/>
          <p:nvPr/>
        </p:nvCxnSpPr>
        <p:spPr>
          <a:xfrm>
            <a:off x="762000" y="914400"/>
            <a:ext cx="762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9-label"/>
          <p:cNvSpPr txBox="1"/>
          <p:nvPr/>
        </p:nvSpPr>
        <p:spPr>
          <a:xfrm>
            <a:off x="762000" y="1143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1B3A5C"/>
                </a:solidFill>
                <a:latin typeface="Liter"/>
                <a:ea typeface="MiSans"/>
              </a:rPr>
              <a:t>第二问 ｜ 今天发现了什么经营风险</a:t>
            </a:r>
          </a:p>
        </p:txBody>
      </p:sp>
      <p:sp>
        <p:nvSpPr>
          <p:cNvPr id="5" name="dsl:p9-must-header"/>
          <p:cNvSpPr txBox="1"/>
          <p:nvPr/>
        </p:nvSpPr>
        <p:spPr>
          <a:xfrm>
            <a:off x="762000" y="161925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36E72"/>
                </a:solidFill>
                <a:latin typeface="Liter"/>
                <a:ea typeface="MiSans"/>
              </a:rPr>
              <a:t>必须说清楚：</a:t>
            </a:r>
          </a:p>
        </p:txBody>
      </p:sp>
      <p:sp>
        <p:nvSpPr>
          <p:cNvPr id="6" name="dsl:p9-must-card"/>
          <p:cNvSpPr/>
          <p:nvPr/>
        </p:nvSpPr>
        <p:spPr>
          <a:xfrm>
            <a:off x="762000" y="2000250"/>
            <a:ext cx="5715000" cy="123825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p9-must-body|s=$bodySmall"/>
          <p:cNvSpPr txBox="1"/>
          <p:nvPr/>
        </p:nvSpPr>
        <p:spPr>
          <a:xfrm>
            <a:off x="1047750" y="2190750"/>
            <a:ext cx="51435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风险是什么？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为什么值得关注？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如果不处理，会影响什么？</a:t>
            </a:r>
          </a:p>
        </p:txBody>
      </p:sp>
      <p:sp>
        <p:nvSpPr>
          <p:cNvPr id="8" name="dsl:p9-impact-header"/>
          <p:cNvSpPr txBox="1"/>
          <p:nvPr/>
        </p:nvSpPr>
        <p:spPr>
          <a:xfrm>
            <a:off x="762000" y="352425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36E72"/>
                </a:solidFill>
                <a:latin typeface="Liter"/>
                <a:ea typeface="MiSans"/>
              </a:rPr>
              <a:t>影响维度：</a:t>
            </a:r>
          </a:p>
        </p:txBody>
      </p:sp>
      <p:sp>
        <p:nvSpPr>
          <p:cNvPr id="9" name="dsl:p9-impact-body"/>
          <p:cNvSpPr txBox="1"/>
          <p:nvPr/>
        </p:nvSpPr>
        <p:spPr>
          <a:xfrm>
            <a:off x="762000" y="3905250"/>
            <a:ext cx="10668000" cy="3429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客户  /  利润  /  交付  /  回款  /  团队秩序  /  数据准确性  /  工作效率</a:t>
            </a:r>
          </a:p>
        </p:txBody>
      </p:sp>
      <p:cxnSp>
        <p:nvCxnSpPr>
          <p:cNvPr id="10" name="dsl:p9-bottom-line"/>
          <p:cNvCxnSpPr/>
          <p:nvPr/>
        </p:nvCxnSpPr>
        <p:spPr>
          <a:xfrm>
            <a:off x="762000" y="4572000"/>
            <a:ext cx="10668000" cy="0"/>
          </a:xfrm>
          <a:prstGeom prst="straightConnector1">
            <a:avLst/>
          </a:prstGeom>
          <a:ln w="12700">
            <a:solidFill>
              <a:srgbClr val="B2BEC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sl:p9-quote"/>
          <p:cNvSpPr txBox="1"/>
          <p:nvPr/>
        </p:nvSpPr>
        <p:spPr>
          <a:xfrm>
            <a:off x="762000" y="48577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50" noProof="1">
                <a:solidFill>
                  <a:srgbClr val="1B3A5C"/>
                </a:solidFill>
                <a:latin typeface="Liter"/>
                <a:ea typeface="alimamashuheiti"/>
              </a:rPr>
              <a:t>看不见风险的管理者，只是在等问题变大。</a:t>
            </a:r>
          </a:p>
        </p:txBody>
      </p:sp>
      <p:sp>
        <p:nvSpPr>
          <p:cNvPr id="12" name="dsl:p9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10-title|s=$title"/>
          <p:cNvSpPr txBox="1"/>
          <p:nvPr/>
        </p:nvSpPr>
        <p:spPr>
          <a:xfrm>
            <a:off x="762000" y="476250"/>
            <a:ext cx="571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2D3436"/>
                </a:solidFill>
                <a:latin typeface="Liter"/>
                <a:ea typeface="alimamashuheiti"/>
              </a:rPr>
              <a:t>没有判断，就没有管理</a:t>
            </a:r>
          </a:p>
        </p:txBody>
      </p:sp>
      <p:cxnSp>
        <p:nvCxnSpPr>
          <p:cNvPr id="3" name="dsl:p10-title-line"/>
          <p:cNvCxnSpPr/>
          <p:nvPr/>
        </p:nvCxnSpPr>
        <p:spPr>
          <a:xfrm>
            <a:off x="762000" y="914400"/>
            <a:ext cx="762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10-label"/>
          <p:cNvSpPr txBox="1"/>
          <p:nvPr/>
        </p:nvSpPr>
        <p:spPr>
          <a:xfrm>
            <a:off x="762000" y="11430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1B3A5C"/>
                </a:solidFill>
                <a:latin typeface="Liter"/>
                <a:ea typeface="MiSans"/>
              </a:rPr>
              <a:t>第三问 ｜ 我的判断是什么</a:t>
            </a:r>
          </a:p>
        </p:txBody>
      </p:sp>
      <p:sp>
        <p:nvSpPr>
          <p:cNvPr id="5" name="dsl:p10-body|s=$body"/>
          <p:cNvSpPr txBox="1"/>
          <p:nvPr/>
        </p:nvSpPr>
        <p:spPr>
          <a:xfrm>
            <a:off x="762000" y="1619250"/>
            <a:ext cx="6667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只描述现象，不叫管理。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管理层必须说出自己对问题</a:t>
            </a:r>
            <a:r>
              <a:rPr b="1" sz="1500" noProof="1">
                <a:solidFill>
                  <a:srgbClr val="2D3436"/>
                </a:solidFill>
                <a:latin typeface="Liter"/>
                <a:ea typeface="MiSans"/>
              </a:rPr>
              <a:t>本质</a:t>
            </a: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的判断。</a:t>
            </a:r>
          </a:p>
        </p:txBody>
      </p:sp>
      <p:sp>
        <p:nvSpPr>
          <p:cNvPr id="6" name="dsl:p10-example-header"/>
          <p:cNvSpPr txBox="1"/>
          <p:nvPr/>
        </p:nvSpPr>
        <p:spPr>
          <a:xfrm>
            <a:off x="762000" y="2667000"/>
            <a:ext cx="190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36E72"/>
                </a:solidFill>
                <a:latin typeface="Liter"/>
                <a:ea typeface="MiSans"/>
              </a:rPr>
              <a:t>示例：</a:t>
            </a:r>
          </a:p>
        </p:txBody>
      </p:sp>
      <p:sp>
        <p:nvSpPr>
          <p:cNvPr id="7" name="dsl:p10-example-card"/>
          <p:cNvSpPr/>
          <p:nvPr/>
        </p:nvSpPr>
        <p:spPr>
          <a:xfrm>
            <a:off x="762000" y="3048000"/>
            <a:ext cx="9525000" cy="20955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p10-example-body|s=$bodySmall"/>
          <p:cNvSpPr txBox="1"/>
          <p:nvPr/>
        </p:nvSpPr>
        <p:spPr>
          <a:xfrm>
            <a:off x="1047750" y="3238500"/>
            <a:ext cx="89535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客户犹豫的根本原因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不是价格，而是信任</a:t>
            </a:r>
          </a:p>
          <a:p>
            <a:pPr algn="l">
              <a:lnSpc>
                <a:spcPct val="150000"/>
              </a:lnSpc>
              <a:spcBef>
                <a:spcPts val="10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毛利下降主要来自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报价策略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，而不是采购成本</a:t>
            </a:r>
          </a:p>
          <a:p>
            <a:pPr algn="l">
              <a:lnSpc>
                <a:spcPct val="150000"/>
              </a:lnSpc>
              <a:spcBef>
                <a:spcPts val="10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交付延误不是单点失误，而是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节点确认机制缺失</a:t>
            </a:r>
          </a:p>
        </p:txBody>
      </p:sp>
      <p:sp>
        <p:nvSpPr>
          <p:cNvPr id="9" name="dsl:p10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11-quote|s=$quote"/>
          <p:cNvSpPr txBox="1"/>
          <p:nvPr/>
        </p:nvSpPr>
        <p:spPr>
          <a:xfrm>
            <a:off x="952500" y="2095500"/>
            <a:ext cx="10287000" cy="152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3000" noProof="1" spc="150">
                <a:solidFill>
                  <a:srgbClr val="2D3436"/>
                </a:solidFill>
                <a:latin typeface="Liter"/>
                <a:ea typeface="alimamashuheiti"/>
              </a:rPr>
              <a:t>公司要看的不是"你看到了什么"，</a:t>
            </a:r>
          </a:p>
          <a:p>
            <a:pPr algn="ctr">
              <a:lnSpc>
                <a:spcPct val="140000"/>
              </a:lnSpc>
            </a:pPr>
            <a:r>
              <a:rPr sz="3000" noProof="1" spc="150">
                <a:solidFill>
                  <a:srgbClr val="2D3436"/>
                </a:solidFill>
                <a:latin typeface="Liter"/>
                <a:ea typeface="alimamashuheiti"/>
              </a:rPr>
              <a:t>而是"你怎么看"。</a:t>
            </a:r>
          </a:p>
        </p:txBody>
      </p:sp>
      <p:cxnSp>
        <p:nvCxnSpPr>
          <p:cNvPr id="3" name="dsl:p11-line-top"/>
          <p:cNvCxnSpPr/>
          <p:nvPr/>
        </p:nvCxnSpPr>
        <p:spPr>
          <a:xfrm>
            <a:off x="5143500" y="1809750"/>
            <a:ext cx="1905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sl:p11-line-bottom"/>
          <p:cNvCxnSpPr/>
          <p:nvPr/>
        </p:nvCxnSpPr>
        <p:spPr>
          <a:xfrm>
            <a:off x="5143500" y="3810000"/>
            <a:ext cx="1905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sl:p11-sub|s=$quoteSub"/>
          <p:cNvSpPr txBox="1"/>
          <p:nvPr/>
        </p:nvSpPr>
        <p:spPr>
          <a:xfrm>
            <a:off x="2286000" y="4095750"/>
            <a:ext cx="7620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1350" noProof="1">
                <a:solidFill>
                  <a:srgbClr val="636E72"/>
                </a:solidFill>
                <a:latin typeface="Liter"/>
                <a:ea typeface="MiSans"/>
              </a:rPr>
              <a:t>事实人人都能描述，判断才体现管理能力。</a:t>
            </a:r>
          </a:p>
        </p:txBody>
      </p:sp>
      <p:sp>
        <p:nvSpPr>
          <p:cNvPr id="6" name="dsl:p11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12-title|s=$title"/>
          <p:cNvSpPr txBox="1"/>
          <p:nvPr/>
        </p:nvSpPr>
        <p:spPr>
          <a:xfrm>
            <a:off x="762000" y="476250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2D3436"/>
                </a:solidFill>
                <a:latin typeface="Liter"/>
                <a:ea typeface="alimamashuheiti"/>
              </a:rPr>
              <a:t>带着方案沟通，而不是带着问题上交</a:t>
            </a:r>
          </a:p>
        </p:txBody>
      </p:sp>
      <p:cxnSp>
        <p:nvCxnSpPr>
          <p:cNvPr id="3" name="dsl:p12-title-line"/>
          <p:cNvCxnSpPr/>
          <p:nvPr/>
        </p:nvCxnSpPr>
        <p:spPr>
          <a:xfrm>
            <a:off x="762000" y="914400"/>
            <a:ext cx="762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12-label"/>
          <p:cNvSpPr txBox="1"/>
          <p:nvPr/>
        </p:nvSpPr>
        <p:spPr>
          <a:xfrm>
            <a:off x="762000" y="1143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1B3A5C"/>
                </a:solidFill>
                <a:latin typeface="Liter"/>
                <a:ea typeface="MiSans"/>
              </a:rPr>
              <a:t>第四问 ｜ 我的方案是什么</a:t>
            </a:r>
          </a:p>
        </p:txBody>
      </p:sp>
      <p:sp>
        <p:nvSpPr>
          <p:cNvPr id="5" name="dsl:p12-body|s=$body"/>
          <p:cNvSpPr txBox="1"/>
          <p:nvPr/>
        </p:nvSpPr>
        <p:spPr>
          <a:xfrm>
            <a:off x="762000" y="1619250"/>
            <a:ext cx="66675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管理者可以请求老板支持，但不能把基础思考交给老板。</a:t>
            </a:r>
          </a:p>
        </p:txBody>
      </p:sp>
      <p:sp>
        <p:nvSpPr>
          <p:cNvPr id="6" name="dsl:p12-solution-header"/>
          <p:cNvSpPr txBox="1"/>
          <p:nvPr/>
        </p:nvSpPr>
        <p:spPr>
          <a:xfrm>
            <a:off x="762000" y="22860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36E72"/>
                </a:solidFill>
                <a:latin typeface="Liter"/>
                <a:ea typeface="MiSans"/>
              </a:rPr>
              <a:t>方案至少包含：</a:t>
            </a:r>
          </a:p>
        </p:txBody>
      </p:sp>
      <p:sp>
        <p:nvSpPr>
          <p:cNvPr id="7" name="dsl:p12-solution-card"/>
          <p:cNvSpPr/>
          <p:nvPr/>
        </p:nvSpPr>
        <p:spPr>
          <a:xfrm>
            <a:off x="762000" y="2667000"/>
            <a:ext cx="6667500" cy="1905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p12-solution-body|s=$bodySmall"/>
          <p:cNvSpPr txBox="1"/>
          <p:nvPr/>
        </p:nvSpPr>
        <p:spPr>
          <a:xfrm>
            <a:off x="1047750" y="2857500"/>
            <a:ext cx="6096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准备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怎么做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谁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负责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什么时候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完成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如何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验收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有什么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风险</a:t>
            </a:r>
          </a:p>
        </p:txBody>
      </p:sp>
      <p:cxnSp>
        <p:nvCxnSpPr>
          <p:cNvPr id="9" name="dsl:p12-bottom-line"/>
          <p:cNvCxnSpPr/>
          <p:nvPr/>
        </p:nvCxnSpPr>
        <p:spPr>
          <a:xfrm>
            <a:off x="762000" y="4953000"/>
            <a:ext cx="10668000" cy="0"/>
          </a:xfrm>
          <a:prstGeom prst="straightConnector1">
            <a:avLst/>
          </a:prstGeom>
          <a:ln w="12700">
            <a:solidFill>
              <a:srgbClr val="B2BEC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sl:p12-quote"/>
          <p:cNvSpPr txBox="1"/>
          <p:nvPr/>
        </p:nvSpPr>
        <p:spPr>
          <a:xfrm>
            <a:off x="762000" y="52387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50" noProof="1">
                <a:solidFill>
                  <a:srgbClr val="1B3A5C"/>
                </a:solidFill>
                <a:latin typeface="Liter"/>
                <a:ea typeface="alimamashuheiti"/>
              </a:rPr>
              <a:t>老板可以校准方向，但不能替管理者完成基础思考。</a:t>
            </a:r>
          </a:p>
        </p:txBody>
      </p:sp>
      <p:sp>
        <p:nvSpPr>
          <p:cNvPr id="11" name="dsl:p12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13-title|s=$title"/>
          <p:cNvSpPr txBox="1"/>
          <p:nvPr/>
        </p:nvSpPr>
        <p:spPr>
          <a:xfrm>
            <a:off x="762000" y="476250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2D3436"/>
                </a:solidFill>
                <a:latin typeface="Liter"/>
                <a:ea typeface="alimamashuheiti"/>
              </a:rPr>
              <a:t>老板支持的是关键判断，不是基础整理</a:t>
            </a:r>
          </a:p>
        </p:txBody>
      </p:sp>
      <p:cxnSp>
        <p:nvCxnSpPr>
          <p:cNvPr id="3" name="dsl:p13-title-line"/>
          <p:cNvCxnSpPr/>
          <p:nvPr/>
        </p:nvCxnSpPr>
        <p:spPr>
          <a:xfrm>
            <a:off x="762000" y="914400"/>
            <a:ext cx="762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13-label"/>
          <p:cNvSpPr txBox="1"/>
          <p:nvPr/>
        </p:nvSpPr>
        <p:spPr>
          <a:xfrm>
            <a:off x="762000" y="1143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1B3A5C"/>
                </a:solidFill>
                <a:latin typeface="Liter"/>
                <a:ea typeface="MiSans"/>
              </a:rPr>
              <a:t>第五问 ｜ 需要老板支持什么</a:t>
            </a:r>
          </a:p>
        </p:txBody>
      </p:sp>
      <p:sp>
        <p:nvSpPr>
          <p:cNvPr id="5" name="dsl:p13-none|s=$body"/>
          <p:cNvSpPr txBox="1"/>
          <p:nvPr/>
        </p:nvSpPr>
        <p:spPr>
          <a:xfrm>
            <a:off x="762000" y="1619250"/>
            <a:ext cx="3810000" cy="3429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如果没有：写</a:t>
            </a:r>
            <a:r>
              <a:rPr b="1" sz="1500" noProof="1">
                <a:solidFill>
                  <a:srgbClr val="2D3436"/>
                </a:solidFill>
                <a:latin typeface="Liter"/>
                <a:ea typeface="MiSans"/>
              </a:rPr>
              <a:t>"无"</a:t>
            </a: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。</a:t>
            </a:r>
          </a:p>
        </p:txBody>
      </p:sp>
      <p:sp>
        <p:nvSpPr>
          <p:cNvPr id="6" name="dsl:p13-yes-header"/>
          <p:cNvSpPr txBox="1"/>
          <p:nvPr/>
        </p:nvSpPr>
        <p:spPr>
          <a:xfrm>
            <a:off x="762000" y="219075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36E72"/>
                </a:solidFill>
                <a:latin typeface="Liter"/>
                <a:ea typeface="MiSans"/>
              </a:rPr>
              <a:t>如果有，必须写清楚：</a:t>
            </a:r>
          </a:p>
        </p:txBody>
      </p:sp>
      <p:sp>
        <p:nvSpPr>
          <p:cNvPr id="7" name="dsl:p13-yes-card"/>
          <p:cNvSpPr/>
          <p:nvPr/>
        </p:nvSpPr>
        <p:spPr>
          <a:xfrm>
            <a:off x="762000" y="2571750"/>
            <a:ext cx="5715000" cy="1143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p13-yes-body|s=$bodySmall"/>
          <p:cNvSpPr txBox="1"/>
          <p:nvPr/>
        </p:nvSpPr>
        <p:spPr>
          <a:xfrm>
            <a:off x="1047750" y="2762250"/>
            <a:ext cx="5143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需要什么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支持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？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为什么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需要？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最晚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什么时候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完成？</a:t>
            </a:r>
          </a:p>
        </p:txBody>
      </p:sp>
      <p:sp>
        <p:nvSpPr>
          <p:cNvPr id="9" name="dsl:p13-support-header"/>
          <p:cNvSpPr txBox="1"/>
          <p:nvPr/>
        </p:nvSpPr>
        <p:spPr>
          <a:xfrm>
            <a:off x="762000" y="40005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36E72"/>
                </a:solidFill>
                <a:latin typeface="Liter"/>
                <a:ea typeface="MiSans"/>
              </a:rPr>
              <a:t>老板支持类型：</a:t>
            </a:r>
          </a:p>
        </p:txBody>
      </p:sp>
      <p:sp>
        <p:nvSpPr>
          <p:cNvPr id="10" name="dsl:p13-support-body"/>
          <p:cNvSpPr txBox="1"/>
          <p:nvPr/>
        </p:nvSpPr>
        <p:spPr>
          <a:xfrm>
            <a:off x="762000" y="4381500"/>
            <a:ext cx="8572500" cy="3429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方向判断  /  资源支持  /  授权  /  跨部门协调  /  最终拍板</a:t>
            </a:r>
          </a:p>
        </p:txBody>
      </p:sp>
      <p:sp>
        <p:nvSpPr>
          <p:cNvPr id="11" name="dsl:p13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14-title|s=$title"/>
          <p:cNvSpPr txBox="1"/>
          <p:nvPr/>
        </p:nvSpPr>
        <p:spPr>
          <a:xfrm>
            <a:off x="762000" y="476250"/>
            <a:ext cx="952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2D3436"/>
                </a:solidFill>
                <a:latin typeface="Liter"/>
                <a:ea typeface="alimamashuheiti"/>
              </a:rPr>
              <a:t>每天的经验，不能只留在个人脑子里</a:t>
            </a:r>
          </a:p>
        </p:txBody>
      </p:sp>
      <p:cxnSp>
        <p:nvCxnSpPr>
          <p:cNvPr id="3" name="dsl:p14-title-line"/>
          <p:cNvCxnSpPr/>
          <p:nvPr/>
        </p:nvCxnSpPr>
        <p:spPr>
          <a:xfrm>
            <a:off x="762000" y="914400"/>
            <a:ext cx="762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14-label"/>
          <p:cNvSpPr txBox="1"/>
          <p:nvPr/>
        </p:nvSpPr>
        <p:spPr>
          <a:xfrm>
            <a:off x="762000" y="1143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1B3A5C"/>
                </a:solidFill>
                <a:latin typeface="Liter"/>
                <a:ea typeface="MiSans"/>
              </a:rPr>
              <a:t>第六问 ｜ 今天沉淀了什么组织资产</a:t>
            </a:r>
          </a:p>
        </p:txBody>
      </p:sp>
      <p:sp>
        <p:nvSpPr>
          <p:cNvPr id="5" name="dsl:p14-asset-header"/>
          <p:cNvSpPr txBox="1"/>
          <p:nvPr/>
        </p:nvSpPr>
        <p:spPr>
          <a:xfrm>
            <a:off x="762000" y="161925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36E72"/>
                </a:solidFill>
                <a:latin typeface="Liter"/>
                <a:ea typeface="MiSans"/>
              </a:rPr>
              <a:t>可沉淀资产：</a:t>
            </a:r>
          </a:p>
        </p:txBody>
      </p:sp>
      <p:sp>
        <p:nvSpPr>
          <p:cNvPr id="6" name="dsl:p14-asset-card"/>
          <p:cNvSpPr/>
          <p:nvPr/>
        </p:nvSpPr>
        <p:spPr>
          <a:xfrm>
            <a:off x="762000" y="2000250"/>
            <a:ext cx="8572500" cy="5715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p14-asset-body"/>
          <p:cNvSpPr txBox="1"/>
          <p:nvPr/>
        </p:nvSpPr>
        <p:spPr>
          <a:xfrm>
            <a:off x="1047750" y="2095500"/>
            <a:ext cx="8001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SOP  /  AI工作流  /  模板  /  案例  /  检查表  /  管理原则</a:t>
            </a:r>
          </a:p>
        </p:txBody>
      </p:sp>
      <p:cxnSp>
        <p:nvCxnSpPr>
          <p:cNvPr id="8" name="dsl:p14-bottom-line"/>
          <p:cNvCxnSpPr/>
          <p:nvPr/>
        </p:nvCxnSpPr>
        <p:spPr>
          <a:xfrm>
            <a:off x="762000" y="3048000"/>
            <a:ext cx="10668000" cy="0"/>
          </a:xfrm>
          <a:prstGeom prst="straightConnector1">
            <a:avLst/>
          </a:prstGeom>
          <a:ln w="12700">
            <a:solidFill>
              <a:srgbClr val="B2BEC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sl:p14-quote"/>
          <p:cNvSpPr txBox="1"/>
          <p:nvPr/>
        </p:nvSpPr>
        <p:spPr>
          <a:xfrm>
            <a:off x="762000" y="33337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800" noProof="1">
                <a:solidFill>
                  <a:srgbClr val="1B3A5C"/>
                </a:solidFill>
                <a:latin typeface="Liter"/>
                <a:ea typeface="alimamashuheiti"/>
              </a:rPr>
              <a:t>能被下次复用的，才叫组织资产。</a:t>
            </a:r>
          </a:p>
        </p:txBody>
      </p:sp>
      <p:sp>
        <p:nvSpPr>
          <p:cNvPr id="10" name="dsl:p14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15-title|s=$title"/>
          <p:cNvSpPr txBox="1"/>
          <p:nvPr/>
        </p:nvSpPr>
        <p:spPr>
          <a:xfrm>
            <a:off x="762000" y="4762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2D3436"/>
                </a:solidFill>
                <a:latin typeface="Liter"/>
                <a:ea typeface="alimamashuheiti"/>
              </a:rPr>
              <a:t>不是待办清单，而是经营重点</a:t>
            </a:r>
          </a:p>
        </p:txBody>
      </p:sp>
      <p:cxnSp>
        <p:nvCxnSpPr>
          <p:cNvPr id="3" name="dsl:p15-title-line"/>
          <p:cNvCxnSpPr/>
          <p:nvPr/>
        </p:nvCxnSpPr>
        <p:spPr>
          <a:xfrm>
            <a:off x="762000" y="914400"/>
            <a:ext cx="762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15-label"/>
          <p:cNvSpPr txBox="1"/>
          <p:nvPr/>
        </p:nvSpPr>
        <p:spPr>
          <a:xfrm>
            <a:off x="762000" y="114300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1B3A5C"/>
                </a:solidFill>
                <a:latin typeface="Liter"/>
                <a:ea typeface="MiSans"/>
              </a:rPr>
              <a:t>第七问 ｜ 明天最重要的一件事</a:t>
            </a:r>
          </a:p>
        </p:txBody>
      </p:sp>
      <p:sp>
        <p:nvSpPr>
          <p:cNvPr id="5" name="dsl:p15-question"/>
          <p:cNvSpPr txBox="1"/>
          <p:nvPr/>
        </p:nvSpPr>
        <p:spPr>
          <a:xfrm>
            <a:off x="762000" y="1619250"/>
            <a:ext cx="762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2D3436"/>
                </a:solidFill>
                <a:latin typeface="Liter"/>
                <a:ea typeface="alimamashuheiti"/>
              </a:rPr>
              <a:t>明天最影响经营结果的一件事是什么？</a:t>
            </a:r>
          </a:p>
        </p:txBody>
      </p:sp>
      <p:sp>
        <p:nvSpPr>
          <p:cNvPr id="6" name="dsl:p15-example-header"/>
          <p:cNvSpPr txBox="1"/>
          <p:nvPr/>
        </p:nvSpPr>
        <p:spPr>
          <a:xfrm>
            <a:off x="762000" y="2286000"/>
            <a:ext cx="190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36E72"/>
                </a:solidFill>
                <a:latin typeface="Liter"/>
                <a:ea typeface="MiSans"/>
              </a:rPr>
              <a:t>示例：</a:t>
            </a:r>
          </a:p>
        </p:txBody>
      </p:sp>
      <p:sp>
        <p:nvSpPr>
          <p:cNvPr id="7" name="dsl:p15-example-card"/>
          <p:cNvSpPr/>
          <p:nvPr/>
        </p:nvSpPr>
        <p:spPr>
          <a:xfrm>
            <a:off x="762000" y="2667000"/>
            <a:ext cx="7620000" cy="17145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p15-example-body|s=$bodySmall"/>
          <p:cNvSpPr txBox="1"/>
          <p:nvPr/>
        </p:nvSpPr>
        <p:spPr>
          <a:xfrm>
            <a:off x="1047750" y="2857500"/>
            <a:ext cx="7048500" cy="133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完成XX客户合同签订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确认XX订单付款节点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解决影响交付的关键卡点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推动某流程标准上线试用</a:t>
            </a:r>
          </a:p>
        </p:txBody>
      </p:sp>
      <p:sp>
        <p:nvSpPr>
          <p:cNvPr id="9" name="dsl:p15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16-title|s=$title"/>
          <p:cNvSpPr txBox="1"/>
          <p:nvPr/>
        </p:nvSpPr>
        <p:spPr>
          <a:xfrm>
            <a:off x="762000" y="476250"/>
            <a:ext cx="571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2D3436"/>
                </a:solidFill>
                <a:latin typeface="Liter"/>
                <a:ea typeface="alimamashuheiti"/>
              </a:rPr>
              <a:t>一条合格的每日经营思考</a:t>
            </a:r>
          </a:p>
        </p:txBody>
      </p:sp>
      <p:cxnSp>
        <p:nvCxnSpPr>
          <p:cNvPr id="3" name="dsl:p16-title-line"/>
          <p:cNvCxnSpPr/>
          <p:nvPr/>
        </p:nvCxnSpPr>
        <p:spPr>
          <a:xfrm>
            <a:off x="762000" y="914400"/>
            <a:ext cx="762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16-card"/>
          <p:cNvSpPr/>
          <p:nvPr/>
        </p:nvSpPr>
        <p:spPr>
          <a:xfrm>
            <a:off x="762000" y="1143000"/>
            <a:ext cx="10668000" cy="4953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p16-body|s=$bodySmall"/>
          <p:cNvSpPr txBox="1"/>
          <p:nvPr/>
        </p:nvSpPr>
        <p:spPr>
          <a:xfrm>
            <a:off x="1047750" y="1333500"/>
            <a:ext cx="10096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B3A5C"/>
                </a:solidFill>
                <a:latin typeface="Liter"/>
                <a:ea typeface="MiSans"/>
              </a:rPr>
              <a:t>今天最大的经营成果：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完成XX客户报价重构，毛利预计提升3%。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b="1" sz="1350" noProof="1">
                <a:solidFill>
                  <a:srgbClr val="1B3A5C"/>
                </a:solidFill>
                <a:latin typeface="Liter"/>
                <a:ea typeface="MiSans"/>
              </a:rPr>
              <a:t>今天最大的经营风险：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XX客户迟迟未确认打样，可能影响月底订单。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b="1" sz="1350" noProof="1">
                <a:solidFill>
                  <a:srgbClr val="1B3A5C"/>
                </a:solidFill>
                <a:latin typeface="Liter"/>
                <a:ea typeface="MiSans"/>
              </a:rPr>
              <a:t>我的判断：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客户真正担心的是交期，而不是价格。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b="1" sz="1350" noProof="1">
                <a:solidFill>
                  <a:srgbClr val="1B3A5C"/>
                </a:solidFill>
                <a:latin typeface="Liter"/>
                <a:ea typeface="MiSans"/>
              </a:rPr>
              <a:t>我的方案：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今天先安排工厂预留产能，同时安排销售再次确认客户节点。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b="1" sz="1350" noProof="1">
                <a:solidFill>
                  <a:srgbClr val="1B3A5C"/>
                </a:solidFill>
                <a:latin typeface="Liter"/>
                <a:ea typeface="MiSans"/>
              </a:rPr>
              <a:t>需要老板支持：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希望确认是否可以给予客户一次特殊付款政策。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b="1" sz="1350" noProof="1">
                <a:solidFill>
                  <a:srgbClr val="1B3A5C"/>
                </a:solidFill>
                <a:latin typeface="Liter"/>
                <a:ea typeface="MiSans"/>
              </a:rPr>
              <a:t>今天沉淀：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整理《OEM报价确认检查表》V1.0。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b="1" sz="1350" noProof="1">
                <a:solidFill>
                  <a:srgbClr val="1B3A5C"/>
                </a:solidFill>
                <a:latin typeface="Liter"/>
                <a:ea typeface="MiSans"/>
              </a:rPr>
              <a:t>明天最重要的一件事：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完成XX客户合同签订。</a:t>
            </a:r>
          </a:p>
        </p:txBody>
      </p:sp>
      <p:sp>
        <p:nvSpPr>
          <p:cNvPr id="6" name="dsl:p16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17-title|s=$title"/>
          <p:cNvSpPr txBox="1"/>
          <p:nvPr/>
        </p:nvSpPr>
        <p:spPr>
          <a:xfrm>
            <a:off x="762000" y="4762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noProof="1">
                <a:solidFill>
                  <a:srgbClr val="2D3436"/>
                </a:solidFill>
                <a:latin typeface="Liter"/>
                <a:ea typeface="alimamashuheiti"/>
              </a:rPr>
              <a:t>以后统一发到《经营思考日报》群</a:t>
            </a:r>
          </a:p>
        </p:txBody>
      </p:sp>
      <p:cxnSp>
        <p:nvCxnSpPr>
          <p:cNvPr id="3" name="dsl:p17-title-line"/>
          <p:cNvCxnSpPr/>
          <p:nvPr/>
        </p:nvCxnSpPr>
        <p:spPr>
          <a:xfrm>
            <a:off x="762000" y="914400"/>
            <a:ext cx="762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17-left-header"/>
          <p:cNvSpPr txBox="1"/>
          <p:nvPr/>
        </p:nvSpPr>
        <p:spPr>
          <a:xfrm>
            <a:off x="762000" y="1238250"/>
            <a:ext cx="190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1B3A5C"/>
                </a:solidFill>
                <a:latin typeface="Liter"/>
                <a:ea typeface="alimamashuheiti"/>
              </a:rPr>
              <a:t>执行规则</a:t>
            </a:r>
          </a:p>
        </p:txBody>
      </p:sp>
      <p:sp>
        <p:nvSpPr>
          <p:cNvPr id="5" name="dsl:p17-left-card"/>
          <p:cNvSpPr/>
          <p:nvPr/>
        </p:nvSpPr>
        <p:spPr>
          <a:xfrm>
            <a:off x="762000" y="1619250"/>
            <a:ext cx="5334000" cy="28575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p17-left-body|s=$bodySmall"/>
          <p:cNvSpPr txBox="1"/>
          <p:nvPr/>
        </p:nvSpPr>
        <p:spPr>
          <a:xfrm>
            <a:off x="1047750" y="1809750"/>
            <a:ext cx="47625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每天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17:30前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提交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所有管理层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都发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群内只发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每日经营思考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不闲聊，不发无关通知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不写流水账，只写经营思考</a:t>
            </a: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• 每条必须有</a:t>
            </a: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事实、判断和下一步动作</a:t>
            </a:r>
          </a:p>
        </p:txBody>
      </p:sp>
      <p:sp>
        <p:nvSpPr>
          <p:cNvPr id="7" name="dsl:p17-right-header"/>
          <p:cNvSpPr txBox="1"/>
          <p:nvPr/>
        </p:nvSpPr>
        <p:spPr>
          <a:xfrm>
            <a:off x="6477000" y="123825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1B3A5C"/>
                </a:solidFill>
                <a:latin typeface="Liter"/>
                <a:ea typeface="alimamashuheiti"/>
              </a:rPr>
              <a:t>为什么发到群里</a:t>
            </a:r>
          </a:p>
        </p:txBody>
      </p:sp>
      <p:sp>
        <p:nvSpPr>
          <p:cNvPr id="8" name="dsl:p17-right-card"/>
          <p:cNvSpPr/>
          <p:nvPr/>
        </p:nvSpPr>
        <p:spPr>
          <a:xfrm>
            <a:off x="6477000" y="1619250"/>
            <a:ext cx="4953000" cy="2286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p17-right-body|s=$bodySmall"/>
          <p:cNvSpPr txBox="1"/>
          <p:nvPr/>
        </p:nvSpPr>
        <p:spPr>
          <a:xfrm>
            <a:off x="6762750" y="1809750"/>
            <a:ext cx="4381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1.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 让大家互相学习经营思维</a:t>
            </a:r>
          </a:p>
          <a:p>
            <a:pPr algn="l">
              <a:lnSpc>
                <a:spcPct val="150000"/>
              </a:lnSpc>
              <a:spcBef>
                <a:spcPts val="1050"/>
              </a:spcBef>
            </a:pP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2.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 让老板看到公司的经营脉搏</a:t>
            </a:r>
          </a:p>
          <a:p>
            <a:pPr algn="l">
              <a:lnSpc>
                <a:spcPct val="150000"/>
              </a:lnSpc>
              <a:spcBef>
                <a:spcPts val="1050"/>
              </a:spcBef>
            </a:pPr>
            <a:r>
              <a:rPr b="1" sz="1350" noProof="1">
                <a:solidFill>
                  <a:srgbClr val="2D3436"/>
                </a:solidFill>
                <a:latin typeface="Liter"/>
                <a:ea typeface="MiSans"/>
              </a:rPr>
              <a:t>3.</a:t>
            </a:r>
            <a:r>
              <a:rPr sz="1350" noProof="1">
                <a:solidFill>
                  <a:srgbClr val="2D3436"/>
                </a:solidFill>
                <a:latin typeface="Liter"/>
                <a:ea typeface="MiSans"/>
              </a:rPr>
              <a:t> 倒逼管理层每天完成一次经营判断</a:t>
            </a:r>
          </a:p>
        </p:txBody>
      </p:sp>
      <p:sp>
        <p:nvSpPr>
          <p:cNvPr id="10" name="dsl:p17-footer|s=$footer"/>
          <p:cNvSpPr txBox="1"/>
          <p:nvPr/>
        </p:nvSpPr>
        <p:spPr>
          <a:xfrm>
            <a:off x="8382000" y="6477000"/>
            <a:ext cx="3048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18-title|s=$coverTitle"/>
          <p:cNvSpPr txBox="1"/>
          <p:nvPr/>
        </p:nvSpPr>
        <p:spPr>
          <a:xfrm>
            <a:off x="762000" y="762000"/>
            <a:ext cx="10668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3300" noProof="1" spc="150">
                <a:solidFill>
                  <a:srgbClr val="2D3436"/>
                </a:solidFill>
                <a:latin typeface="Liter"/>
                <a:ea typeface="alimamashuheiti"/>
              </a:rPr>
              <a:t>从今天开始，管理层每天输出一次经营思考</a:t>
            </a:r>
          </a:p>
        </p:txBody>
      </p:sp>
      <p:cxnSp>
        <p:nvCxnSpPr>
          <p:cNvPr id="3" name="dsl:p18-line"/>
          <p:cNvCxnSpPr/>
          <p:nvPr/>
        </p:nvCxnSpPr>
        <p:spPr>
          <a:xfrm>
            <a:off x="5143500" y="1524000"/>
            <a:ext cx="1905000" cy="0"/>
          </a:xfrm>
          <a:prstGeom prst="straightConnector1">
            <a:avLst/>
          </a:prstGeom>
          <a:ln w="25400">
            <a:solidFill>
              <a:srgbClr val="1B3A5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18-before"/>
          <p:cNvSpPr txBox="1"/>
          <p:nvPr/>
        </p:nvSpPr>
        <p:spPr>
          <a:xfrm>
            <a:off x="1333500" y="1905000"/>
            <a:ext cx="476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636E72"/>
                </a:solidFill>
                <a:latin typeface="Liter"/>
                <a:ea typeface="MiSans"/>
              </a:rPr>
              <a:t>以后我们不只看：你今天做了什么。</a:t>
            </a:r>
          </a:p>
        </p:txBody>
      </p:sp>
      <p:sp>
        <p:nvSpPr>
          <p:cNvPr id="5" name="dsl:p18-after-header"/>
          <p:cNvSpPr txBox="1"/>
          <p:nvPr/>
        </p:nvSpPr>
        <p:spPr>
          <a:xfrm>
            <a:off x="1333500" y="257175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1B3A5C"/>
                </a:solidFill>
                <a:latin typeface="Liter"/>
                <a:ea typeface="MiSans"/>
              </a:rPr>
              <a:t>我们更要看：</a:t>
            </a:r>
          </a:p>
        </p:txBody>
      </p:sp>
      <p:sp>
        <p:nvSpPr>
          <p:cNvPr id="6" name="dsl:p18-after-card"/>
          <p:cNvSpPr/>
          <p:nvPr/>
        </p:nvSpPr>
        <p:spPr>
          <a:xfrm>
            <a:off x="1333500" y="2952750"/>
            <a:ext cx="7620000" cy="20955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p18-after-body|s=$body"/>
          <p:cNvSpPr txBox="1"/>
          <p:nvPr/>
        </p:nvSpPr>
        <p:spPr>
          <a:xfrm>
            <a:off x="1619250" y="3143250"/>
            <a:ext cx="70485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• 你创造了什么</a:t>
            </a:r>
            <a:r>
              <a:rPr b="1" sz="1500" noProof="1">
                <a:solidFill>
                  <a:srgbClr val="2D3436"/>
                </a:solidFill>
                <a:latin typeface="Liter"/>
                <a:ea typeface="MiSans"/>
              </a:rPr>
              <a:t>经营结果</a:t>
            </a: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？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• 你发现了什么</a:t>
            </a:r>
            <a:r>
              <a:rPr b="1" sz="1500" noProof="1">
                <a:solidFill>
                  <a:srgbClr val="2D3436"/>
                </a:solidFill>
                <a:latin typeface="Liter"/>
                <a:ea typeface="MiSans"/>
              </a:rPr>
              <a:t>风险</a:t>
            </a: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？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• 你做出了什么</a:t>
            </a:r>
            <a:r>
              <a:rPr b="1" sz="1500" noProof="1">
                <a:solidFill>
                  <a:srgbClr val="2D3436"/>
                </a:solidFill>
                <a:latin typeface="Liter"/>
                <a:ea typeface="MiSans"/>
              </a:rPr>
              <a:t>判断</a:t>
            </a: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？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• 你提出了什么</a:t>
            </a:r>
            <a:r>
              <a:rPr b="1" sz="1500" noProof="1">
                <a:solidFill>
                  <a:srgbClr val="2D3436"/>
                </a:solidFill>
                <a:latin typeface="Liter"/>
                <a:ea typeface="MiSans"/>
              </a:rPr>
              <a:t>方案</a:t>
            </a: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？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• 你为公司沉淀了什么</a:t>
            </a:r>
            <a:r>
              <a:rPr b="1" sz="1500" noProof="1">
                <a:solidFill>
                  <a:srgbClr val="2D3436"/>
                </a:solidFill>
                <a:latin typeface="Liter"/>
                <a:ea typeface="MiSans"/>
              </a:rPr>
              <a:t>能力</a:t>
            </a:r>
            <a:r>
              <a:rPr sz="1500" noProof="1">
                <a:solidFill>
                  <a:srgbClr val="2D3436"/>
                </a:solidFill>
                <a:latin typeface="Liter"/>
                <a:ea typeface="MiSans"/>
              </a:rPr>
              <a:t>？</a:t>
            </a:r>
          </a:p>
        </p:txBody>
      </p:sp>
      <p:cxnSp>
        <p:nvCxnSpPr>
          <p:cNvPr id="8" name="dsl:p18-quote-line"/>
          <p:cNvCxnSpPr/>
          <p:nvPr/>
        </p:nvCxnSpPr>
        <p:spPr>
          <a:xfrm>
            <a:off x="762000" y="5429250"/>
            <a:ext cx="10668000" cy="0"/>
          </a:xfrm>
          <a:prstGeom prst="straightConnector1">
            <a:avLst/>
          </a:prstGeom>
          <a:ln w="12700">
            <a:solidFill>
              <a:srgbClr val="B2BEC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sl:p18-quote"/>
          <p:cNvSpPr txBox="1"/>
          <p:nvPr/>
        </p:nvSpPr>
        <p:spPr>
          <a:xfrm>
            <a:off x="762000" y="56197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800" noProof="1">
                <a:solidFill>
                  <a:srgbClr val="1B3A5C"/>
                </a:solidFill>
                <a:latin typeface="Liter"/>
                <a:ea typeface="alimamashuheiti"/>
              </a:rPr>
              <a:t>管理层每天多一次经营思考，公司就多一次能力生长。</a:t>
            </a:r>
          </a:p>
        </p:txBody>
      </p:sp>
      <p:sp>
        <p:nvSpPr>
          <p:cNvPr id="10" name="dsl:p18-footer|s=$footer"/>
          <p:cNvSpPr txBox="1"/>
          <p:nvPr/>
        </p:nvSpPr>
        <p:spPr>
          <a:xfrm>
            <a:off x="3238500" y="638175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636E72"/>
                </a:solidFill>
                <a:latin typeface="Liter"/>
                <a:ea typeface="MiSans"/>
              </a:rPr>
              <a:t>七遇集团 ｜ 管理层宣导会 ｜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2D3436"/>
    <Color name="secondary" value="#636E72"/>
    <Color name="accent" value="#1B3A5C"/>
    <Color name="green" value="#2D5A3D"/>
    <Color name="lightBg" value="#F8F9FA"/>
    <Color name="border" value="#B2BEC3"/>
    <Color name="bg" value="#FFFFFF"/>
    <Color name="textLight" value="#F5F6FA"/>
  </Colors>
  <TextStyles>
    <TextStyle name="coverTitle" font_size="44.0" color="$primary" font_family="Liter, alimamashuheiti" letter_spacing="2.0"/>
    <TextStyle name="title" font_size="28.0" color="$primary" font_family="Liter, alimamashuheiti"/>
    <TextStyle name="subtitle" font_size="22.0" color="$secondary" font_family="Liter, MiSans"/>
    <TextStyle name="body" font_size="20.0" color="$primary" font_family="Liter, MiSans" line_height="1.6"/>
    <TextStyle name="bodySmall" font_size="18.0" color="$primary" font_family="Liter, MiSans" line_height="1.5"/>
    <TextStyle name="quote" font_size="40.0" color="$primary" font_family="Liter, alimamashuheiti" line_height="1.4" letter_spacing="2.0"/>
    <TextStyle name="quoteSub" font_size="18.0" color="$secondary" font_family="Liter, MiSans" line_height="1.5"/>
    <TextStyle name="footer" font_size="12.0" color="$secondary" font_family="Liter, MiSans"/>
    <TextStyle name="caption" font_size="14.0" color="$secondary" font_family="Liter, MiSans"/>
  </TextStyles>
  <TableStyles>
    <TableStyle name="default" fontSize="18.0" fontFamily="Liter, MiSans" headerFill="$primary" headerColor="$textLight" headerBold="true" bodyFill="$bg,$lightBg" bodyColor="$primary" firstColumnBold="false">
      <Border style="solid" width="1.0" color="$border"/>
    </TableStyle>
  </TableStyles>
</DslMetadata>
</file>

<file path=customXml/itemProps1.xml><?xml version="1.0" encoding="utf-8"?>
<ns0:datastoreItem xmlns:ns0="http://schemas.openxmlformats.org/officeDocument/2006/customXml" ns0:itemID="{20DF14F9-AF57-46B6-8FB6-4F854272029B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