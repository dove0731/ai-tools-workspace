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gif" ContentType="image/gif"/>
  <Default Extension="svg" ContentType="image/svg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</p:sldIdLst>
  <p:notesMasterIdLst>
    <p:notesMasterId r:id="rId30"/>
  </p:notesMasterIdLst>
  <p:sldSz cx="12192000" cy="6858000" type="custom"/>
  <p:notesSz cx="12192000" cy="6858000"/>
</p:presentation>
</file>

<file path=ppt/presProps.xml><?xml version="1.0" encoding="utf-8"?>
<p:presentationPr xmlns:p="http://schemas.openxmlformats.org/presentationml/2006/main" xmlns:a="http://schemas.openxmlformats.org/drawingml/2006/main" xmlns:r="http://schemas.openxmlformats.org/officeDocument/2006/relationships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xmlns:r="http://schemas.openxmlformats.org/officeDocument/2006/relationships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/>
          <p:nvPr>
            <p:ph type="body" idx="1"/>
          </p:nvPr>
        </p:nvSpPr>
        <p:spPr/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开场：前两课讲了经营思维与供应链思维，第三课进入客户资产经营——从一次成交，到十年合作。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痛点导入：让学员看到自己每天重复的循环，引出“客户越来越少、业绩越来越高”的反差。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认知误区：成交不是结束而是开始；真正赚钱的是未来五十单。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核心定义：客户经营不是维护关系，而是持续创造价值。请学员复述最后一句话。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A类客户七项标准：让学员用这七条现场给自己手里的客户打分。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客户分级模型：A重点经营、B稳定合作、C正常维护、D逐步淘汰。强调经营资源永远有限。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经营目标：成为客户最重要的供应链伙伴——在四个关键时刻第一时间想到你。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五层模型：成交→信任→合作→依赖→共同成长。让学员判断自己的核心客户分别在哪一层。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客户真正购买的是稳定、专业、效率、安全、增长；价格只是其中一个因素。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客户画像十维度：企业规模、老板背景、产品结构、利润来源、主要供应商、竞争优势、未来规划、主要风险、行业位置、增长方向。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客户地图：不要只认识采购，要进入整个组织——老板、采购、研发、生产、品质、财务、供应链负责人。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主动经营：不等询盘，主动创造需求——新品建议、成本优化、市场信息、供应链优化、竞争分析。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经营节奏：每周轻连接、每月拜访、每季度复盘、每半年供应链优化方案、每年战略合作规划。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拜访升级：低价值拜访消耗信任，高价值拜访积累信任——客户期待的是新信息。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信任原理：记忆锚点页——每一次见面，都获得新的价值。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客户经营卡：十个字段——基本信息、合作产品、历史订单、利润分析、供应链地图、主要竞争对手、老板关注点、未来项目、风险提示、下一步计划。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经营的是老板：老板关心利润、增长、效率、风险、现金流——学会站在老板角度沟通。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帮助客户成长：找到新品、降低成本、提高竞争力、优化供应链——客户越成功，订单越稳定。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客户资产思维：不要1000个客户，要20个A类客户——二八原理，少数客户贡献大部分利润（示意）。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客户生命周期六阶段：认识→成交→稳定合作→供应链合作→战略合作→长期伙伴，每步策略不同。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风险预警六个信号：订单减少、老板状态变化、拖欠货款、价格走低、新品减少、团队离职。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经营指标：不只看销售额，还要看A类客户数量、拜访次数、老板见面次数、新增产品数、客户利润、客户生命周期、供应链覆盖率。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身份升级：产品销售→供应链顾问→客户增长顾问。身份决定价值。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客户增长系统六步：找A类客户→建画像→建节奏→持续创造价值→扩大产品合作→长期伙伴。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原创模型：CLOS客户资产经营模型（CAOM）——识别、理解、信任、渗透、共创、长期增长。区别于传统CRM，把客户当作长期经营的资产，并与前两课形成闭环。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核心思想三句话：不要维护客户要经营客户；不要经营客户要经营客户未来；不要成交订单要经营长期增长。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课后行动六项：筛选A类客户、建画像、拜访计划、3个增长机会、2个供应链优化机会、设计客户年度经营计划。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1207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termark"/>
          <p:cNvSpPr txBox="1"/>
          <p:nvPr/>
        </p:nvSpPr>
        <p:spPr>
          <a:xfrm>
            <a:off x="3378200" y="4191000"/>
            <a:ext cx="8001000" cy="215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000" b="1">
                <a:solidFill>
                  <a:srgbClr val="210E0D"/>
                </a:solidFill>
                <a:latin typeface="MiSans"/>
                <a:ea typeface="MiSans"/>
              </a:rPr>
              <a:t>客户资产</a:t>
            </a:r>
            <a:endParaRPr lang="en-US" sz="11000"/>
          </a:p>
        </p:txBody>
      </p:sp>
      <p:sp>
        <p:nvSpPr>
          <p:cNvPr id="3" name="label-bg"/>
          <p:cNvSpPr/>
          <p:nvPr/>
        </p:nvSpPr>
        <p:spPr>
          <a:xfrm>
            <a:off x="812800" y="609600"/>
            <a:ext cx="2184400" cy="355600"/>
          </a:xfrm>
          <a:prstGeom prst="rect">
            <a:avLst/>
          </a:prstGeom>
          <a:solidFill>
            <a:srgbClr val="FF4D4D"/>
          </a:solidFill>
          <a:ln>
            <a:noFill/>
          </a:ln>
        </p:spPr>
      </p:sp>
      <p:sp>
        <p:nvSpPr>
          <p:cNvPr id="4" name="label-text"/>
          <p:cNvSpPr txBox="1"/>
          <p:nvPr/>
        </p:nvSpPr>
        <p:spPr>
          <a:xfrm>
            <a:off x="812800" y="609600"/>
            <a:ext cx="21844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150" b="1" spc="200" kern="0">
                <a:solidFill>
                  <a:srgbClr val="FFFFFF"/>
                </a:solidFill>
                <a:latin typeface="MiSans"/>
                <a:ea typeface="MiSans"/>
              </a:rPr>
              <a:t>企业商学院 · 第三课</a:t>
            </a:r>
            <a:endParaRPr lang="en-US" sz="1150"/>
          </a:p>
        </p:txBody>
      </p:sp>
      <p:sp>
        <p:nvSpPr>
          <p:cNvPr id="5" name="main-title"/>
          <p:cNvSpPr txBox="1"/>
          <p:nvPr/>
        </p:nvSpPr>
        <p:spPr>
          <a:xfrm>
            <a:off x="812800" y="1752600"/>
            <a:ext cx="6350000" cy="1320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8400" b="1">
                <a:solidFill>
                  <a:srgbClr val="FFFFFF"/>
                </a:solidFill>
                <a:latin typeface="MiSans"/>
                <a:ea typeface="MiSans"/>
              </a:rPr>
              <a:t>客户经营</a:t>
            </a:r>
            <a:endParaRPr lang="en-US" sz="8400"/>
          </a:p>
        </p:txBody>
      </p:sp>
      <p:sp>
        <p:nvSpPr>
          <p:cNvPr id="6" name="sub-title"/>
          <p:cNvSpPr txBox="1"/>
          <p:nvPr/>
        </p:nvSpPr>
        <p:spPr>
          <a:xfrm>
            <a:off x="812800" y="3225800"/>
            <a:ext cx="6604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800" b="1">
                <a:solidFill>
                  <a:srgbClr val="FFFFFF"/>
                </a:solidFill>
                <a:latin typeface="MiSans"/>
                <a:ea typeface="MiSans"/>
              </a:rPr>
              <a:t>建立A类客户长期增长系统</a:t>
            </a:r>
            <a:endParaRPr lang="en-US" sz="2800"/>
          </a:p>
        </p:txBody>
      </p:sp>
      <p:sp>
        <p:nvSpPr>
          <p:cNvPr id="7" name="sub-line"/>
          <p:cNvSpPr txBox="1"/>
          <p:nvPr/>
        </p:nvSpPr>
        <p:spPr>
          <a:xfrm>
            <a:off x="812800" y="3886200"/>
            <a:ext cx="5334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500">
                <a:solidFill>
                  <a:srgbClr val="FF4D4D"/>
                </a:solidFill>
                <a:latin typeface="MiSans"/>
                <a:ea typeface="MiSans"/>
              </a:rPr>
              <a:t>从成交订单，到经营客户未来</a:t>
            </a:r>
            <a:endParaRPr lang="en-US" sz="1500"/>
          </a:p>
        </p:txBody>
      </p:sp>
      <p:sp>
        <p:nvSpPr>
          <p:cNvPr id="8" name="note1-dot"/>
          <p:cNvSpPr/>
          <p:nvPr/>
        </p:nvSpPr>
        <p:spPr>
          <a:xfrm>
            <a:off x="7620000" y="1930400"/>
            <a:ext cx="101600" cy="101600"/>
          </a:xfrm>
          <a:prstGeom prst="rect">
            <a:avLst/>
          </a:prstGeom>
          <a:solidFill>
            <a:srgbClr val="FF4D4D"/>
          </a:solidFill>
          <a:ln>
            <a:noFill/>
          </a:ln>
        </p:spPr>
      </p:sp>
      <p:sp>
        <p:nvSpPr>
          <p:cNvPr id="9" name="note1-label"/>
          <p:cNvSpPr txBox="1"/>
          <p:nvPr/>
        </p:nvSpPr>
        <p:spPr>
          <a:xfrm>
            <a:off x="7848600" y="1879600"/>
            <a:ext cx="3556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200" b="1">
                <a:solidFill>
                  <a:srgbClr val="FFFFFF"/>
                </a:solidFill>
                <a:latin typeface="MiSans"/>
                <a:ea typeface="MiSans"/>
              </a:rPr>
              <a:t>课程定位</a:t>
            </a:r>
            <a:endParaRPr lang="en-US" sz="1200"/>
          </a:p>
        </p:txBody>
      </p:sp>
      <p:sp>
        <p:nvSpPr>
          <p:cNvPr id="10" name="note1-desc"/>
          <p:cNvSpPr txBox="1"/>
          <p:nvPr/>
        </p:nvSpPr>
        <p:spPr>
          <a:xfrm>
            <a:off x="7848600" y="2133600"/>
            <a:ext cx="35814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050">
                <a:solidFill>
                  <a:srgbClr val="A08E8E"/>
                </a:solidFill>
                <a:latin typeface="MiSans"/>
                <a:ea typeface="MiSans"/>
              </a:rPr>
              <a:t>从“订单销售”，升级为“客户资产经营”</a:t>
            </a:r>
            <a:endParaRPr lang="en-US" sz="1050"/>
          </a:p>
        </p:txBody>
      </p:sp>
      <p:sp>
        <p:nvSpPr>
          <p:cNvPr id="11" name="note2-dot"/>
          <p:cNvSpPr/>
          <p:nvPr/>
        </p:nvSpPr>
        <p:spPr>
          <a:xfrm>
            <a:off x="7620000" y="2743200"/>
            <a:ext cx="101600" cy="101600"/>
          </a:xfrm>
          <a:prstGeom prst="rect">
            <a:avLst/>
          </a:prstGeom>
          <a:solidFill>
            <a:srgbClr val="FF4D4D"/>
          </a:solidFill>
          <a:ln>
            <a:noFill/>
          </a:ln>
        </p:spPr>
      </p:sp>
      <p:sp>
        <p:nvSpPr>
          <p:cNvPr id="12" name="note2-label"/>
          <p:cNvSpPr txBox="1"/>
          <p:nvPr/>
        </p:nvSpPr>
        <p:spPr>
          <a:xfrm>
            <a:off x="7848600" y="2692400"/>
            <a:ext cx="3556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200" b="1">
                <a:solidFill>
                  <a:srgbClr val="FFFFFF"/>
                </a:solidFill>
                <a:latin typeface="MiSans"/>
                <a:ea typeface="MiSans"/>
              </a:rPr>
              <a:t>核心模型</a:t>
            </a:r>
            <a:endParaRPr lang="en-US" sz="1200"/>
          </a:p>
        </p:txBody>
      </p:sp>
      <p:sp>
        <p:nvSpPr>
          <p:cNvPr id="13" name="note2-desc"/>
          <p:cNvSpPr txBox="1"/>
          <p:nvPr/>
        </p:nvSpPr>
        <p:spPr>
          <a:xfrm>
            <a:off x="7848600" y="2946400"/>
            <a:ext cx="35814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050">
                <a:solidFill>
                  <a:srgbClr val="A08E8E"/>
                </a:solidFill>
                <a:latin typeface="MiSans"/>
                <a:ea typeface="MiSans"/>
              </a:rPr>
              <a:t>CLOS 客户资产经营模型（CAOM）</a:t>
            </a:r>
            <a:endParaRPr lang="en-US" sz="1050"/>
          </a:p>
        </p:txBody>
      </p:sp>
      <p:sp>
        <p:nvSpPr>
          <p:cNvPr id="14" name="note3-dot"/>
          <p:cNvSpPr/>
          <p:nvPr/>
        </p:nvSpPr>
        <p:spPr>
          <a:xfrm>
            <a:off x="7620000" y="3556000"/>
            <a:ext cx="101600" cy="101600"/>
          </a:xfrm>
          <a:prstGeom prst="rect">
            <a:avLst/>
          </a:prstGeom>
          <a:solidFill>
            <a:srgbClr val="FF4D4D"/>
          </a:solidFill>
          <a:ln>
            <a:noFill/>
          </a:ln>
        </p:spPr>
      </p:sp>
      <p:sp>
        <p:nvSpPr>
          <p:cNvPr id="15" name="note3-label"/>
          <p:cNvSpPr txBox="1"/>
          <p:nvPr/>
        </p:nvSpPr>
        <p:spPr>
          <a:xfrm>
            <a:off x="7848600" y="3505200"/>
            <a:ext cx="3556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200" b="1">
                <a:solidFill>
                  <a:srgbClr val="FFFFFF"/>
                </a:solidFill>
                <a:latin typeface="MiSans"/>
                <a:ea typeface="MiSans"/>
              </a:rPr>
              <a:t>课程主线</a:t>
            </a:r>
            <a:endParaRPr lang="en-US" sz="1200"/>
          </a:p>
        </p:txBody>
      </p:sp>
      <p:sp>
        <p:nvSpPr>
          <p:cNvPr id="16" name="note3-desc"/>
          <p:cNvSpPr txBox="1"/>
          <p:nvPr/>
        </p:nvSpPr>
        <p:spPr>
          <a:xfrm>
            <a:off x="7848600" y="3759200"/>
            <a:ext cx="35814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050">
                <a:solidFill>
                  <a:srgbClr val="A08E8E"/>
                </a:solidFill>
                <a:latin typeface="MiSans"/>
                <a:ea typeface="MiSans"/>
              </a:rPr>
              <a:t>识别A类客户，建立长期增长系统</a:t>
            </a:r>
            <a:endParaRPr lang="en-US" sz="1050"/>
          </a:p>
        </p:txBody>
      </p:sp>
      <p:sp>
        <p:nvSpPr>
          <p:cNvPr id="17" name="bottom-left"/>
          <p:cNvSpPr txBox="1"/>
          <p:nvPr/>
        </p:nvSpPr>
        <p:spPr>
          <a:xfrm>
            <a:off x="812800" y="63500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000">
                <a:solidFill>
                  <a:srgbClr val="6E5F5F"/>
                </a:solidFill>
                <a:latin typeface="MiSans"/>
                <a:ea typeface="MiSans"/>
              </a:rPr>
              <a:t>企业经营增长系列课程 · 第三课</a:t>
            </a:r>
            <a:endParaRPr lang="en-US" sz="1000"/>
          </a:p>
        </p:txBody>
      </p:sp>
      <p:sp>
        <p:nvSpPr>
          <p:cNvPr id="18" name="bottom-right"/>
          <p:cNvSpPr txBox="1"/>
          <p:nvPr/>
        </p:nvSpPr>
        <p:spPr>
          <a:xfrm>
            <a:off x="6299200" y="63500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20000"/>
              </a:lnSpc>
            </a:pPr>
            <a:r>
              <a:rPr lang="en-US" sz="1000" spc="200" kern="0">
                <a:solidFill>
                  <a:srgbClr val="6E5F5F"/>
                </a:solidFill>
                <a:latin typeface="MiSans"/>
                <a:ea typeface="MiSans"/>
              </a:rPr>
              <a:t>ENTERPRISE GROWTH SERIES</a:t>
            </a:r>
            <a:endParaRPr lang="en-US" sz="1000"/>
          </a:p>
        </p:txBody>
      </p:sp>
    </p:spTree>
  </p:cSld>
  <p:clrMapOvr>
    <a:masterClrMapping/>
  </p:clrMapOvr>
  <p:transition spd="fast" advClick="1">
    <p:checker dir="horz"/>
  </p:transition>
</p:sld>
</file>

<file path=ppt/slides/slide2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508000"/>
            <a:ext cx="762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000" spc="300" kern="0">
                <a:solidFill>
                  <a:srgbClr val="8C8585"/>
                </a:solidFill>
                <a:latin typeface="MiSans"/>
                <a:ea typeface="MiSans"/>
              </a:rPr>
              <a:t>痛点导入</a:t>
            </a:r>
            <a:endParaRPr lang="en-US" sz="1000"/>
          </a:p>
        </p:txBody>
      </p:sp>
      <p:sp>
        <p:nvSpPr>
          <p:cNvPr id="3" name="title"/>
          <p:cNvSpPr txBox="1"/>
          <p:nvPr/>
        </p:nvSpPr>
        <p:spPr>
          <a:xfrm>
            <a:off x="812800" y="762000"/>
            <a:ext cx="10160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2600" b="1">
                <a:solidFill>
                  <a:srgbClr val="1C0B0B"/>
                </a:solidFill>
                <a:latin typeface="MiSans"/>
                <a:ea typeface="MiSans"/>
              </a:rPr>
              <a:t>为什么很多销售越来越累？</a:t>
            </a:r>
            <a:endParaRPr lang="en-US" sz="2600"/>
          </a:p>
        </p:txBody>
      </p:sp>
      <p:sp>
        <p:nvSpPr>
          <p:cNvPr id="4" name="caption"/>
          <p:cNvSpPr txBox="1"/>
          <p:nvPr/>
        </p:nvSpPr>
        <p:spPr>
          <a:xfrm>
            <a:off x="812800" y="1295400"/>
            <a:ext cx="1016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200">
                <a:solidFill>
                  <a:srgbClr val="8C8585"/>
                </a:solidFill>
                <a:latin typeface="MiSans"/>
                <a:ea typeface="MiSans"/>
              </a:rPr>
              <a:t>普通销售困在循环里，优秀销售跳出循环</a:t>
            </a:r>
            <a:endParaRPr lang="en-US" sz="1200"/>
          </a:p>
        </p:txBody>
      </p:sp>
      <p:sp>
        <p:nvSpPr>
          <p:cNvPr id="5" name="title-line"/>
          <p:cNvSpPr/>
          <p:nvPr/>
        </p:nvSpPr>
        <p:spPr>
          <a:xfrm>
            <a:off x="812800" y="1676400"/>
            <a:ext cx="10566400" cy="12700"/>
          </a:xfrm>
          <a:prstGeom prst="rect">
            <a:avLst/>
          </a:prstGeom>
          <a:solidFill>
            <a:srgbClr val="E7E6E6"/>
          </a:solidFill>
          <a:ln>
            <a:noFill/>
          </a:ln>
        </p:spPr>
      </p:sp>
      <p:sp>
        <p:nvSpPr>
          <p:cNvPr id="6" name="loop-label"/>
          <p:cNvSpPr txBox="1"/>
          <p:nvPr/>
        </p:nvSpPr>
        <p:spPr>
          <a:xfrm>
            <a:off x="812800" y="19050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200" b="1">
                <a:solidFill>
                  <a:srgbClr val="8C8585"/>
                </a:solidFill>
                <a:latin typeface="MiSans"/>
                <a:ea typeface="MiSans"/>
              </a:rPr>
              <a:t>普通销售的死循环</a:t>
            </a:r>
            <a:endParaRPr lang="en-US" sz="1200"/>
          </a:p>
        </p:txBody>
      </p:sp>
      <p:sp>
        <p:nvSpPr>
          <p:cNvPr id="7" name="cap1"/>
          <p:cNvSpPr/>
          <p:nvPr/>
        </p:nvSpPr>
        <p:spPr>
          <a:xfrm>
            <a:off x="812800" y="2260600"/>
            <a:ext cx="2235200" cy="431800"/>
          </a:xfrm>
          <a:prstGeom prst="roundRect">
            <a:avLst>
              <a:gd name="adj" fmla="val 50000"/>
            </a:avLst>
          </a:prstGeom>
          <a:solidFill>
            <a:srgbClr val="F6F6F6"/>
          </a:solidFill>
          <a:ln>
            <a:noFill/>
          </a:ln>
        </p:spPr>
      </p:sp>
      <p:sp>
        <p:nvSpPr>
          <p:cNvPr id="8" name="cap1-text"/>
          <p:cNvSpPr txBox="1"/>
          <p:nvPr/>
        </p:nvSpPr>
        <p:spPr>
          <a:xfrm>
            <a:off x="812800" y="2260600"/>
            <a:ext cx="22352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300">
                <a:solidFill>
                  <a:srgbClr val="1C0B0B"/>
                </a:solidFill>
                <a:latin typeface="MiSans"/>
                <a:ea typeface="MiSans"/>
              </a:rPr>
              <a:t>找客户</a:t>
            </a:r>
            <a:endParaRPr lang="en-US" sz="1300"/>
          </a:p>
        </p:txBody>
      </p:sp>
      <p:sp>
        <p:nvSpPr>
          <p:cNvPr id="9" name="arr1"/>
          <p:cNvSpPr/>
          <p:nvPr>
            <p:extLst>
              <p:ext uri="{F5677B7D-0D2A-4D9B-9A5C-6D8D7D0E5A5D}">
                <pptd:line encoding="base64url">eyJ2aWV3Qm94IjpbMiwxOF0sInBvaW50cyI6IjEsMCAxLDE4IiwiY3VydmUiOiJzaGFycCJ9</pptd:line>
              </p:ext>
            </p:extLst>
          </p:nvPr>
        </p:nvSpPr>
        <p:spPr>
          <a:xfrm>
            <a:off x="1917700" y="2717800"/>
            <a:ext cx="25400" cy="228600"/>
          </a:xfrm>
          <a:custGeom>
            <a:avLst/>
            <a:gdLst/>
            <a:ahLst/>
            <a:cxnLst/>
            <a:rect l="l" t="t" r="r" b="b"/>
            <a:pathLst>
              <a:path w="2" h="18">
                <a:moveTo>
                  <a:pt x="1" y="0"/>
                </a:moveTo>
                <a:lnTo>
                  <a:pt x="1" y="18"/>
                </a:lnTo>
              </a:path>
            </a:pathLst>
          </a:custGeom>
          <a:noFill/>
          <a:ln w="19050">
            <a:solidFill>
              <a:srgbClr val="C1C1C1"/>
            </a:solidFill>
            <a:tailEnd type="arrow"/>
          </a:ln>
        </p:spPr>
      </p:sp>
      <p:sp>
        <p:nvSpPr>
          <p:cNvPr id="10" name="cap2"/>
          <p:cNvSpPr/>
          <p:nvPr/>
        </p:nvSpPr>
        <p:spPr>
          <a:xfrm>
            <a:off x="812800" y="2971800"/>
            <a:ext cx="2235200" cy="431800"/>
          </a:xfrm>
          <a:prstGeom prst="roundRect">
            <a:avLst>
              <a:gd name="adj" fmla="val 50000"/>
            </a:avLst>
          </a:prstGeom>
          <a:solidFill>
            <a:srgbClr val="F6F6F6"/>
          </a:solidFill>
          <a:ln>
            <a:noFill/>
          </a:ln>
        </p:spPr>
      </p:sp>
      <p:sp>
        <p:nvSpPr>
          <p:cNvPr id="11" name="cap2-text"/>
          <p:cNvSpPr txBox="1"/>
          <p:nvPr/>
        </p:nvSpPr>
        <p:spPr>
          <a:xfrm>
            <a:off x="812800" y="2971800"/>
            <a:ext cx="22352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300">
                <a:solidFill>
                  <a:srgbClr val="1C0B0B"/>
                </a:solidFill>
                <a:latin typeface="MiSans"/>
                <a:ea typeface="MiSans"/>
              </a:rPr>
              <a:t>报价</a:t>
            </a:r>
            <a:endParaRPr lang="en-US" sz="1300"/>
          </a:p>
        </p:txBody>
      </p:sp>
      <p:sp>
        <p:nvSpPr>
          <p:cNvPr id="12" name="arr2"/>
          <p:cNvSpPr/>
          <p:nvPr>
            <p:extLst>
              <p:ext uri="{F5677B7D-0D2A-4D9B-9A5C-6D8D7D0E5A5D}">
                <pptd:line encoding="base64url">eyJ2aWV3Qm94IjpbMiwxOF0sInBvaW50cyI6IjEsMCAxLDE4IiwiY3VydmUiOiJzaGFycCJ9</pptd:line>
              </p:ext>
            </p:extLst>
          </p:nvPr>
        </p:nvSpPr>
        <p:spPr>
          <a:xfrm>
            <a:off x="1917700" y="3429000"/>
            <a:ext cx="25400" cy="228600"/>
          </a:xfrm>
          <a:custGeom>
            <a:avLst/>
            <a:gdLst/>
            <a:ahLst/>
            <a:cxnLst/>
            <a:rect l="l" t="t" r="r" b="b"/>
            <a:pathLst>
              <a:path w="2" h="18">
                <a:moveTo>
                  <a:pt x="1" y="0"/>
                </a:moveTo>
                <a:lnTo>
                  <a:pt x="1" y="18"/>
                </a:lnTo>
              </a:path>
            </a:pathLst>
          </a:custGeom>
          <a:noFill/>
          <a:ln w="19050">
            <a:solidFill>
              <a:srgbClr val="C1C1C1"/>
            </a:solidFill>
            <a:tailEnd type="arrow"/>
          </a:ln>
        </p:spPr>
      </p:sp>
      <p:sp>
        <p:nvSpPr>
          <p:cNvPr id="13" name="cap3"/>
          <p:cNvSpPr/>
          <p:nvPr/>
        </p:nvSpPr>
        <p:spPr>
          <a:xfrm>
            <a:off x="812800" y="3683000"/>
            <a:ext cx="2235200" cy="431800"/>
          </a:xfrm>
          <a:prstGeom prst="roundRect">
            <a:avLst>
              <a:gd name="adj" fmla="val 50000"/>
            </a:avLst>
          </a:prstGeom>
          <a:solidFill>
            <a:srgbClr val="F6F6F6"/>
          </a:solidFill>
          <a:ln>
            <a:noFill/>
          </a:ln>
        </p:spPr>
      </p:sp>
      <p:sp>
        <p:nvSpPr>
          <p:cNvPr id="14" name="cap3-text"/>
          <p:cNvSpPr txBox="1"/>
          <p:nvPr/>
        </p:nvSpPr>
        <p:spPr>
          <a:xfrm>
            <a:off x="812800" y="3683000"/>
            <a:ext cx="22352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300">
                <a:solidFill>
                  <a:srgbClr val="1C0B0B"/>
                </a:solidFill>
                <a:latin typeface="MiSans"/>
                <a:ea typeface="MiSans"/>
              </a:rPr>
              <a:t>成交</a:t>
            </a:r>
            <a:endParaRPr lang="en-US" sz="1300"/>
          </a:p>
        </p:txBody>
      </p:sp>
      <p:sp>
        <p:nvSpPr>
          <p:cNvPr id="15" name="arr3"/>
          <p:cNvSpPr/>
          <p:nvPr>
            <p:extLst>
              <p:ext uri="{F5677B7D-0D2A-4D9B-9A5C-6D8D7D0E5A5D}">
                <pptd:line encoding="base64url">eyJ2aWV3Qm94IjpbMiwxOF0sInBvaW50cyI6IjEsMCAxLDE4IiwiY3VydmUiOiJzaGFycCJ9</pptd:line>
              </p:ext>
            </p:extLst>
          </p:nvPr>
        </p:nvSpPr>
        <p:spPr>
          <a:xfrm>
            <a:off x="1917700" y="4140200"/>
            <a:ext cx="25400" cy="228600"/>
          </a:xfrm>
          <a:custGeom>
            <a:avLst/>
            <a:gdLst/>
            <a:ahLst/>
            <a:cxnLst/>
            <a:rect l="l" t="t" r="r" b="b"/>
            <a:pathLst>
              <a:path w="2" h="18">
                <a:moveTo>
                  <a:pt x="1" y="0"/>
                </a:moveTo>
                <a:lnTo>
                  <a:pt x="1" y="18"/>
                </a:lnTo>
              </a:path>
            </a:pathLst>
          </a:custGeom>
          <a:noFill/>
          <a:ln w="19050">
            <a:solidFill>
              <a:srgbClr val="C1C1C1"/>
            </a:solidFill>
            <a:tailEnd type="arrow"/>
          </a:ln>
        </p:spPr>
      </p:sp>
      <p:sp>
        <p:nvSpPr>
          <p:cNvPr id="16" name="cap4"/>
          <p:cNvSpPr/>
          <p:nvPr/>
        </p:nvSpPr>
        <p:spPr>
          <a:xfrm>
            <a:off x="812800" y="4394200"/>
            <a:ext cx="2235200" cy="431800"/>
          </a:xfrm>
          <a:prstGeom prst="roundRect">
            <a:avLst>
              <a:gd name="adj" fmla="val 50000"/>
            </a:avLst>
          </a:prstGeom>
          <a:solidFill>
            <a:srgbClr val="F6F6F6"/>
          </a:solidFill>
          <a:ln>
            <a:noFill/>
          </a:ln>
        </p:spPr>
      </p:sp>
      <p:sp>
        <p:nvSpPr>
          <p:cNvPr id="17" name="cap4-text"/>
          <p:cNvSpPr txBox="1"/>
          <p:nvPr/>
        </p:nvSpPr>
        <p:spPr>
          <a:xfrm>
            <a:off x="812800" y="4394200"/>
            <a:ext cx="22352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300">
                <a:solidFill>
                  <a:srgbClr val="1C0B0B"/>
                </a:solidFill>
                <a:latin typeface="MiSans"/>
                <a:ea typeface="MiSans"/>
              </a:rPr>
              <a:t>客户流失</a:t>
            </a:r>
            <a:endParaRPr lang="en-US" sz="1300"/>
          </a:p>
        </p:txBody>
      </p:sp>
      <p:sp>
        <p:nvSpPr>
          <p:cNvPr id="18" name="arr4"/>
          <p:cNvSpPr/>
          <p:nvPr>
            <p:extLst>
              <p:ext uri="{F5677B7D-0D2A-4D9B-9A5C-6D8D7D0E5A5D}">
                <pptd:line encoding="base64url">eyJ2aWV3Qm94IjpbMiwxOF0sInBvaW50cyI6IjEsMCAxLDE4IiwiY3VydmUiOiJzaGFycCJ9</pptd:line>
              </p:ext>
            </p:extLst>
          </p:nvPr>
        </p:nvSpPr>
        <p:spPr>
          <a:xfrm>
            <a:off x="1917700" y="4851400"/>
            <a:ext cx="25400" cy="228600"/>
          </a:xfrm>
          <a:custGeom>
            <a:avLst/>
            <a:gdLst/>
            <a:ahLst/>
            <a:cxnLst/>
            <a:rect l="l" t="t" r="r" b="b"/>
            <a:pathLst>
              <a:path w="2" h="18">
                <a:moveTo>
                  <a:pt x="1" y="0"/>
                </a:moveTo>
                <a:lnTo>
                  <a:pt x="1" y="18"/>
                </a:lnTo>
              </a:path>
            </a:pathLst>
          </a:custGeom>
          <a:noFill/>
          <a:ln w="19050">
            <a:solidFill>
              <a:srgbClr val="C1C1C1"/>
            </a:solidFill>
            <a:tailEnd type="arrow"/>
          </a:ln>
        </p:spPr>
      </p:sp>
      <p:sp>
        <p:nvSpPr>
          <p:cNvPr id="19" name="cap5"/>
          <p:cNvSpPr/>
          <p:nvPr/>
        </p:nvSpPr>
        <p:spPr>
          <a:xfrm>
            <a:off x="812800" y="5105400"/>
            <a:ext cx="2235200" cy="431800"/>
          </a:xfrm>
          <a:prstGeom prst="roundRect">
            <a:avLst>
              <a:gd name="adj" fmla="val 50000"/>
            </a:avLst>
          </a:prstGeom>
          <a:solidFill>
            <a:srgbClr val="F6F6F6"/>
          </a:solidFill>
          <a:ln>
            <a:noFill/>
          </a:ln>
        </p:spPr>
      </p:sp>
      <p:sp>
        <p:nvSpPr>
          <p:cNvPr id="20" name="cap5-text"/>
          <p:cNvSpPr txBox="1"/>
          <p:nvPr/>
        </p:nvSpPr>
        <p:spPr>
          <a:xfrm>
            <a:off x="812800" y="5105400"/>
            <a:ext cx="22352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300">
                <a:solidFill>
                  <a:srgbClr val="1C0B0B"/>
                </a:solidFill>
                <a:latin typeface="MiSans"/>
                <a:ea typeface="MiSans"/>
              </a:rPr>
              <a:t>继续找客户</a:t>
            </a:r>
            <a:endParaRPr lang="en-US" sz="1300"/>
          </a:p>
        </p:txBody>
      </p:sp>
      <p:sp>
        <p:nvSpPr>
          <p:cNvPr id="21" name="loop-line"/>
          <p:cNvSpPr/>
          <p:nvPr>
            <p:extLst>
              <p:ext uri="{F5677B7D-0D2A-4D9B-9A5C-6D8D7D0E5A5D}">
                <pptd:line encoding="base64url">eyJ2aWV3Qm94IjpbMTEyLDI2NV0sInBvaW50cyI6IjExMiwyNDEgMTEyLDI2NSAwLDI2NSAwLDAgMjQsMCIsImN1cnZlIjoic2hhcnAifQ</pptd:line>
              </p:ext>
            </p:extLst>
          </p:nvPr>
        </p:nvSpPr>
        <p:spPr>
          <a:xfrm>
            <a:off x="508000" y="2476500"/>
            <a:ext cx="1422400" cy="3365500"/>
          </a:xfrm>
          <a:custGeom>
            <a:avLst/>
            <a:gdLst/>
            <a:ahLst/>
            <a:cxnLst/>
            <a:rect l="l" t="t" r="r" b="b"/>
            <a:pathLst>
              <a:path w="112" h="265">
                <a:moveTo>
                  <a:pt x="112" y="241"/>
                </a:moveTo>
                <a:lnTo>
                  <a:pt x="112" y="265"/>
                </a:lnTo>
                <a:lnTo>
                  <a:pt x="0" y="265"/>
                </a:lnTo>
                <a:lnTo>
                  <a:pt x="0" y="0"/>
                </a:lnTo>
                <a:lnTo>
                  <a:pt x="24" y="0"/>
                </a:lnTo>
              </a:path>
            </a:pathLst>
          </a:custGeom>
          <a:noFill/>
          <a:ln w="19050">
            <a:solidFill>
              <a:srgbClr val="C1C1C1"/>
            </a:solidFill>
            <a:tailEnd type="arrow"/>
          </a:ln>
        </p:spPr>
      </p:sp>
      <p:sp>
        <p:nvSpPr>
          <p:cNvPr id="22" name="loop-note"/>
          <p:cNvSpPr txBox="1"/>
          <p:nvPr/>
        </p:nvSpPr>
        <p:spPr>
          <a:xfrm>
            <a:off x="508000" y="5918200"/>
            <a:ext cx="2032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950">
                <a:solidFill>
                  <a:srgbClr val="8C8585"/>
                </a:solidFill>
                <a:latin typeface="MiSans"/>
                <a:ea typeface="MiSans"/>
              </a:rPr>
              <a:t>永远重复的循环</a:t>
            </a:r>
            <a:endParaRPr lang="en-US" sz="950"/>
          </a:p>
        </p:txBody>
      </p:sp>
      <p:sp>
        <p:nvSpPr>
          <p:cNvPr id="23" name="right-dot"/>
          <p:cNvSpPr/>
          <p:nvPr/>
        </p:nvSpPr>
        <p:spPr>
          <a:xfrm>
            <a:off x="5461000" y="2463800"/>
            <a:ext cx="101600" cy="101600"/>
          </a:xfrm>
          <a:prstGeom prst="rect">
            <a:avLst/>
          </a:prstGeom>
          <a:solidFill>
            <a:srgbClr val="FF4D4D"/>
          </a:solidFill>
          <a:ln>
            <a:noFill/>
          </a:ln>
        </p:spPr>
      </p:sp>
      <p:sp>
        <p:nvSpPr>
          <p:cNvPr id="24" name="right-label"/>
          <p:cNvSpPr txBox="1"/>
          <p:nvPr/>
        </p:nvSpPr>
        <p:spPr>
          <a:xfrm>
            <a:off x="5664200" y="24130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200">
                <a:solidFill>
                  <a:srgbClr val="8C8585"/>
                </a:solidFill>
                <a:latin typeface="MiSans"/>
                <a:ea typeface="MiSans"/>
              </a:rPr>
              <a:t>真正优秀的销售</a:t>
            </a:r>
            <a:endParaRPr lang="en-US" sz="1200"/>
          </a:p>
        </p:txBody>
      </p:sp>
      <p:sp>
        <p:nvSpPr>
          <p:cNvPr id="25" name="right-big1"/>
          <p:cNvSpPr txBox="1"/>
          <p:nvPr/>
        </p:nvSpPr>
        <p:spPr>
          <a:xfrm>
            <a:off x="5461000" y="2743200"/>
            <a:ext cx="59182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000" b="1">
                <a:solidFill>
                  <a:srgbClr val="1C0B0B"/>
                </a:solidFill>
                <a:latin typeface="MiSans"/>
                <a:ea typeface="MiSans"/>
              </a:rPr>
              <a:t>客户越来越少，</a:t>
            </a:r>
            <a:endParaRPr lang="en-US" sz="3000"/>
          </a:p>
        </p:txBody>
      </p:sp>
      <p:sp>
        <p:nvSpPr>
          <p:cNvPr id="26" name="right-big2"/>
          <p:cNvSpPr txBox="1"/>
          <p:nvPr/>
        </p:nvSpPr>
        <p:spPr>
          <a:xfrm>
            <a:off x="5461000" y="3302000"/>
            <a:ext cx="59182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000" b="1">
                <a:solidFill>
                  <a:srgbClr val="FF4D4D"/>
                </a:solidFill>
                <a:latin typeface="MiSans"/>
                <a:ea typeface="MiSans"/>
              </a:rPr>
              <a:t>业绩越来越高。</a:t>
            </a:r>
            <a:endParaRPr lang="en-US" sz="3000"/>
          </a:p>
        </p:txBody>
      </p:sp>
      <p:sp>
        <p:nvSpPr>
          <p:cNvPr id="27" name="right-desc"/>
          <p:cNvSpPr txBox="1"/>
          <p:nvPr/>
        </p:nvSpPr>
        <p:spPr>
          <a:xfrm>
            <a:off x="5461000" y="4140200"/>
            <a:ext cx="5588000" cy="685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250">
                <a:solidFill>
                  <a:srgbClr val="454545"/>
                </a:solidFill>
                <a:latin typeface="MiSans"/>
                <a:ea typeface="MiSans"/>
              </a:rPr>
              <a:t>A类客户持续复购、不断扩品，销售不再每天从零开始。客户做减法，价值做加法。</a:t>
            </a:r>
            <a:endParaRPr lang="en-US" sz="1250"/>
          </a:p>
        </p:txBody>
      </p:sp>
      <p:sp>
        <p:nvSpPr>
          <p:cNvPr id="28" name="footer-line"/>
          <p:cNvSpPr/>
          <p:nvPr/>
        </p:nvSpPr>
        <p:spPr>
          <a:xfrm>
            <a:off x="812800" y="6400800"/>
            <a:ext cx="10566400" cy="12700"/>
          </a:xfrm>
          <a:prstGeom prst="rect">
            <a:avLst/>
          </a:prstGeom>
          <a:solidFill>
            <a:srgbClr val="E7E6E6"/>
          </a:solidFill>
          <a:ln>
            <a:noFill/>
          </a:ln>
        </p:spPr>
      </p:sp>
      <p:sp>
        <p:nvSpPr>
          <p:cNvPr id="29" name="footer-left"/>
          <p:cNvSpPr txBox="1"/>
          <p:nvPr/>
        </p:nvSpPr>
        <p:spPr>
          <a:xfrm>
            <a:off x="812800" y="65024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900">
                <a:solidFill>
                  <a:srgbClr val="B5AFAF"/>
                </a:solidFill>
                <a:latin typeface="MiSans"/>
                <a:ea typeface="MiSans"/>
              </a:rPr>
              <a:t>第三课 · 客户经营 ｜ 企业商学院</a:t>
            </a:r>
            <a:endParaRPr lang="en-US" sz="900"/>
          </a:p>
        </p:txBody>
      </p:sp>
      <p:sp>
        <p:nvSpPr>
          <p:cNvPr id="30" name="footer-page"/>
          <p:cNvSpPr txBox="1"/>
          <p:nvPr/>
        </p:nvSpPr>
        <p:spPr>
          <a:xfrm>
            <a:off x="10109200" y="65024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20000"/>
              </a:lnSpc>
            </a:pPr>
            <a:r>
              <a:rPr lang="en-US" sz="900">
                <a:solidFill>
                  <a:srgbClr val="B5AFAF"/>
                </a:solidFill>
                <a:latin typeface="MiSans"/>
                <a:ea typeface="MiSans"/>
              </a:rPr>
              <a:t>02</a:t>
            </a:r>
            <a:endParaRPr lang="en-US" sz="900"/>
          </a:p>
        </p:txBody>
      </p:sp>
    </p:spTree>
  </p:cSld>
  <p:clrMapOvr>
    <a:masterClrMapping/>
  </p:clrMapOvr>
  <p:transition spd="fast" advClick="1">
    <p:checker dir="horz"/>
  </p:transition>
</p:sld>
</file>

<file path=ppt/slides/slide3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508000"/>
            <a:ext cx="762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000" spc="300" kern="0">
                <a:solidFill>
                  <a:srgbClr val="8C8585"/>
                </a:solidFill>
                <a:latin typeface="MiSans"/>
                <a:ea typeface="MiSans"/>
              </a:rPr>
              <a:t>认知误区</a:t>
            </a:r>
            <a:endParaRPr lang="en-US" sz="1000"/>
          </a:p>
        </p:txBody>
      </p:sp>
      <p:sp>
        <p:nvSpPr>
          <p:cNvPr id="3" name="title"/>
          <p:cNvSpPr txBox="1"/>
          <p:nvPr/>
        </p:nvSpPr>
        <p:spPr>
          <a:xfrm>
            <a:off x="812800" y="762000"/>
            <a:ext cx="10160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2600" b="1">
                <a:solidFill>
                  <a:srgbClr val="1C0B0B"/>
                </a:solidFill>
                <a:latin typeface="MiSans"/>
                <a:ea typeface="MiSans"/>
              </a:rPr>
              <a:t>销售最大的误区：成交 = 结束</a:t>
            </a:r>
            <a:endParaRPr lang="en-US" sz="2600"/>
          </a:p>
        </p:txBody>
      </p:sp>
      <p:sp>
        <p:nvSpPr>
          <p:cNvPr id="4" name="caption"/>
          <p:cNvSpPr txBox="1"/>
          <p:nvPr/>
        </p:nvSpPr>
        <p:spPr>
          <a:xfrm>
            <a:off x="812800" y="1295400"/>
            <a:ext cx="1016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200">
                <a:solidFill>
                  <a:srgbClr val="8C8585"/>
                </a:solidFill>
                <a:latin typeface="MiSans"/>
                <a:ea typeface="MiSans"/>
              </a:rPr>
              <a:t>成交不是任务的终点，而是客户经营的起点</a:t>
            </a:r>
            <a:endParaRPr lang="en-US" sz="1200"/>
          </a:p>
        </p:txBody>
      </p:sp>
      <p:sp>
        <p:nvSpPr>
          <p:cNvPr id="5" name="title-line"/>
          <p:cNvSpPr/>
          <p:nvPr/>
        </p:nvSpPr>
        <p:spPr>
          <a:xfrm>
            <a:off x="812800" y="1676400"/>
            <a:ext cx="10566400" cy="12700"/>
          </a:xfrm>
          <a:prstGeom prst="rect">
            <a:avLst/>
          </a:prstGeom>
          <a:solidFill>
            <a:srgbClr val="E7E6E6"/>
          </a:solidFill>
          <a:ln>
            <a:noFill/>
          </a:ln>
        </p:spPr>
      </p:sp>
      <p:sp>
        <p:nvSpPr>
          <p:cNvPr id="6" name="old-card"/>
          <p:cNvSpPr/>
          <p:nvPr/>
        </p:nvSpPr>
        <p:spPr>
          <a:xfrm>
            <a:off x="812800" y="2006600"/>
            <a:ext cx="4572000" cy="1879600"/>
          </a:xfrm>
          <a:prstGeom prst="rect">
            <a:avLst/>
          </a:prstGeom>
          <a:solidFill>
            <a:srgbClr val="F6F6F6"/>
          </a:solidFill>
          <a:ln>
            <a:noFill/>
          </a:ln>
        </p:spPr>
      </p:sp>
      <p:sp>
        <p:nvSpPr>
          <p:cNvPr id="7" name="old-label"/>
          <p:cNvSpPr txBox="1"/>
          <p:nvPr/>
        </p:nvSpPr>
        <p:spPr>
          <a:xfrm>
            <a:off x="1117600" y="2235200"/>
            <a:ext cx="254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100" spc="200" kern="0">
                <a:solidFill>
                  <a:srgbClr val="8C8585"/>
                </a:solidFill>
                <a:latin typeface="MiSans"/>
                <a:ea typeface="MiSans"/>
              </a:rPr>
              <a:t>过去的想法</a:t>
            </a:r>
            <a:endParaRPr lang="en-US" sz="1100"/>
          </a:p>
        </p:txBody>
      </p:sp>
      <p:sp>
        <p:nvSpPr>
          <p:cNvPr id="8" name="old-text"/>
          <p:cNvSpPr txBox="1"/>
          <p:nvPr/>
        </p:nvSpPr>
        <p:spPr>
          <a:xfrm>
            <a:off x="1117600" y="2590800"/>
            <a:ext cx="39624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900" strike="sngStrike">
                <a:solidFill>
                  <a:srgbClr val="8C8585"/>
                </a:solidFill>
                <a:latin typeface="MiSans"/>
                <a:ea typeface="MiSans"/>
              </a:rPr>
              <a:t>客户成交了，</a:t>
            </a:r>
            <a:endParaRPr lang="en-US" sz="1900"/>
          </a:p>
          <a:p>
            <a:pPr>
              <a:lnSpc>
                <a:spcPct val="150000"/>
              </a:lnSpc>
            </a:pPr>
            <a:r>
              <a:rPr lang="en-US" sz="1900" strike="sngStrike">
                <a:solidFill>
                  <a:srgbClr val="8C8585"/>
                </a:solidFill>
                <a:latin typeface="MiSans"/>
                <a:ea typeface="MiSans"/>
              </a:rPr>
              <a:t>任务就结束了。</a:t>
            </a:r>
            <a:endParaRPr lang="en-US" sz="1900"/>
          </a:p>
        </p:txBody>
      </p:sp>
      <p:sp>
        <p:nvSpPr>
          <p:cNvPr id="9" name="mid-arrow"/>
          <p:cNvSpPr/>
          <p:nvPr/>
        </p:nvSpPr>
        <p:spPr>
          <a:xfrm>
            <a:off x="5613400" y="2794000"/>
            <a:ext cx="457200" cy="279400"/>
          </a:xfrm>
          <a:prstGeom prst="rightArrow">
            <a:avLst/>
          </a:prstGeom>
          <a:solidFill>
            <a:srgbClr val="C1C1C1"/>
          </a:solidFill>
          <a:ln>
            <a:noFill/>
          </a:ln>
        </p:spPr>
      </p:sp>
      <p:sp>
        <p:nvSpPr>
          <p:cNvPr id="10" name="new-card"/>
          <p:cNvSpPr/>
          <p:nvPr/>
        </p:nvSpPr>
        <p:spPr>
          <a:xfrm>
            <a:off x="6350000" y="2006600"/>
            <a:ext cx="5029200" cy="1879600"/>
          </a:xfrm>
          <a:prstGeom prst="rect">
            <a:avLst/>
          </a:prstGeom>
          <a:solidFill>
            <a:srgbClr val="FFF1F1"/>
          </a:solidFill>
          <a:ln>
            <a:noFill/>
          </a:ln>
        </p:spPr>
      </p:sp>
      <p:sp>
        <p:nvSpPr>
          <p:cNvPr id="11" name="new-bar"/>
          <p:cNvSpPr/>
          <p:nvPr/>
        </p:nvSpPr>
        <p:spPr>
          <a:xfrm>
            <a:off x="6350000" y="2006600"/>
            <a:ext cx="50800" cy="1879600"/>
          </a:xfrm>
          <a:prstGeom prst="rect">
            <a:avLst/>
          </a:prstGeom>
          <a:solidFill>
            <a:srgbClr val="FF4D4D"/>
          </a:solidFill>
          <a:ln>
            <a:noFill/>
          </a:ln>
        </p:spPr>
      </p:sp>
      <p:sp>
        <p:nvSpPr>
          <p:cNvPr id="12" name="new-label"/>
          <p:cNvSpPr txBox="1"/>
          <p:nvPr/>
        </p:nvSpPr>
        <p:spPr>
          <a:xfrm>
            <a:off x="6654800" y="2235200"/>
            <a:ext cx="254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100" spc="200" kern="0">
                <a:solidFill>
                  <a:srgbClr val="FF4D4D"/>
                </a:solidFill>
                <a:latin typeface="MiSans"/>
                <a:ea typeface="MiSans"/>
              </a:rPr>
              <a:t>事实上</a:t>
            </a:r>
            <a:endParaRPr lang="en-US" sz="1100"/>
          </a:p>
        </p:txBody>
      </p:sp>
      <p:sp>
        <p:nvSpPr>
          <p:cNvPr id="13" name="new-text"/>
          <p:cNvSpPr txBox="1"/>
          <p:nvPr/>
        </p:nvSpPr>
        <p:spPr>
          <a:xfrm>
            <a:off x="6654800" y="2590800"/>
            <a:ext cx="44450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2100" b="1">
                <a:solidFill>
                  <a:srgbClr val="1C0B0B"/>
                </a:solidFill>
                <a:latin typeface="MiSans"/>
                <a:ea typeface="MiSans"/>
              </a:rPr>
              <a:t>成交，只是</a:t>
            </a:r>
            <a:endParaRPr lang="en-US" sz="2100"/>
          </a:p>
          <a:p>
            <a:pPr>
              <a:lnSpc>
                <a:spcPct val="150000"/>
              </a:lnSpc>
            </a:pPr>
            <a:r>
              <a:rPr lang="en-US" sz="2100" b="1">
                <a:solidFill>
                  <a:srgbClr val="1C0B0B"/>
                </a:solidFill>
                <a:latin typeface="MiSans"/>
                <a:ea typeface="MiSans"/>
              </a:rPr>
              <a:t>客户经营的开始。</a:t>
            </a:r>
            <a:endParaRPr lang="en-US" sz="2100"/>
          </a:p>
        </p:txBody>
      </p:sp>
      <p:sp>
        <p:nvSpPr>
          <p:cNvPr id="14" name="bottom-left-text"/>
          <p:cNvSpPr txBox="1"/>
          <p:nvPr/>
        </p:nvSpPr>
        <p:spPr>
          <a:xfrm>
            <a:off x="812800" y="4445000"/>
            <a:ext cx="53340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2200" b="1">
                <a:solidFill>
                  <a:srgbClr val="1C0B0B"/>
                </a:solidFill>
                <a:latin typeface="MiSans"/>
                <a:ea typeface="MiSans"/>
              </a:rPr>
              <a:t>真正赚钱的，</a:t>
            </a:r>
            <a:endParaRPr lang="en-US" sz="2200"/>
          </a:p>
          <a:p>
            <a:pPr>
              <a:lnSpc>
                <a:spcPct val="150000"/>
              </a:lnSpc>
            </a:pPr>
            <a:r>
              <a:rPr lang="en-US" sz="2200" b="1">
                <a:solidFill>
                  <a:srgbClr val="1C0B0B"/>
                </a:solidFill>
                <a:latin typeface="MiSans"/>
                <a:ea typeface="MiSans"/>
              </a:rPr>
              <a:t>不是第一单。</a:t>
            </a:r>
            <a:endParaRPr lang="en-US" sz="2200"/>
          </a:p>
        </p:txBody>
      </p:sp>
      <p:sp>
        <p:nvSpPr>
          <p:cNvPr id="15" name="bottom-left-note"/>
          <p:cNvSpPr txBox="1"/>
          <p:nvPr/>
        </p:nvSpPr>
        <p:spPr>
          <a:xfrm>
            <a:off x="812800" y="5435600"/>
            <a:ext cx="5334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100">
                <a:solidFill>
                  <a:srgbClr val="8C8585"/>
                </a:solidFill>
                <a:latin typeface="MiSans"/>
                <a:ea typeface="MiSans"/>
              </a:rPr>
              <a:t>第一单只是门票，长期复购才是生意。</a:t>
            </a:r>
            <a:endParaRPr lang="en-US" sz="1100"/>
          </a:p>
        </p:txBody>
      </p:sp>
      <p:sp>
        <p:nvSpPr>
          <p:cNvPr id="16" name="bottom-right-big"/>
          <p:cNvSpPr txBox="1"/>
          <p:nvPr/>
        </p:nvSpPr>
        <p:spPr>
          <a:xfrm>
            <a:off x="6604000" y="4318000"/>
            <a:ext cx="47752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4000" b="1">
                <a:solidFill>
                  <a:srgbClr val="FF4D4D"/>
                </a:solidFill>
                <a:latin typeface="MiSans"/>
                <a:ea typeface="MiSans"/>
              </a:rPr>
              <a:t>未来 50 单</a:t>
            </a:r>
            <a:endParaRPr lang="en-US" sz="4000"/>
          </a:p>
        </p:txBody>
      </p:sp>
      <p:sp>
        <p:nvSpPr>
          <p:cNvPr id="17" name="bottom-right-note"/>
          <p:cNvSpPr txBox="1"/>
          <p:nvPr/>
        </p:nvSpPr>
        <p:spPr>
          <a:xfrm>
            <a:off x="6604000" y="5156200"/>
            <a:ext cx="47752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100">
                <a:solidFill>
                  <a:srgbClr val="8C8585"/>
                </a:solidFill>
                <a:latin typeface="MiSans"/>
                <a:ea typeface="MiSans"/>
              </a:rPr>
              <a:t>复购与扩品，才是利润真正的来源</a:t>
            </a:r>
            <a:endParaRPr lang="en-US" sz="1100"/>
          </a:p>
        </p:txBody>
      </p:sp>
      <p:sp>
        <p:nvSpPr>
          <p:cNvPr id="18" name="footer-line"/>
          <p:cNvSpPr/>
          <p:nvPr/>
        </p:nvSpPr>
        <p:spPr>
          <a:xfrm>
            <a:off x="812800" y="6400800"/>
            <a:ext cx="10566400" cy="12700"/>
          </a:xfrm>
          <a:prstGeom prst="rect">
            <a:avLst/>
          </a:prstGeom>
          <a:solidFill>
            <a:srgbClr val="E7E6E6"/>
          </a:solidFill>
          <a:ln>
            <a:noFill/>
          </a:ln>
        </p:spPr>
      </p:sp>
      <p:sp>
        <p:nvSpPr>
          <p:cNvPr id="19" name="footer-left"/>
          <p:cNvSpPr txBox="1"/>
          <p:nvPr/>
        </p:nvSpPr>
        <p:spPr>
          <a:xfrm>
            <a:off x="812800" y="65024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900">
                <a:solidFill>
                  <a:srgbClr val="B5AFAF"/>
                </a:solidFill>
                <a:latin typeface="MiSans"/>
                <a:ea typeface="MiSans"/>
              </a:rPr>
              <a:t>第三课 · 客户经营 ｜ 企业商学院</a:t>
            </a:r>
            <a:endParaRPr lang="en-US" sz="900"/>
          </a:p>
        </p:txBody>
      </p:sp>
      <p:sp>
        <p:nvSpPr>
          <p:cNvPr id="20" name="footer-page"/>
          <p:cNvSpPr txBox="1"/>
          <p:nvPr/>
        </p:nvSpPr>
        <p:spPr>
          <a:xfrm>
            <a:off x="10109200" y="65024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20000"/>
              </a:lnSpc>
            </a:pPr>
            <a:r>
              <a:rPr lang="en-US" sz="900">
                <a:solidFill>
                  <a:srgbClr val="B5AFAF"/>
                </a:solidFill>
                <a:latin typeface="MiSans"/>
                <a:ea typeface="MiSans"/>
              </a:rPr>
              <a:t>03</a:t>
            </a:r>
            <a:endParaRPr lang="en-US" sz="900"/>
          </a:p>
        </p:txBody>
      </p:sp>
    </p:spTree>
  </p:cSld>
  <p:clrMapOvr>
    <a:masterClrMapping/>
  </p:clrMapOvr>
  <p:transition spd="fast" advClick="1">
    <p:checker dir="horz"/>
  </p:transition>
</p:sld>
</file>

<file path=ppt/slides/slide4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508000"/>
            <a:ext cx="762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000" spc="300" kern="0">
                <a:solidFill>
                  <a:srgbClr val="8C8585"/>
                </a:solidFill>
                <a:latin typeface="MiSans"/>
                <a:ea typeface="MiSans"/>
              </a:rPr>
              <a:t>核心定义</a:t>
            </a:r>
            <a:endParaRPr lang="en-US" sz="1000"/>
          </a:p>
        </p:txBody>
      </p:sp>
      <p:sp>
        <p:nvSpPr>
          <p:cNvPr id="3" name="title"/>
          <p:cNvSpPr txBox="1"/>
          <p:nvPr/>
        </p:nvSpPr>
        <p:spPr>
          <a:xfrm>
            <a:off x="812800" y="762000"/>
            <a:ext cx="10160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2600" b="1">
                <a:solidFill>
                  <a:srgbClr val="1C0B0B"/>
                </a:solidFill>
                <a:latin typeface="MiSans"/>
                <a:ea typeface="MiSans"/>
              </a:rPr>
              <a:t>什么叫客户经营？</a:t>
            </a:r>
            <a:endParaRPr lang="en-US" sz="2600"/>
          </a:p>
        </p:txBody>
      </p:sp>
      <p:sp>
        <p:nvSpPr>
          <p:cNvPr id="4" name="caption"/>
          <p:cNvSpPr txBox="1"/>
          <p:nvPr/>
        </p:nvSpPr>
        <p:spPr>
          <a:xfrm>
            <a:off x="812800" y="1295400"/>
            <a:ext cx="1016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200">
                <a:solidFill>
                  <a:srgbClr val="8C8585"/>
                </a:solidFill>
                <a:latin typeface="MiSans"/>
                <a:ea typeface="MiSans"/>
              </a:rPr>
              <a:t>客户经营 ≠ 维护关系；客户经营 = 持续创造价值</a:t>
            </a:r>
            <a:endParaRPr lang="en-US" sz="1200"/>
          </a:p>
        </p:txBody>
      </p:sp>
      <p:sp>
        <p:nvSpPr>
          <p:cNvPr id="5" name="title-line"/>
          <p:cNvSpPr/>
          <p:nvPr/>
        </p:nvSpPr>
        <p:spPr>
          <a:xfrm>
            <a:off x="812800" y="1676400"/>
            <a:ext cx="10566400" cy="12700"/>
          </a:xfrm>
          <a:prstGeom prst="rect">
            <a:avLst/>
          </a:prstGeom>
          <a:solidFill>
            <a:srgbClr val="E7E6E6"/>
          </a:solidFill>
          <a:ln>
            <a:noFill/>
          </a:ln>
        </p:spPr>
      </p:sp>
      <p:sp>
        <p:nvSpPr>
          <p:cNvPr id="6" name="left-label"/>
          <p:cNvSpPr txBox="1"/>
          <p:nvPr/>
        </p:nvSpPr>
        <p:spPr>
          <a:xfrm>
            <a:off x="812800" y="20066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100" spc="200" kern="0">
                <a:solidFill>
                  <a:srgbClr val="8C8585"/>
                </a:solidFill>
                <a:latin typeface="MiSans"/>
                <a:ea typeface="MiSans"/>
              </a:rPr>
              <a:t>客户经营不是</a:t>
            </a:r>
            <a:endParaRPr lang="en-US" sz="1100"/>
          </a:p>
        </p:txBody>
      </p:sp>
      <p:sp>
        <p:nvSpPr>
          <p:cNvPr id="7" name="no1-icon"/>
          <p:cNvSpPr/>
          <p:nvPr>
            <p:extLst>
              <p:ext uri="{F5677B7D-0D2A-4D9B-9A5C-6D8D7D0E5A5D}">
                <pptd:icon encoding="base64url">eyJpY29uTmFtZSI6ImZhczp4bWFyayJ9</pptd:icon>
              </p:ext>
            </p:extLst>
          </p:nvPr>
        </p:nvSpPr>
        <p:spPr>
          <a:xfrm>
            <a:off x="812800" y="24638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384" h="512">
                <a:moveTo>
                  <a:pt x="55" y="73"/>
                </a:moveTo>
                <a:cubicBezTo>
                  <a:pt x="43" y="61"/>
                  <a:pt x="22" y="61"/>
                  <a:pt x="10" y="73"/>
                </a:cubicBezTo>
                <a:cubicBezTo>
                  <a:pt x="-3" y="86"/>
                  <a:pt x="-3" y="106"/>
                  <a:pt x="10" y="119"/>
                </a:cubicBezTo>
                <a:lnTo>
                  <a:pt x="147" y="256"/>
                </a:lnTo>
                <a:lnTo>
                  <a:pt x="10" y="393"/>
                </a:lnTo>
                <a:cubicBezTo>
                  <a:pt x="-3" y="406"/>
                  <a:pt x="-3" y="426"/>
                  <a:pt x="10" y="439"/>
                </a:cubicBezTo>
                <a:cubicBezTo>
                  <a:pt x="22" y="451"/>
                  <a:pt x="43" y="451"/>
                  <a:pt x="55" y="439"/>
                </a:cubicBezTo>
                <a:lnTo>
                  <a:pt x="193" y="301"/>
                </a:lnTo>
                <a:lnTo>
                  <a:pt x="330" y="439"/>
                </a:lnTo>
                <a:cubicBezTo>
                  <a:pt x="342" y="451"/>
                  <a:pt x="363" y="451"/>
                  <a:pt x="375" y="439"/>
                </a:cubicBezTo>
                <a:cubicBezTo>
                  <a:pt x="388" y="426"/>
                  <a:pt x="388" y="406"/>
                  <a:pt x="375" y="393"/>
                </a:cubicBezTo>
                <a:lnTo>
                  <a:pt x="238" y="256"/>
                </a:lnTo>
                <a:lnTo>
                  <a:pt x="375" y="119"/>
                </a:lnTo>
                <a:cubicBezTo>
                  <a:pt x="388" y="106"/>
                  <a:pt x="388" y="86"/>
                  <a:pt x="375" y="73"/>
                </a:cubicBezTo>
                <a:cubicBezTo>
                  <a:pt x="363" y="61"/>
                  <a:pt x="342" y="61"/>
                  <a:pt x="330" y="73"/>
                </a:cubicBezTo>
                <a:lnTo>
                  <a:pt x="193" y="211"/>
                </a:lnTo>
                <a:lnTo>
                  <a:pt x="55" y="73"/>
                </a:lnTo>
                <a:close/>
              </a:path>
            </a:pathLst>
          </a:custGeom>
          <a:solidFill>
            <a:srgbClr val="B5AFAF"/>
          </a:solidFill>
          <a:ln>
            <a:noFill/>
          </a:ln>
        </p:spPr>
      </p:sp>
      <p:sp>
        <p:nvSpPr>
          <p:cNvPr id="8" name="no1-text"/>
          <p:cNvSpPr txBox="1"/>
          <p:nvPr/>
        </p:nvSpPr>
        <p:spPr>
          <a:xfrm>
            <a:off x="1168400" y="2387600"/>
            <a:ext cx="3302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700" strike="sngStrike">
                <a:solidFill>
                  <a:srgbClr val="8C8585"/>
                </a:solidFill>
                <a:latin typeface="MiSans"/>
                <a:ea typeface="MiSans"/>
              </a:rPr>
              <a:t>维护关系</a:t>
            </a:r>
            <a:endParaRPr lang="en-US" sz="1700"/>
          </a:p>
        </p:txBody>
      </p:sp>
      <p:sp>
        <p:nvSpPr>
          <p:cNvPr id="9" name="no2-icon"/>
          <p:cNvSpPr/>
          <p:nvPr>
            <p:extLst>
              <p:ext uri="{F5677B7D-0D2A-4D9B-9A5C-6D8D7D0E5A5D}">
                <pptd:icon encoding="base64url">eyJpY29uTmFtZSI6ImZhczp4bWFyayJ9</pptd:icon>
              </p:ext>
            </p:extLst>
          </p:nvPr>
        </p:nvSpPr>
        <p:spPr>
          <a:xfrm>
            <a:off x="812800" y="30734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384" h="512">
                <a:moveTo>
                  <a:pt x="55" y="73"/>
                </a:moveTo>
                <a:cubicBezTo>
                  <a:pt x="43" y="61"/>
                  <a:pt x="22" y="61"/>
                  <a:pt x="10" y="73"/>
                </a:cubicBezTo>
                <a:cubicBezTo>
                  <a:pt x="-3" y="86"/>
                  <a:pt x="-3" y="106"/>
                  <a:pt x="10" y="119"/>
                </a:cubicBezTo>
                <a:lnTo>
                  <a:pt x="147" y="256"/>
                </a:lnTo>
                <a:lnTo>
                  <a:pt x="10" y="393"/>
                </a:lnTo>
                <a:cubicBezTo>
                  <a:pt x="-3" y="406"/>
                  <a:pt x="-3" y="426"/>
                  <a:pt x="10" y="439"/>
                </a:cubicBezTo>
                <a:cubicBezTo>
                  <a:pt x="22" y="451"/>
                  <a:pt x="43" y="451"/>
                  <a:pt x="55" y="439"/>
                </a:cubicBezTo>
                <a:lnTo>
                  <a:pt x="193" y="301"/>
                </a:lnTo>
                <a:lnTo>
                  <a:pt x="330" y="439"/>
                </a:lnTo>
                <a:cubicBezTo>
                  <a:pt x="342" y="451"/>
                  <a:pt x="363" y="451"/>
                  <a:pt x="375" y="439"/>
                </a:cubicBezTo>
                <a:cubicBezTo>
                  <a:pt x="388" y="426"/>
                  <a:pt x="388" y="406"/>
                  <a:pt x="375" y="393"/>
                </a:cubicBezTo>
                <a:lnTo>
                  <a:pt x="238" y="256"/>
                </a:lnTo>
                <a:lnTo>
                  <a:pt x="375" y="119"/>
                </a:lnTo>
                <a:cubicBezTo>
                  <a:pt x="388" y="106"/>
                  <a:pt x="388" y="86"/>
                  <a:pt x="375" y="73"/>
                </a:cubicBezTo>
                <a:cubicBezTo>
                  <a:pt x="363" y="61"/>
                  <a:pt x="342" y="61"/>
                  <a:pt x="330" y="73"/>
                </a:cubicBezTo>
                <a:lnTo>
                  <a:pt x="193" y="211"/>
                </a:lnTo>
                <a:lnTo>
                  <a:pt x="55" y="73"/>
                </a:lnTo>
                <a:close/>
              </a:path>
            </a:pathLst>
          </a:custGeom>
          <a:solidFill>
            <a:srgbClr val="B5AFAF"/>
          </a:solidFill>
          <a:ln>
            <a:noFill/>
          </a:ln>
        </p:spPr>
      </p:sp>
      <p:sp>
        <p:nvSpPr>
          <p:cNvPr id="10" name="no2-text"/>
          <p:cNvSpPr txBox="1"/>
          <p:nvPr/>
        </p:nvSpPr>
        <p:spPr>
          <a:xfrm>
            <a:off x="1168400" y="2997200"/>
            <a:ext cx="3302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700" strike="sngStrike">
                <a:solidFill>
                  <a:srgbClr val="8C8585"/>
                </a:solidFill>
                <a:latin typeface="MiSans"/>
                <a:ea typeface="MiSans"/>
              </a:rPr>
              <a:t>天天聊天</a:t>
            </a:r>
            <a:endParaRPr lang="en-US" sz="1700"/>
          </a:p>
        </p:txBody>
      </p:sp>
      <p:sp>
        <p:nvSpPr>
          <p:cNvPr id="11" name="no3-icon"/>
          <p:cNvSpPr/>
          <p:nvPr>
            <p:extLst>
              <p:ext uri="{F5677B7D-0D2A-4D9B-9A5C-6D8D7D0E5A5D}">
                <pptd:icon encoding="base64url">eyJpY29uTmFtZSI6ImZhczp4bWFyayJ9</pptd:icon>
              </p:ext>
            </p:extLst>
          </p:nvPr>
        </p:nvSpPr>
        <p:spPr>
          <a:xfrm>
            <a:off x="812800" y="36830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384" h="512">
                <a:moveTo>
                  <a:pt x="55" y="73"/>
                </a:moveTo>
                <a:cubicBezTo>
                  <a:pt x="43" y="61"/>
                  <a:pt x="22" y="61"/>
                  <a:pt x="10" y="73"/>
                </a:cubicBezTo>
                <a:cubicBezTo>
                  <a:pt x="-3" y="86"/>
                  <a:pt x="-3" y="106"/>
                  <a:pt x="10" y="119"/>
                </a:cubicBezTo>
                <a:lnTo>
                  <a:pt x="147" y="256"/>
                </a:lnTo>
                <a:lnTo>
                  <a:pt x="10" y="393"/>
                </a:lnTo>
                <a:cubicBezTo>
                  <a:pt x="-3" y="406"/>
                  <a:pt x="-3" y="426"/>
                  <a:pt x="10" y="439"/>
                </a:cubicBezTo>
                <a:cubicBezTo>
                  <a:pt x="22" y="451"/>
                  <a:pt x="43" y="451"/>
                  <a:pt x="55" y="439"/>
                </a:cubicBezTo>
                <a:lnTo>
                  <a:pt x="193" y="301"/>
                </a:lnTo>
                <a:lnTo>
                  <a:pt x="330" y="439"/>
                </a:lnTo>
                <a:cubicBezTo>
                  <a:pt x="342" y="451"/>
                  <a:pt x="363" y="451"/>
                  <a:pt x="375" y="439"/>
                </a:cubicBezTo>
                <a:cubicBezTo>
                  <a:pt x="388" y="426"/>
                  <a:pt x="388" y="406"/>
                  <a:pt x="375" y="393"/>
                </a:cubicBezTo>
                <a:lnTo>
                  <a:pt x="238" y="256"/>
                </a:lnTo>
                <a:lnTo>
                  <a:pt x="375" y="119"/>
                </a:lnTo>
                <a:cubicBezTo>
                  <a:pt x="388" y="106"/>
                  <a:pt x="388" y="86"/>
                  <a:pt x="375" y="73"/>
                </a:cubicBezTo>
                <a:cubicBezTo>
                  <a:pt x="363" y="61"/>
                  <a:pt x="342" y="61"/>
                  <a:pt x="330" y="73"/>
                </a:cubicBezTo>
                <a:lnTo>
                  <a:pt x="193" y="211"/>
                </a:lnTo>
                <a:lnTo>
                  <a:pt x="55" y="73"/>
                </a:lnTo>
                <a:close/>
              </a:path>
            </a:pathLst>
          </a:custGeom>
          <a:solidFill>
            <a:srgbClr val="B5AFAF"/>
          </a:solidFill>
          <a:ln>
            <a:noFill/>
          </a:ln>
        </p:spPr>
      </p:sp>
      <p:sp>
        <p:nvSpPr>
          <p:cNvPr id="12" name="no3-text"/>
          <p:cNvSpPr txBox="1"/>
          <p:nvPr/>
        </p:nvSpPr>
        <p:spPr>
          <a:xfrm>
            <a:off x="1168400" y="3606800"/>
            <a:ext cx="3302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700" strike="sngStrike">
                <a:solidFill>
                  <a:srgbClr val="8C8585"/>
                </a:solidFill>
                <a:latin typeface="MiSans"/>
                <a:ea typeface="MiSans"/>
              </a:rPr>
              <a:t>请客吃饭</a:t>
            </a:r>
            <a:endParaRPr lang="en-US" sz="1700"/>
          </a:p>
        </p:txBody>
      </p:sp>
      <p:sp>
        <p:nvSpPr>
          <p:cNvPr id="13" name="red-card"/>
          <p:cNvSpPr/>
          <p:nvPr/>
        </p:nvSpPr>
        <p:spPr>
          <a:xfrm>
            <a:off x="5334000" y="1905000"/>
            <a:ext cx="6045200" cy="2413000"/>
          </a:xfrm>
          <a:prstGeom prst="rect">
            <a:avLst/>
          </a:prstGeom>
          <a:solidFill>
            <a:srgbClr val="FF4D4D"/>
          </a:solidFill>
          <a:ln>
            <a:noFill/>
          </a:ln>
        </p:spPr>
      </p:sp>
      <p:sp>
        <p:nvSpPr>
          <p:cNvPr id="14" name="red-label"/>
          <p:cNvSpPr txBox="1"/>
          <p:nvPr/>
        </p:nvSpPr>
        <p:spPr>
          <a:xfrm>
            <a:off x="5689600" y="2184400"/>
            <a:ext cx="254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100" spc="200" kern="0">
                <a:solidFill>
                  <a:srgbClr val="FFFFFF"/>
                </a:solidFill>
                <a:latin typeface="MiSans"/>
                <a:ea typeface="MiSans"/>
              </a:rPr>
              <a:t>客户经营是</a:t>
            </a:r>
            <a:endParaRPr lang="en-US" sz="1100"/>
          </a:p>
        </p:txBody>
      </p:sp>
      <p:sp>
        <p:nvSpPr>
          <p:cNvPr id="15" name="red-big"/>
          <p:cNvSpPr txBox="1"/>
          <p:nvPr/>
        </p:nvSpPr>
        <p:spPr>
          <a:xfrm>
            <a:off x="5689600" y="2514600"/>
            <a:ext cx="5334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000" b="1">
                <a:solidFill>
                  <a:srgbClr val="FFFFFF"/>
                </a:solidFill>
                <a:latin typeface="MiSans"/>
                <a:ea typeface="MiSans"/>
              </a:rPr>
              <a:t>= 持续创造价值</a:t>
            </a:r>
            <a:endParaRPr lang="en-US" sz="3000"/>
          </a:p>
        </p:txBody>
      </p:sp>
      <p:sp>
        <p:nvSpPr>
          <p:cNvPr id="16" name="red-sub"/>
          <p:cNvSpPr txBox="1"/>
          <p:nvPr/>
        </p:nvSpPr>
        <p:spPr>
          <a:xfrm>
            <a:off x="5689600" y="3327400"/>
            <a:ext cx="5334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00">
                <a:solidFill>
                  <a:srgbClr val="FFFFFF"/>
                </a:solidFill>
                <a:latin typeface="MiSans"/>
                <a:ea typeface="MiSans"/>
              </a:rPr>
              <a:t>不是让客户喜欢你，而是让客户因为你的存在，持续变得更好。</a:t>
            </a:r>
            <a:endParaRPr lang="en-US" sz="1200"/>
          </a:p>
        </p:txBody>
      </p:sp>
      <p:sp>
        <p:nvSpPr>
          <p:cNvPr id="17" name="quote-bar"/>
          <p:cNvSpPr/>
          <p:nvPr/>
        </p:nvSpPr>
        <p:spPr>
          <a:xfrm>
            <a:off x="812800" y="5080000"/>
            <a:ext cx="50800" cy="558800"/>
          </a:xfrm>
          <a:prstGeom prst="rect">
            <a:avLst/>
          </a:prstGeom>
          <a:solidFill>
            <a:srgbClr val="FF4D4D"/>
          </a:solidFill>
          <a:ln>
            <a:noFill/>
          </a:ln>
        </p:spPr>
      </p:sp>
      <p:sp>
        <p:nvSpPr>
          <p:cNvPr id="18" name="quote-text"/>
          <p:cNvSpPr txBox="1"/>
          <p:nvPr/>
        </p:nvSpPr>
        <p:spPr>
          <a:xfrm>
            <a:off x="1066800" y="5080000"/>
            <a:ext cx="10160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1600">
                <a:solidFill>
                  <a:srgbClr val="1C0B0B"/>
                </a:solidFill>
                <a:latin typeface="MiSans"/>
                <a:ea typeface="MiSans"/>
              </a:rPr>
              <a:t>客户留下来，不是因为关系，而是因为</a:t>
            </a:r>
            <a:r>
              <a:rPr lang="en-US" sz="1600" b="1">
                <a:solidFill>
                  <a:srgbClr val="FF4D4D"/>
                </a:solidFill>
                <a:latin typeface="MiSans"/>
                <a:ea typeface="MiSans"/>
              </a:rPr>
              <a:t>价值不断增加</a:t>
            </a:r>
            <a:r>
              <a:rPr lang="en-US" sz="1600">
                <a:solidFill>
                  <a:srgbClr val="1C0B0B"/>
                </a:solidFill>
                <a:latin typeface="MiSans"/>
                <a:ea typeface="MiSans"/>
              </a:rPr>
              <a:t>。</a:t>
            </a:r>
            <a:endParaRPr lang="en-US" sz="1600"/>
          </a:p>
        </p:txBody>
      </p:sp>
      <p:sp>
        <p:nvSpPr>
          <p:cNvPr id="19" name="extra-note"/>
          <p:cNvSpPr txBox="1"/>
          <p:nvPr/>
        </p:nvSpPr>
        <p:spPr>
          <a:xfrm>
            <a:off x="1066800" y="5842000"/>
            <a:ext cx="1016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100">
                <a:solidFill>
                  <a:srgbClr val="8C8585"/>
                </a:solidFill>
                <a:latin typeface="MiSans"/>
                <a:ea typeface="MiSans"/>
              </a:rPr>
              <a:t>关系会被时间冲淡，价值只会随时间累积。</a:t>
            </a:r>
            <a:endParaRPr lang="en-US" sz="1100"/>
          </a:p>
        </p:txBody>
      </p:sp>
      <p:sp>
        <p:nvSpPr>
          <p:cNvPr id="20" name="footer-line"/>
          <p:cNvSpPr/>
          <p:nvPr/>
        </p:nvSpPr>
        <p:spPr>
          <a:xfrm>
            <a:off x="812800" y="6400800"/>
            <a:ext cx="10566400" cy="12700"/>
          </a:xfrm>
          <a:prstGeom prst="rect">
            <a:avLst/>
          </a:prstGeom>
          <a:solidFill>
            <a:srgbClr val="E7E6E6"/>
          </a:solidFill>
          <a:ln>
            <a:noFill/>
          </a:ln>
        </p:spPr>
      </p:sp>
      <p:sp>
        <p:nvSpPr>
          <p:cNvPr id="21" name="footer-left"/>
          <p:cNvSpPr txBox="1"/>
          <p:nvPr/>
        </p:nvSpPr>
        <p:spPr>
          <a:xfrm>
            <a:off x="812800" y="65024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900">
                <a:solidFill>
                  <a:srgbClr val="B5AFAF"/>
                </a:solidFill>
                <a:latin typeface="MiSans"/>
                <a:ea typeface="MiSans"/>
              </a:rPr>
              <a:t>第三课 · 客户经营 ｜ 企业商学院</a:t>
            </a:r>
            <a:endParaRPr lang="en-US" sz="900"/>
          </a:p>
        </p:txBody>
      </p:sp>
      <p:sp>
        <p:nvSpPr>
          <p:cNvPr id="22" name="footer-page"/>
          <p:cNvSpPr txBox="1"/>
          <p:nvPr/>
        </p:nvSpPr>
        <p:spPr>
          <a:xfrm>
            <a:off x="10109200" y="65024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20000"/>
              </a:lnSpc>
            </a:pPr>
            <a:r>
              <a:rPr lang="en-US" sz="900">
                <a:solidFill>
                  <a:srgbClr val="B5AFAF"/>
                </a:solidFill>
                <a:latin typeface="MiSans"/>
                <a:ea typeface="MiSans"/>
              </a:rPr>
              <a:t>04</a:t>
            </a:r>
            <a:endParaRPr lang="en-US" sz="900"/>
          </a:p>
        </p:txBody>
      </p:sp>
    </p:spTree>
  </p:cSld>
  <p:clrMapOvr>
    <a:masterClrMapping/>
  </p:clrMapOvr>
  <p:transition spd="fast" advClick="1">
    <p:checker dir="horz"/>
  </p:transition>
</p:sld>
</file>

<file path=ppt/slides/slide5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508000"/>
            <a:ext cx="762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000" spc="300" kern="0">
                <a:solidFill>
                  <a:srgbClr val="8C8585"/>
                </a:solidFill>
                <a:latin typeface="MiSans"/>
                <a:ea typeface="MiSans"/>
              </a:rPr>
              <a:t>客户标准</a:t>
            </a:r>
            <a:endParaRPr lang="en-US" sz="1000"/>
          </a:p>
        </p:txBody>
      </p:sp>
      <p:sp>
        <p:nvSpPr>
          <p:cNvPr id="3" name="title"/>
          <p:cNvSpPr txBox="1"/>
          <p:nvPr/>
        </p:nvSpPr>
        <p:spPr>
          <a:xfrm>
            <a:off x="812800" y="762000"/>
            <a:ext cx="10160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2600" b="1">
                <a:solidFill>
                  <a:srgbClr val="1C0B0B"/>
                </a:solidFill>
                <a:latin typeface="MiSans"/>
                <a:ea typeface="MiSans"/>
              </a:rPr>
              <a:t>什么叫A类客户？</a:t>
            </a:r>
            <a:endParaRPr lang="en-US" sz="2600"/>
          </a:p>
        </p:txBody>
      </p:sp>
      <p:sp>
        <p:nvSpPr>
          <p:cNvPr id="4" name="caption"/>
          <p:cNvSpPr txBox="1"/>
          <p:nvPr/>
        </p:nvSpPr>
        <p:spPr>
          <a:xfrm>
            <a:off x="812800" y="1295400"/>
            <a:ext cx="1016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200">
                <a:solidFill>
                  <a:srgbClr val="8C8585"/>
                </a:solidFill>
                <a:latin typeface="MiSans"/>
                <a:ea typeface="MiSans"/>
              </a:rPr>
              <a:t>不是成交最多，而是未来价值最高——七项标准，同时满足</a:t>
            </a:r>
            <a:endParaRPr lang="en-US" sz="1200"/>
          </a:p>
        </p:txBody>
      </p:sp>
      <p:sp>
        <p:nvSpPr>
          <p:cNvPr id="5" name="title-line"/>
          <p:cNvSpPr/>
          <p:nvPr/>
        </p:nvSpPr>
        <p:spPr>
          <a:xfrm>
            <a:off x="812800" y="1676400"/>
            <a:ext cx="10566400" cy="12700"/>
          </a:xfrm>
          <a:prstGeom prst="rect">
            <a:avLst/>
          </a:prstGeom>
          <a:solidFill>
            <a:srgbClr val="E7E6E6"/>
          </a:solidFill>
          <a:ln>
            <a:noFill/>
          </a:ln>
        </p:spPr>
      </p:sp>
      <p:sp>
        <p:nvSpPr>
          <p:cNvPr id="6" name="c1"/>
          <p:cNvSpPr txBox="1"/>
          <p:nvPr/>
        </p:nvSpPr>
        <p:spPr>
          <a:xfrm>
            <a:off x="812800" y="2095500"/>
            <a:ext cx="508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200" b="1">
                <a:solidFill>
                  <a:srgbClr val="B5AFAF"/>
                </a:solidFill>
                <a:latin typeface="MiSans"/>
                <a:ea typeface="MiSans"/>
              </a:rPr>
              <a:t>01　</a:t>
            </a:r>
            <a:r>
              <a:rPr lang="en-US" sz="1600" b="1">
                <a:solidFill>
                  <a:srgbClr val="1C0B0B"/>
                </a:solidFill>
                <a:latin typeface="MiSans"/>
                <a:ea typeface="MiSans"/>
              </a:rPr>
              <a:t>企业持续经营</a:t>
            </a:r>
            <a:endParaRPr lang="en-US" sz="1600"/>
          </a:p>
        </p:txBody>
      </p:sp>
      <p:sp>
        <p:nvSpPr>
          <p:cNvPr id="7" name="c1-g"/>
          <p:cNvSpPr txBox="1"/>
          <p:nvPr/>
        </p:nvSpPr>
        <p:spPr>
          <a:xfrm>
            <a:off x="812800" y="24130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050">
                <a:solidFill>
                  <a:srgbClr val="8C8585"/>
                </a:solidFill>
                <a:latin typeface="MiSans"/>
                <a:ea typeface="MiSans"/>
              </a:rPr>
              <a:t>经营状态健康，活得足够久</a:t>
            </a:r>
            <a:endParaRPr lang="en-US" sz="1050"/>
          </a:p>
        </p:txBody>
      </p:sp>
      <p:sp>
        <p:nvSpPr>
          <p:cNvPr id="8" name="c2"/>
          <p:cNvSpPr txBox="1"/>
          <p:nvPr/>
        </p:nvSpPr>
        <p:spPr>
          <a:xfrm>
            <a:off x="812800" y="2895600"/>
            <a:ext cx="508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200" b="1">
                <a:solidFill>
                  <a:srgbClr val="B5AFAF"/>
                </a:solidFill>
                <a:latin typeface="MiSans"/>
                <a:ea typeface="MiSans"/>
              </a:rPr>
              <a:t>02　</a:t>
            </a:r>
            <a:r>
              <a:rPr lang="en-US" sz="1600" b="1">
                <a:solidFill>
                  <a:srgbClr val="1C0B0B"/>
                </a:solidFill>
                <a:latin typeface="MiSans"/>
                <a:ea typeface="MiSans"/>
              </a:rPr>
              <a:t>有增长能力</a:t>
            </a:r>
            <a:endParaRPr lang="en-US" sz="1600"/>
          </a:p>
        </p:txBody>
      </p:sp>
      <p:sp>
        <p:nvSpPr>
          <p:cNvPr id="9" name="c2-g"/>
          <p:cNvSpPr txBox="1"/>
          <p:nvPr/>
        </p:nvSpPr>
        <p:spPr>
          <a:xfrm>
            <a:off x="812800" y="32131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050">
                <a:solidFill>
                  <a:srgbClr val="8C8585"/>
                </a:solidFill>
                <a:latin typeface="MiSans"/>
                <a:ea typeface="MiSans"/>
              </a:rPr>
              <a:t>规模在扩大，而不是在萎缩</a:t>
            </a:r>
            <a:endParaRPr lang="en-US" sz="1050"/>
          </a:p>
        </p:txBody>
      </p:sp>
      <p:sp>
        <p:nvSpPr>
          <p:cNvPr id="10" name="c3"/>
          <p:cNvSpPr txBox="1"/>
          <p:nvPr/>
        </p:nvSpPr>
        <p:spPr>
          <a:xfrm>
            <a:off x="812800" y="3695700"/>
            <a:ext cx="508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200" b="1">
                <a:solidFill>
                  <a:srgbClr val="B5AFAF"/>
                </a:solidFill>
                <a:latin typeface="MiSans"/>
                <a:ea typeface="MiSans"/>
              </a:rPr>
              <a:t>03　</a:t>
            </a:r>
            <a:r>
              <a:rPr lang="en-US" sz="1600" b="1">
                <a:solidFill>
                  <a:srgbClr val="1C0B0B"/>
                </a:solidFill>
                <a:latin typeface="MiSans"/>
                <a:ea typeface="MiSans"/>
              </a:rPr>
              <a:t>有供应链需求</a:t>
            </a:r>
            <a:endParaRPr lang="en-US" sz="1600"/>
          </a:p>
        </p:txBody>
      </p:sp>
      <p:sp>
        <p:nvSpPr>
          <p:cNvPr id="11" name="c3-g"/>
          <p:cNvSpPr txBox="1"/>
          <p:nvPr/>
        </p:nvSpPr>
        <p:spPr>
          <a:xfrm>
            <a:off x="812800" y="40132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050">
                <a:solidFill>
                  <a:srgbClr val="8C8585"/>
                </a:solidFill>
                <a:latin typeface="MiSans"/>
                <a:ea typeface="MiSans"/>
              </a:rPr>
              <a:t>采购品类与你的能力相匹配</a:t>
            </a:r>
            <a:endParaRPr lang="en-US" sz="1050"/>
          </a:p>
        </p:txBody>
      </p:sp>
      <p:sp>
        <p:nvSpPr>
          <p:cNvPr id="12" name="c4"/>
          <p:cNvSpPr txBox="1"/>
          <p:nvPr/>
        </p:nvSpPr>
        <p:spPr>
          <a:xfrm>
            <a:off x="812800" y="4495800"/>
            <a:ext cx="508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200" b="1">
                <a:solidFill>
                  <a:srgbClr val="B5AFAF"/>
                </a:solidFill>
                <a:latin typeface="MiSans"/>
                <a:ea typeface="MiSans"/>
              </a:rPr>
              <a:t>04　</a:t>
            </a:r>
            <a:r>
              <a:rPr lang="en-US" sz="1600" b="1">
                <a:solidFill>
                  <a:srgbClr val="1C0B0B"/>
                </a:solidFill>
                <a:latin typeface="MiSans"/>
                <a:ea typeface="MiSans"/>
              </a:rPr>
              <a:t>有资金实力</a:t>
            </a:r>
            <a:endParaRPr lang="en-US" sz="1600"/>
          </a:p>
        </p:txBody>
      </p:sp>
      <p:sp>
        <p:nvSpPr>
          <p:cNvPr id="13" name="c4-g"/>
          <p:cNvSpPr txBox="1"/>
          <p:nvPr/>
        </p:nvSpPr>
        <p:spPr>
          <a:xfrm>
            <a:off x="812800" y="48133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050">
                <a:solidFill>
                  <a:srgbClr val="8C8585"/>
                </a:solidFill>
                <a:latin typeface="MiSans"/>
                <a:ea typeface="MiSans"/>
              </a:rPr>
              <a:t>付得起款，扛得住账期</a:t>
            </a:r>
            <a:endParaRPr lang="en-US" sz="1050"/>
          </a:p>
        </p:txBody>
      </p:sp>
      <p:sp>
        <p:nvSpPr>
          <p:cNvPr id="14" name="c5"/>
          <p:cNvSpPr txBox="1"/>
          <p:nvPr/>
        </p:nvSpPr>
        <p:spPr>
          <a:xfrm>
            <a:off x="6096000" y="2095500"/>
            <a:ext cx="508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200" b="1">
                <a:solidFill>
                  <a:srgbClr val="B5AFAF"/>
                </a:solidFill>
                <a:latin typeface="MiSans"/>
                <a:ea typeface="MiSans"/>
              </a:rPr>
              <a:t>05　</a:t>
            </a:r>
            <a:r>
              <a:rPr lang="en-US" sz="1600" b="1">
                <a:solidFill>
                  <a:srgbClr val="1C0B0B"/>
                </a:solidFill>
                <a:latin typeface="MiSans"/>
                <a:ea typeface="MiSans"/>
              </a:rPr>
              <a:t>有长期合作可能</a:t>
            </a:r>
            <a:endParaRPr lang="en-US" sz="1600"/>
          </a:p>
        </p:txBody>
      </p:sp>
      <p:sp>
        <p:nvSpPr>
          <p:cNvPr id="15" name="c5-g"/>
          <p:cNvSpPr txBox="1"/>
          <p:nvPr/>
        </p:nvSpPr>
        <p:spPr>
          <a:xfrm>
            <a:off x="6096000" y="24130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050">
                <a:solidFill>
                  <a:srgbClr val="8C8585"/>
                </a:solidFill>
                <a:latin typeface="MiSans"/>
                <a:ea typeface="MiSans"/>
              </a:rPr>
              <a:t>业务模式可持续、可预期</a:t>
            </a:r>
            <a:endParaRPr lang="en-US" sz="1050"/>
          </a:p>
        </p:txBody>
      </p:sp>
      <p:sp>
        <p:nvSpPr>
          <p:cNvPr id="16" name="c6"/>
          <p:cNvSpPr txBox="1"/>
          <p:nvPr/>
        </p:nvSpPr>
        <p:spPr>
          <a:xfrm>
            <a:off x="6096000" y="2895600"/>
            <a:ext cx="508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200" b="1">
                <a:solidFill>
                  <a:srgbClr val="B5AFAF"/>
                </a:solidFill>
                <a:latin typeface="MiSans"/>
                <a:ea typeface="MiSans"/>
              </a:rPr>
              <a:t>06　</a:t>
            </a:r>
            <a:r>
              <a:rPr lang="en-US" sz="1600" b="1">
                <a:solidFill>
                  <a:srgbClr val="1C0B0B"/>
                </a:solidFill>
                <a:latin typeface="MiSans"/>
                <a:ea typeface="MiSans"/>
              </a:rPr>
              <a:t>愿意接受专业建议</a:t>
            </a:r>
            <a:endParaRPr lang="en-US" sz="1600"/>
          </a:p>
        </p:txBody>
      </p:sp>
      <p:sp>
        <p:nvSpPr>
          <p:cNvPr id="17" name="c6-g"/>
          <p:cNvSpPr txBox="1"/>
          <p:nvPr/>
        </p:nvSpPr>
        <p:spPr>
          <a:xfrm>
            <a:off x="6096000" y="32131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050">
                <a:solidFill>
                  <a:srgbClr val="8C8585"/>
                </a:solidFill>
                <a:latin typeface="MiSans"/>
                <a:ea typeface="MiSans"/>
              </a:rPr>
              <a:t>听得进、聊得动、能共创</a:t>
            </a:r>
            <a:endParaRPr lang="en-US" sz="1050"/>
          </a:p>
        </p:txBody>
      </p:sp>
      <p:sp>
        <p:nvSpPr>
          <p:cNvPr id="18" name="c7"/>
          <p:cNvSpPr txBox="1"/>
          <p:nvPr/>
        </p:nvSpPr>
        <p:spPr>
          <a:xfrm>
            <a:off x="6096000" y="3695700"/>
            <a:ext cx="508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200" b="1">
                <a:solidFill>
                  <a:srgbClr val="B5AFAF"/>
                </a:solidFill>
                <a:latin typeface="MiSans"/>
                <a:ea typeface="MiSans"/>
              </a:rPr>
              <a:t>07　</a:t>
            </a:r>
            <a:r>
              <a:rPr lang="en-US" sz="1600" b="1">
                <a:solidFill>
                  <a:srgbClr val="1C0B0B"/>
                </a:solidFill>
                <a:latin typeface="MiSans"/>
                <a:ea typeface="MiSans"/>
              </a:rPr>
              <a:t>有多产品采购空间</a:t>
            </a:r>
            <a:endParaRPr lang="en-US" sz="1600"/>
          </a:p>
        </p:txBody>
      </p:sp>
      <p:sp>
        <p:nvSpPr>
          <p:cNvPr id="19" name="c7-g"/>
          <p:cNvSpPr txBox="1"/>
          <p:nvPr/>
        </p:nvSpPr>
        <p:spPr>
          <a:xfrm>
            <a:off x="6096000" y="40132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050">
                <a:solidFill>
                  <a:srgbClr val="8C8585"/>
                </a:solidFill>
                <a:latin typeface="MiSans"/>
                <a:ea typeface="MiSans"/>
              </a:rPr>
              <a:t>未来可以不断扩品</a:t>
            </a:r>
            <a:endParaRPr lang="en-US" sz="1050"/>
          </a:p>
        </p:txBody>
      </p:sp>
      <p:sp>
        <p:nvSpPr>
          <p:cNvPr id="20" name="right-hint"/>
          <p:cNvSpPr txBox="1"/>
          <p:nvPr/>
        </p:nvSpPr>
        <p:spPr>
          <a:xfrm>
            <a:off x="6096000" y="4495800"/>
            <a:ext cx="5080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00">
                <a:solidFill>
                  <a:srgbClr val="8C8585"/>
                </a:solidFill>
                <a:latin typeface="MiSans"/>
                <a:ea typeface="MiSans"/>
              </a:rPr>
              <a:t>七项同时满足，才是A类；缺项越多，等级越低。</a:t>
            </a:r>
            <a:endParaRPr lang="en-US" sz="1100"/>
          </a:p>
        </p:txBody>
      </p:sp>
      <p:sp>
        <p:nvSpPr>
          <p:cNvPr id="21" name="note-bar"/>
          <p:cNvSpPr/>
          <p:nvPr/>
        </p:nvSpPr>
        <p:spPr>
          <a:xfrm>
            <a:off x="812800" y="5562600"/>
            <a:ext cx="10566400" cy="533400"/>
          </a:xfrm>
          <a:prstGeom prst="rect">
            <a:avLst/>
          </a:prstGeom>
          <a:solidFill>
            <a:srgbClr val="FFF1F1"/>
          </a:solidFill>
          <a:ln>
            <a:noFill/>
          </a:ln>
        </p:spPr>
      </p:sp>
      <p:sp>
        <p:nvSpPr>
          <p:cNvPr id="22" name="note-text"/>
          <p:cNvSpPr txBox="1"/>
          <p:nvPr/>
        </p:nvSpPr>
        <p:spPr>
          <a:xfrm>
            <a:off x="1066800" y="5562600"/>
            <a:ext cx="101600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1300">
                <a:solidFill>
                  <a:srgbClr val="1C0B0B"/>
                </a:solidFill>
                <a:latin typeface="MiSans"/>
                <a:ea typeface="MiSans"/>
              </a:rPr>
              <a:t>不是所有成交客户，都值得投入——经营资源，要投向</a:t>
            </a:r>
            <a:r>
              <a:rPr lang="en-US" sz="1300" b="1">
                <a:solidFill>
                  <a:srgbClr val="FF4D4D"/>
                </a:solidFill>
                <a:latin typeface="MiSans"/>
                <a:ea typeface="MiSans"/>
              </a:rPr>
              <a:t>未来价值</a:t>
            </a:r>
            <a:r>
              <a:rPr lang="en-US" sz="1300">
                <a:solidFill>
                  <a:srgbClr val="1C0B0B"/>
                </a:solidFill>
                <a:latin typeface="MiSans"/>
                <a:ea typeface="MiSans"/>
              </a:rPr>
              <a:t>。</a:t>
            </a:r>
            <a:endParaRPr lang="en-US" sz="1300"/>
          </a:p>
        </p:txBody>
      </p:sp>
      <p:sp>
        <p:nvSpPr>
          <p:cNvPr id="23" name="footer-line"/>
          <p:cNvSpPr/>
          <p:nvPr/>
        </p:nvSpPr>
        <p:spPr>
          <a:xfrm>
            <a:off x="812800" y="6400800"/>
            <a:ext cx="10566400" cy="12700"/>
          </a:xfrm>
          <a:prstGeom prst="rect">
            <a:avLst/>
          </a:prstGeom>
          <a:solidFill>
            <a:srgbClr val="E7E6E6"/>
          </a:solidFill>
          <a:ln>
            <a:noFill/>
          </a:ln>
        </p:spPr>
      </p:sp>
      <p:sp>
        <p:nvSpPr>
          <p:cNvPr id="24" name="footer-left"/>
          <p:cNvSpPr txBox="1"/>
          <p:nvPr/>
        </p:nvSpPr>
        <p:spPr>
          <a:xfrm>
            <a:off x="812800" y="65024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900">
                <a:solidFill>
                  <a:srgbClr val="B5AFAF"/>
                </a:solidFill>
                <a:latin typeface="MiSans"/>
                <a:ea typeface="MiSans"/>
              </a:rPr>
              <a:t>第三课 · 客户经营 ｜ 企业商学院</a:t>
            </a:r>
            <a:endParaRPr lang="en-US" sz="900"/>
          </a:p>
        </p:txBody>
      </p:sp>
      <p:sp>
        <p:nvSpPr>
          <p:cNvPr id="25" name="footer-page"/>
          <p:cNvSpPr txBox="1"/>
          <p:nvPr/>
        </p:nvSpPr>
        <p:spPr>
          <a:xfrm>
            <a:off x="10109200" y="65024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20000"/>
              </a:lnSpc>
            </a:pPr>
            <a:r>
              <a:rPr lang="en-US" sz="900">
                <a:solidFill>
                  <a:srgbClr val="B5AFAF"/>
                </a:solidFill>
                <a:latin typeface="MiSans"/>
                <a:ea typeface="MiSans"/>
              </a:rPr>
              <a:t>05</a:t>
            </a:r>
            <a:endParaRPr lang="en-US" sz="900"/>
          </a:p>
        </p:txBody>
      </p:sp>
    </p:spTree>
  </p:cSld>
  <p:clrMapOvr>
    <a:masterClrMapping/>
  </p:clrMapOvr>
  <p:transition spd="fast" advClick="1">
    <p:checker dir="horz"/>
  </p:transition>
</p:sld>
</file>

<file path=ppt/slides/slide6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508000"/>
            <a:ext cx="762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000" spc="300" kern="0">
                <a:solidFill>
                  <a:srgbClr val="8C8585"/>
                </a:solidFill>
                <a:latin typeface="MiSans"/>
                <a:ea typeface="MiSans"/>
              </a:rPr>
              <a:t>客户分级</a:t>
            </a:r>
            <a:endParaRPr lang="en-US" sz="1000"/>
          </a:p>
        </p:txBody>
      </p:sp>
      <p:sp>
        <p:nvSpPr>
          <p:cNvPr id="3" name="title"/>
          <p:cNvSpPr txBox="1"/>
          <p:nvPr/>
        </p:nvSpPr>
        <p:spPr>
          <a:xfrm>
            <a:off x="812800" y="762000"/>
            <a:ext cx="10160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2600" b="1">
                <a:solidFill>
                  <a:srgbClr val="1C0B0B"/>
                </a:solidFill>
                <a:latin typeface="MiSans"/>
                <a:ea typeface="MiSans"/>
              </a:rPr>
              <a:t>客户分级模型：资源永远有限</a:t>
            </a:r>
            <a:endParaRPr lang="en-US" sz="2600"/>
          </a:p>
        </p:txBody>
      </p:sp>
      <p:sp>
        <p:nvSpPr>
          <p:cNvPr id="4" name="caption"/>
          <p:cNvSpPr txBox="1"/>
          <p:nvPr/>
        </p:nvSpPr>
        <p:spPr>
          <a:xfrm>
            <a:off x="812800" y="1295400"/>
            <a:ext cx="1016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200">
                <a:solidFill>
                  <a:srgbClr val="8C8585"/>
                </a:solidFill>
                <a:latin typeface="MiSans"/>
                <a:ea typeface="MiSans"/>
              </a:rPr>
              <a:t>把最多的经营资源，投向未来价值最高的客户</a:t>
            </a:r>
            <a:endParaRPr lang="en-US" sz="1200"/>
          </a:p>
        </p:txBody>
      </p:sp>
      <p:sp>
        <p:nvSpPr>
          <p:cNvPr id="5" name="title-line"/>
          <p:cNvSpPr/>
          <p:nvPr/>
        </p:nvSpPr>
        <p:spPr>
          <a:xfrm>
            <a:off x="812800" y="1676400"/>
            <a:ext cx="10566400" cy="12700"/>
          </a:xfrm>
          <a:prstGeom prst="rect">
            <a:avLst/>
          </a:prstGeom>
          <a:solidFill>
            <a:srgbClr val="E7E6E6"/>
          </a:solidFill>
          <a:ln>
            <a:noFill/>
          </a:ln>
        </p:spPr>
      </p:sp>
      <p:graphicFrame>
        <p:nvGraphicFramePr>
          <p:cNvPr id="6" name="grade-table"/>
          <p:cNvGraphicFramePr>
            <a:graphicFrameLocks noGrp="1"/>
          </p:cNvGraphicFramePr>
          <p:nvPr/>
        </p:nvGraphicFramePr>
        <p:xfrm>
          <a:off x="812800" y="2032000"/>
          <a:ext cx="10566400" cy="3200400"/>
        </p:xfrm>
        <a:graphic>
          <a:graphicData uri="http://schemas.openxmlformats.org/drawingml/2006/table">
            <a:tbl>
              <a:tblPr/>
              <a:tblGrid>
                <a:gridCol w="1267968"/>
                <a:gridCol w="3592576"/>
                <a:gridCol w="3064256"/>
                <a:gridCol w="2641600"/>
              </a:tblGrid>
              <a:tr h="512064"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200" b="1">
                          <a:solidFill>
                            <a:srgbClr val="1C0B0B"/>
                          </a:solidFill>
                          <a:latin typeface="Times New Roman"/>
                          <a:ea typeface="Times New Roman"/>
                        </a:rPr>
                        <a:t>级别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7E6E6"/>
                      </a:solidFill>
                    </a:lnB>
                    <a:solidFill>
                      <a:srgbClr val="EFEDED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b="1">
                          <a:solidFill>
                            <a:srgbClr val="1C0B0B"/>
                          </a:solidFill>
                          <a:latin typeface="Times New Roman"/>
                          <a:ea typeface="Times New Roman"/>
                        </a:rPr>
                        <a:t>　客户特征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7E6E6"/>
                      </a:solidFill>
                    </a:lnB>
                    <a:solidFill>
                      <a:srgbClr val="EFEDED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b="1">
                          <a:solidFill>
                            <a:srgbClr val="1C0B0B"/>
                          </a:solidFill>
                          <a:latin typeface="Times New Roman"/>
                          <a:ea typeface="Times New Roman"/>
                        </a:rPr>
                        <a:t>　经营策略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7E6E6"/>
                      </a:solidFill>
                    </a:lnB>
                    <a:solidFill>
                      <a:srgbClr val="EFEDED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b="1">
                          <a:solidFill>
                            <a:srgbClr val="1C0B0B"/>
                          </a:solidFill>
                          <a:latin typeface="Times New Roman"/>
                          <a:ea typeface="Times New Roman"/>
                        </a:rPr>
                        <a:t>　资源投入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7E6E6"/>
                      </a:solidFill>
                    </a:lnB>
                    <a:solidFill>
                      <a:srgbClr val="EFEDED"/>
                    </a:solidFill>
                  </a:tcPr>
                </a:tc>
              </a:tr>
              <a:tr h="672084"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300" b="1">
                          <a:solidFill>
                            <a:srgbClr val="FF4D4D"/>
                          </a:solidFill>
                          <a:latin typeface="Times New Roman"/>
                          <a:ea typeface="Times New Roman"/>
                        </a:rPr>
                        <a:t>A类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7E6E6"/>
                      </a:solidFill>
                    </a:lnB>
                    <a:solidFill>
                      <a:srgbClr val="FFF1F1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300">
                          <a:solidFill>
                            <a:srgbClr val="1C0B0B"/>
                          </a:solidFill>
                          <a:latin typeface="Times New Roman"/>
                          <a:ea typeface="Times New Roman"/>
                        </a:rPr>
                        <a:t>　未来价值最高，增长确定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7E6E6"/>
                      </a:solidFill>
                    </a:lnB>
                    <a:solidFill>
                      <a:srgbClr val="FFF1F1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300">
                          <a:solidFill>
                            <a:srgbClr val="1C0B0B"/>
                          </a:solidFill>
                          <a:latin typeface="Times New Roman"/>
                          <a:ea typeface="Times New Roman"/>
                        </a:rPr>
                        <a:t>　重点经营：画像、节奏、共创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7E6E6"/>
                      </a:solidFill>
                    </a:lnB>
                    <a:solidFill>
                      <a:srgbClr val="FFF1F1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300">
                          <a:solidFill>
                            <a:srgbClr val="1C0B0B"/>
                          </a:solidFill>
                          <a:latin typeface="Times New Roman"/>
                          <a:ea typeface="Times New Roman"/>
                        </a:rPr>
                        <a:t>　长期投入，优先保障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7E6E6"/>
                      </a:solidFill>
                    </a:lnB>
                    <a:solidFill>
                      <a:srgbClr val="FFF1F1"/>
                    </a:solidFill>
                  </a:tcPr>
                </a:tc>
              </a:tr>
              <a:tr h="672084"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300" b="1">
                          <a:solidFill>
                            <a:srgbClr val="1C0B0B"/>
                          </a:solidFill>
                          <a:latin typeface="Times New Roman"/>
                          <a:ea typeface="Times New Roman"/>
                        </a:rPr>
                        <a:t>B类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7E6E6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300">
                          <a:solidFill>
                            <a:srgbClr val="454545"/>
                          </a:solidFill>
                          <a:latin typeface="Times New Roman"/>
                          <a:ea typeface="Times New Roman"/>
                        </a:rPr>
                        <a:t>　合作稳定，增长平稳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7E6E6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300">
                          <a:solidFill>
                            <a:srgbClr val="454545"/>
                          </a:solidFill>
                          <a:latin typeface="Times New Roman"/>
                          <a:ea typeface="Times New Roman"/>
                        </a:rPr>
                        <a:t>　稳定合作，定期连接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7E6E6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300">
                          <a:solidFill>
                            <a:srgbClr val="454545"/>
                          </a:solidFill>
                          <a:latin typeface="Times New Roman"/>
                          <a:ea typeface="Times New Roman"/>
                        </a:rPr>
                        <a:t>　保持正常投入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7E6E6"/>
                      </a:solidFill>
                    </a:lnB>
                    <a:noFill/>
                  </a:tcPr>
                </a:tc>
              </a:tr>
              <a:tr h="672084"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300" b="1">
                          <a:solidFill>
                            <a:srgbClr val="1C0B0B"/>
                          </a:solidFill>
                          <a:latin typeface="Times New Roman"/>
                          <a:ea typeface="Times New Roman"/>
                        </a:rPr>
                        <a:t>C类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7E6E6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300">
                          <a:solidFill>
                            <a:srgbClr val="454545"/>
                          </a:solidFill>
                          <a:latin typeface="Times New Roman"/>
                          <a:ea typeface="Times New Roman"/>
                        </a:rPr>
                        <a:t>　价值待验证，还在成长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7E6E6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300">
                          <a:solidFill>
                            <a:srgbClr val="454545"/>
                          </a:solidFill>
                          <a:latin typeface="Times New Roman"/>
                          <a:ea typeface="Times New Roman"/>
                        </a:rPr>
                        <a:t>　正常维护，观察成长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7E6E6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300">
                          <a:solidFill>
                            <a:srgbClr val="454545"/>
                          </a:solidFill>
                          <a:latin typeface="Times New Roman"/>
                          <a:ea typeface="Times New Roman"/>
                        </a:rPr>
                        <a:t>　有限投入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7E6E6"/>
                      </a:solidFill>
                    </a:lnB>
                    <a:noFill/>
                  </a:tcPr>
                </a:tc>
              </a:tr>
              <a:tr h="672084"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300" b="1">
                          <a:solidFill>
                            <a:srgbClr val="8C8585"/>
                          </a:solidFill>
                          <a:latin typeface="Times New Roman"/>
                          <a:ea typeface="Times New Roman"/>
                        </a:rPr>
                        <a:t>D类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7E6E6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300">
                          <a:solidFill>
                            <a:srgbClr val="8C8585"/>
                          </a:solidFill>
                          <a:latin typeface="Times New Roman"/>
                          <a:ea typeface="Times New Roman"/>
                        </a:rPr>
                        <a:t>　价值持续衰减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7E6E6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300">
                          <a:solidFill>
                            <a:srgbClr val="8C8585"/>
                          </a:solidFill>
                          <a:latin typeface="Times New Roman"/>
                          <a:ea typeface="Times New Roman"/>
                        </a:rPr>
                        <a:t>　减少投入，逐步淘汰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7E6E6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300">
                          <a:solidFill>
                            <a:srgbClr val="8C8585"/>
                          </a:solidFill>
                          <a:latin typeface="Times New Roman"/>
                          <a:ea typeface="Times New Roman"/>
                        </a:rPr>
                        <a:t>　最低投入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7E6E6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bottom-note"/>
          <p:cNvSpPr txBox="1"/>
          <p:nvPr/>
        </p:nvSpPr>
        <p:spPr>
          <a:xfrm>
            <a:off x="812800" y="5562600"/>
            <a:ext cx="105664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200">
                <a:solidFill>
                  <a:srgbClr val="8C8585"/>
                </a:solidFill>
                <a:latin typeface="MiSans"/>
                <a:ea typeface="MiSans"/>
              </a:rPr>
              <a:t>分级不是区别对待客户，而是对有限的经营资源负责。</a:t>
            </a:r>
            <a:endParaRPr lang="en-US" sz="1200"/>
          </a:p>
        </p:txBody>
      </p:sp>
      <p:sp>
        <p:nvSpPr>
          <p:cNvPr id="8" name="footer-line"/>
          <p:cNvSpPr/>
          <p:nvPr/>
        </p:nvSpPr>
        <p:spPr>
          <a:xfrm>
            <a:off x="812800" y="6400800"/>
            <a:ext cx="10566400" cy="12700"/>
          </a:xfrm>
          <a:prstGeom prst="rect">
            <a:avLst/>
          </a:prstGeom>
          <a:solidFill>
            <a:srgbClr val="E7E6E6"/>
          </a:solidFill>
          <a:ln>
            <a:noFill/>
          </a:ln>
        </p:spPr>
      </p:sp>
      <p:sp>
        <p:nvSpPr>
          <p:cNvPr id="9" name="footer-left"/>
          <p:cNvSpPr txBox="1"/>
          <p:nvPr/>
        </p:nvSpPr>
        <p:spPr>
          <a:xfrm>
            <a:off x="812800" y="65024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900">
                <a:solidFill>
                  <a:srgbClr val="B5AFAF"/>
                </a:solidFill>
                <a:latin typeface="MiSans"/>
                <a:ea typeface="MiSans"/>
              </a:rPr>
              <a:t>第三课 · 客户经营 ｜ 企业商学院</a:t>
            </a:r>
            <a:endParaRPr lang="en-US" sz="900"/>
          </a:p>
        </p:txBody>
      </p:sp>
      <p:sp>
        <p:nvSpPr>
          <p:cNvPr id="10" name="footer-page"/>
          <p:cNvSpPr txBox="1"/>
          <p:nvPr/>
        </p:nvSpPr>
        <p:spPr>
          <a:xfrm>
            <a:off x="10109200" y="65024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20000"/>
              </a:lnSpc>
            </a:pPr>
            <a:r>
              <a:rPr lang="en-US" sz="900">
                <a:solidFill>
                  <a:srgbClr val="B5AFAF"/>
                </a:solidFill>
                <a:latin typeface="MiSans"/>
                <a:ea typeface="MiSans"/>
              </a:rPr>
              <a:t>06</a:t>
            </a:r>
            <a:endParaRPr lang="en-US" sz="900"/>
          </a:p>
        </p:txBody>
      </p:sp>
    </p:spTree>
  </p:cSld>
  <p:clrMapOvr>
    <a:masterClrMapping/>
  </p:clrMapOvr>
  <p:transition spd="fast" advClick="1">
    <p:checker dir="horz"/>
  </p:transition>
</p:sld>
</file>

<file path=ppt/slides/slide7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508000"/>
            <a:ext cx="762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000" spc="300" kern="0">
                <a:solidFill>
                  <a:srgbClr val="8C8585"/>
                </a:solidFill>
                <a:latin typeface="MiSans"/>
                <a:ea typeface="MiSans"/>
              </a:rPr>
              <a:t>经营目标</a:t>
            </a:r>
            <a:endParaRPr lang="en-US" sz="1000"/>
          </a:p>
        </p:txBody>
      </p:sp>
      <p:sp>
        <p:nvSpPr>
          <p:cNvPr id="3" name="title"/>
          <p:cNvSpPr txBox="1"/>
          <p:nvPr/>
        </p:nvSpPr>
        <p:spPr>
          <a:xfrm>
            <a:off x="812800" y="762000"/>
            <a:ext cx="10160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2600" b="1">
                <a:solidFill>
                  <a:srgbClr val="1C0B0B"/>
                </a:solidFill>
                <a:latin typeface="MiSans"/>
                <a:ea typeface="MiSans"/>
              </a:rPr>
              <a:t>经营A类客户的目标</a:t>
            </a:r>
            <a:endParaRPr lang="en-US" sz="2600"/>
          </a:p>
        </p:txBody>
      </p:sp>
      <p:sp>
        <p:nvSpPr>
          <p:cNvPr id="4" name="caption"/>
          <p:cNvSpPr txBox="1"/>
          <p:nvPr/>
        </p:nvSpPr>
        <p:spPr>
          <a:xfrm>
            <a:off x="812800" y="1295400"/>
            <a:ext cx="1016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200">
                <a:solidFill>
                  <a:srgbClr val="8C8585"/>
                </a:solidFill>
                <a:latin typeface="MiSans"/>
                <a:ea typeface="MiSans"/>
              </a:rPr>
              <a:t>不是成交更多订单，而是成为客户最重要的供应链伙伴</a:t>
            </a:r>
            <a:endParaRPr lang="en-US" sz="1200"/>
          </a:p>
        </p:txBody>
      </p:sp>
      <p:sp>
        <p:nvSpPr>
          <p:cNvPr id="5" name="title-line"/>
          <p:cNvSpPr/>
          <p:nvPr/>
        </p:nvSpPr>
        <p:spPr>
          <a:xfrm>
            <a:off x="812800" y="1676400"/>
            <a:ext cx="10566400" cy="12700"/>
          </a:xfrm>
          <a:prstGeom prst="rect">
            <a:avLst/>
          </a:prstGeom>
          <a:solidFill>
            <a:srgbClr val="E7E6E6"/>
          </a:solidFill>
          <a:ln>
            <a:noFill/>
          </a:ln>
        </p:spPr>
      </p:sp>
      <p:sp>
        <p:nvSpPr>
          <p:cNvPr id="6" name="body-label"/>
          <p:cNvSpPr txBox="1"/>
          <p:nvPr/>
        </p:nvSpPr>
        <p:spPr>
          <a:xfrm>
            <a:off x="812800" y="1981200"/>
            <a:ext cx="762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200">
                <a:solidFill>
                  <a:srgbClr val="8C8585"/>
                </a:solidFill>
                <a:latin typeface="MiSans"/>
                <a:ea typeface="MiSans"/>
              </a:rPr>
              <a:t>在客户的四个关键时刻，占领心智：</a:t>
            </a:r>
            <a:endParaRPr lang="en-US" sz="1200"/>
          </a:p>
        </p:txBody>
      </p:sp>
      <p:sp>
        <p:nvSpPr>
          <p:cNvPr id="7" name="m1"/>
          <p:cNvSpPr/>
          <p:nvPr/>
        </p:nvSpPr>
        <p:spPr>
          <a:xfrm>
            <a:off x="812800" y="2413000"/>
            <a:ext cx="2451100" cy="1651000"/>
          </a:xfrm>
          <a:prstGeom prst="rect">
            <a:avLst/>
          </a:prstGeom>
          <a:solidFill>
            <a:srgbClr val="F6F6F6"/>
          </a:solidFill>
          <a:ln>
            <a:noFill/>
          </a:ln>
        </p:spPr>
      </p:sp>
      <p:sp>
        <p:nvSpPr>
          <p:cNvPr id="8" name="m1-t"/>
          <p:cNvSpPr txBox="1"/>
          <p:nvPr/>
        </p:nvSpPr>
        <p:spPr>
          <a:xfrm>
            <a:off x="1016000" y="2692400"/>
            <a:ext cx="20447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1600" b="1">
                <a:solidFill>
                  <a:srgbClr val="1C0B0B"/>
                </a:solidFill>
                <a:latin typeface="MiSans"/>
                <a:ea typeface="MiSans"/>
              </a:rPr>
              <a:t>有新品机会时</a:t>
            </a:r>
            <a:endParaRPr lang="en-US" sz="1600"/>
          </a:p>
        </p:txBody>
      </p:sp>
      <p:sp>
        <p:nvSpPr>
          <p:cNvPr id="9" name="m1-d"/>
          <p:cNvSpPr/>
          <p:nvPr/>
        </p:nvSpPr>
        <p:spPr>
          <a:xfrm>
            <a:off x="1016000" y="3352800"/>
            <a:ext cx="304800" cy="25400"/>
          </a:xfrm>
          <a:prstGeom prst="rect">
            <a:avLst/>
          </a:prstGeom>
          <a:solidFill>
            <a:srgbClr val="C1C1C1"/>
          </a:solidFill>
          <a:ln>
            <a:noFill/>
          </a:ln>
        </p:spPr>
      </p:sp>
      <p:sp>
        <p:nvSpPr>
          <p:cNvPr id="10" name="m1-r"/>
          <p:cNvSpPr txBox="1"/>
          <p:nvPr/>
        </p:nvSpPr>
        <p:spPr>
          <a:xfrm>
            <a:off x="1016000" y="3556000"/>
            <a:ext cx="20447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200" b="1">
                <a:solidFill>
                  <a:srgbClr val="FF4D4D"/>
                </a:solidFill>
                <a:latin typeface="MiSans"/>
                <a:ea typeface="MiSans"/>
              </a:rPr>
              <a:t>第一时间想到你</a:t>
            </a:r>
            <a:endParaRPr lang="en-US" sz="1200"/>
          </a:p>
        </p:txBody>
      </p:sp>
      <p:sp>
        <p:nvSpPr>
          <p:cNvPr id="11" name="m2"/>
          <p:cNvSpPr/>
          <p:nvPr/>
        </p:nvSpPr>
        <p:spPr>
          <a:xfrm>
            <a:off x="3517900" y="2413000"/>
            <a:ext cx="2451100" cy="1651000"/>
          </a:xfrm>
          <a:prstGeom prst="rect">
            <a:avLst/>
          </a:prstGeom>
          <a:solidFill>
            <a:srgbClr val="F6F6F6"/>
          </a:solidFill>
          <a:ln>
            <a:noFill/>
          </a:ln>
        </p:spPr>
      </p:sp>
      <p:sp>
        <p:nvSpPr>
          <p:cNvPr id="12" name="m2-t"/>
          <p:cNvSpPr txBox="1"/>
          <p:nvPr/>
        </p:nvSpPr>
        <p:spPr>
          <a:xfrm>
            <a:off x="3721100" y="2692400"/>
            <a:ext cx="20447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1600" b="1">
                <a:solidFill>
                  <a:srgbClr val="1C0B0B"/>
                </a:solidFill>
                <a:latin typeface="MiSans"/>
                <a:ea typeface="MiSans"/>
              </a:rPr>
              <a:t>想优化成本时</a:t>
            </a:r>
            <a:endParaRPr lang="en-US" sz="1600"/>
          </a:p>
        </p:txBody>
      </p:sp>
      <p:sp>
        <p:nvSpPr>
          <p:cNvPr id="13" name="m2-d"/>
          <p:cNvSpPr/>
          <p:nvPr/>
        </p:nvSpPr>
        <p:spPr>
          <a:xfrm>
            <a:off x="3721100" y="3352800"/>
            <a:ext cx="304800" cy="25400"/>
          </a:xfrm>
          <a:prstGeom prst="rect">
            <a:avLst/>
          </a:prstGeom>
          <a:solidFill>
            <a:srgbClr val="C1C1C1"/>
          </a:solidFill>
          <a:ln>
            <a:noFill/>
          </a:ln>
        </p:spPr>
      </p:sp>
      <p:sp>
        <p:nvSpPr>
          <p:cNvPr id="14" name="m2-r"/>
          <p:cNvSpPr txBox="1"/>
          <p:nvPr/>
        </p:nvSpPr>
        <p:spPr>
          <a:xfrm>
            <a:off x="3721100" y="3556000"/>
            <a:ext cx="20447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200" b="1">
                <a:solidFill>
                  <a:srgbClr val="FF4D4D"/>
                </a:solidFill>
                <a:latin typeface="MiSans"/>
                <a:ea typeface="MiSans"/>
              </a:rPr>
              <a:t>第一时间想到你</a:t>
            </a:r>
            <a:endParaRPr lang="en-US" sz="1200"/>
          </a:p>
        </p:txBody>
      </p:sp>
      <p:sp>
        <p:nvSpPr>
          <p:cNvPr id="15" name="m3"/>
          <p:cNvSpPr/>
          <p:nvPr/>
        </p:nvSpPr>
        <p:spPr>
          <a:xfrm>
            <a:off x="6223000" y="2413000"/>
            <a:ext cx="2451100" cy="1651000"/>
          </a:xfrm>
          <a:prstGeom prst="rect">
            <a:avLst/>
          </a:prstGeom>
          <a:solidFill>
            <a:srgbClr val="F6F6F6"/>
          </a:solidFill>
          <a:ln>
            <a:noFill/>
          </a:ln>
        </p:spPr>
      </p:sp>
      <p:sp>
        <p:nvSpPr>
          <p:cNvPr id="16" name="m3-t"/>
          <p:cNvSpPr txBox="1"/>
          <p:nvPr/>
        </p:nvSpPr>
        <p:spPr>
          <a:xfrm>
            <a:off x="6426200" y="2692400"/>
            <a:ext cx="20447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1600" b="1">
                <a:solidFill>
                  <a:srgbClr val="1C0B0B"/>
                </a:solidFill>
                <a:latin typeface="MiSans"/>
                <a:ea typeface="MiSans"/>
              </a:rPr>
              <a:t>供应链出问题时</a:t>
            </a:r>
            <a:endParaRPr lang="en-US" sz="1600"/>
          </a:p>
        </p:txBody>
      </p:sp>
      <p:sp>
        <p:nvSpPr>
          <p:cNvPr id="17" name="m3-d"/>
          <p:cNvSpPr/>
          <p:nvPr/>
        </p:nvSpPr>
        <p:spPr>
          <a:xfrm>
            <a:off x="6426200" y="3352800"/>
            <a:ext cx="304800" cy="25400"/>
          </a:xfrm>
          <a:prstGeom prst="rect">
            <a:avLst/>
          </a:prstGeom>
          <a:solidFill>
            <a:srgbClr val="C1C1C1"/>
          </a:solidFill>
          <a:ln>
            <a:noFill/>
          </a:ln>
        </p:spPr>
      </p:sp>
      <p:sp>
        <p:nvSpPr>
          <p:cNvPr id="18" name="m3-r"/>
          <p:cNvSpPr txBox="1"/>
          <p:nvPr/>
        </p:nvSpPr>
        <p:spPr>
          <a:xfrm>
            <a:off x="6426200" y="3556000"/>
            <a:ext cx="20447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200" b="1">
                <a:solidFill>
                  <a:srgbClr val="FF4D4D"/>
                </a:solidFill>
                <a:latin typeface="MiSans"/>
                <a:ea typeface="MiSans"/>
              </a:rPr>
              <a:t>第一时间想到你</a:t>
            </a:r>
            <a:endParaRPr lang="en-US" sz="1200"/>
          </a:p>
        </p:txBody>
      </p:sp>
      <p:sp>
        <p:nvSpPr>
          <p:cNvPr id="19" name="m4"/>
          <p:cNvSpPr/>
          <p:nvPr/>
        </p:nvSpPr>
        <p:spPr>
          <a:xfrm>
            <a:off x="8928100" y="2413000"/>
            <a:ext cx="2451100" cy="1651000"/>
          </a:xfrm>
          <a:prstGeom prst="rect">
            <a:avLst/>
          </a:prstGeom>
          <a:solidFill>
            <a:srgbClr val="F6F6F6"/>
          </a:solidFill>
          <a:ln>
            <a:noFill/>
          </a:ln>
        </p:spPr>
      </p:sp>
      <p:sp>
        <p:nvSpPr>
          <p:cNvPr id="20" name="m4-t"/>
          <p:cNvSpPr txBox="1"/>
          <p:nvPr/>
        </p:nvSpPr>
        <p:spPr>
          <a:xfrm>
            <a:off x="9131300" y="2692400"/>
            <a:ext cx="20447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1600" b="1">
                <a:solidFill>
                  <a:srgbClr val="1C0B0B"/>
                </a:solidFill>
                <a:latin typeface="MiSans"/>
                <a:ea typeface="MiSans"/>
              </a:rPr>
              <a:t>规划产品开发时</a:t>
            </a:r>
            <a:endParaRPr lang="en-US" sz="1600"/>
          </a:p>
        </p:txBody>
      </p:sp>
      <p:sp>
        <p:nvSpPr>
          <p:cNvPr id="21" name="m4-d"/>
          <p:cNvSpPr/>
          <p:nvPr/>
        </p:nvSpPr>
        <p:spPr>
          <a:xfrm>
            <a:off x="9131300" y="3352800"/>
            <a:ext cx="304800" cy="25400"/>
          </a:xfrm>
          <a:prstGeom prst="rect">
            <a:avLst/>
          </a:prstGeom>
          <a:solidFill>
            <a:srgbClr val="C1C1C1"/>
          </a:solidFill>
          <a:ln>
            <a:noFill/>
          </a:ln>
        </p:spPr>
      </p:sp>
      <p:sp>
        <p:nvSpPr>
          <p:cNvPr id="22" name="m4-r"/>
          <p:cNvSpPr txBox="1"/>
          <p:nvPr/>
        </p:nvSpPr>
        <p:spPr>
          <a:xfrm>
            <a:off x="9131300" y="3556000"/>
            <a:ext cx="20447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200" b="1">
                <a:solidFill>
                  <a:srgbClr val="FF4D4D"/>
                </a:solidFill>
                <a:latin typeface="MiSans"/>
                <a:ea typeface="MiSans"/>
              </a:rPr>
              <a:t>第一时间想到你</a:t>
            </a:r>
            <a:endParaRPr lang="en-US" sz="1200"/>
          </a:p>
        </p:txBody>
      </p:sp>
      <p:sp>
        <p:nvSpPr>
          <p:cNvPr id="23" name="concl-bar"/>
          <p:cNvSpPr/>
          <p:nvPr/>
        </p:nvSpPr>
        <p:spPr>
          <a:xfrm>
            <a:off x="812800" y="4572000"/>
            <a:ext cx="10566400" cy="685800"/>
          </a:xfrm>
          <a:prstGeom prst="rect">
            <a:avLst/>
          </a:prstGeom>
          <a:solidFill>
            <a:srgbClr val="FFF1F1"/>
          </a:solidFill>
          <a:ln>
            <a:noFill/>
          </a:ln>
        </p:spPr>
      </p:sp>
      <p:sp>
        <p:nvSpPr>
          <p:cNvPr id="24" name="concl-text"/>
          <p:cNvSpPr txBox="1"/>
          <p:nvPr/>
        </p:nvSpPr>
        <p:spPr>
          <a:xfrm>
            <a:off x="1066800" y="4572000"/>
            <a:ext cx="10160000" cy="685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1700" b="1">
                <a:solidFill>
                  <a:srgbClr val="1C0B0B"/>
                </a:solidFill>
                <a:latin typeface="MiSans"/>
                <a:ea typeface="MiSans"/>
              </a:rPr>
              <a:t>第一时间想到你——你就是客户</a:t>
            </a:r>
            <a:r>
              <a:rPr lang="en-US" sz="1700" b="1">
                <a:solidFill>
                  <a:srgbClr val="FF4D4D"/>
                </a:solidFill>
                <a:latin typeface="MiSans"/>
                <a:ea typeface="MiSans"/>
              </a:rPr>
              <a:t>最重要的供应链伙伴</a:t>
            </a:r>
            <a:r>
              <a:rPr lang="en-US" sz="1700" b="1">
                <a:solidFill>
                  <a:srgbClr val="1C0B0B"/>
                </a:solidFill>
                <a:latin typeface="MiSans"/>
                <a:ea typeface="MiSans"/>
              </a:rPr>
              <a:t>。</a:t>
            </a:r>
            <a:endParaRPr lang="en-US" sz="1700"/>
          </a:p>
        </p:txBody>
      </p:sp>
      <p:sp>
        <p:nvSpPr>
          <p:cNvPr id="25" name="bottom-note"/>
          <p:cNvSpPr txBox="1"/>
          <p:nvPr/>
        </p:nvSpPr>
        <p:spPr>
          <a:xfrm>
            <a:off x="812800" y="5613400"/>
            <a:ext cx="105664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100">
                <a:solidFill>
                  <a:srgbClr val="8C8585"/>
                </a:solidFill>
                <a:latin typeface="MiSans"/>
                <a:ea typeface="MiSans"/>
              </a:rPr>
              <a:t>订单，只是这种心智地位的自然结果。</a:t>
            </a:r>
            <a:endParaRPr lang="en-US" sz="1100"/>
          </a:p>
        </p:txBody>
      </p:sp>
      <p:sp>
        <p:nvSpPr>
          <p:cNvPr id="26" name="footer-line"/>
          <p:cNvSpPr/>
          <p:nvPr/>
        </p:nvSpPr>
        <p:spPr>
          <a:xfrm>
            <a:off x="812800" y="6400800"/>
            <a:ext cx="10566400" cy="12700"/>
          </a:xfrm>
          <a:prstGeom prst="rect">
            <a:avLst/>
          </a:prstGeom>
          <a:solidFill>
            <a:srgbClr val="E7E6E6"/>
          </a:solidFill>
          <a:ln>
            <a:noFill/>
          </a:ln>
        </p:spPr>
      </p:sp>
      <p:sp>
        <p:nvSpPr>
          <p:cNvPr id="27" name="footer-left"/>
          <p:cNvSpPr txBox="1"/>
          <p:nvPr/>
        </p:nvSpPr>
        <p:spPr>
          <a:xfrm>
            <a:off x="812800" y="65024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900">
                <a:solidFill>
                  <a:srgbClr val="B5AFAF"/>
                </a:solidFill>
                <a:latin typeface="MiSans"/>
                <a:ea typeface="MiSans"/>
              </a:rPr>
              <a:t>第三课 · 客户经营 ｜ 企业商学院</a:t>
            </a:r>
            <a:endParaRPr lang="en-US" sz="900"/>
          </a:p>
        </p:txBody>
      </p:sp>
      <p:sp>
        <p:nvSpPr>
          <p:cNvPr id="28" name="footer-page"/>
          <p:cNvSpPr txBox="1"/>
          <p:nvPr/>
        </p:nvSpPr>
        <p:spPr>
          <a:xfrm>
            <a:off x="10109200" y="65024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20000"/>
              </a:lnSpc>
            </a:pPr>
            <a:r>
              <a:rPr lang="en-US" sz="900">
                <a:solidFill>
                  <a:srgbClr val="B5AFAF"/>
                </a:solidFill>
                <a:latin typeface="MiSans"/>
                <a:ea typeface="MiSans"/>
              </a:rPr>
              <a:t>07</a:t>
            </a:r>
            <a:endParaRPr lang="en-US" sz="900"/>
          </a:p>
        </p:txBody>
      </p:sp>
    </p:spTree>
  </p:cSld>
  <p:clrMapOvr>
    <a:masterClrMapping/>
  </p:clrMapOvr>
  <p:transition spd="fast" advClick="1">
    <p:checker dir="horz"/>
  </p:transition>
</p:sld>
</file>

<file path=ppt/slides/slide8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508000"/>
            <a:ext cx="762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000" spc="300" kern="0">
                <a:solidFill>
                  <a:srgbClr val="8C8585"/>
                </a:solidFill>
                <a:latin typeface="MiSans"/>
                <a:ea typeface="MiSans"/>
              </a:rPr>
              <a:t>关系层级</a:t>
            </a:r>
            <a:endParaRPr lang="en-US" sz="1000"/>
          </a:p>
        </p:txBody>
      </p:sp>
      <p:sp>
        <p:nvSpPr>
          <p:cNvPr id="3" name="title"/>
          <p:cNvSpPr txBox="1"/>
          <p:nvPr/>
        </p:nvSpPr>
        <p:spPr>
          <a:xfrm>
            <a:off x="812800" y="762000"/>
            <a:ext cx="10160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2600" b="1">
                <a:solidFill>
                  <a:srgbClr val="1C0B0B"/>
                </a:solidFill>
                <a:latin typeface="MiSans"/>
                <a:ea typeface="MiSans"/>
              </a:rPr>
              <a:t>经营客户五层模型</a:t>
            </a:r>
            <a:endParaRPr lang="en-US" sz="2600"/>
          </a:p>
        </p:txBody>
      </p:sp>
      <p:sp>
        <p:nvSpPr>
          <p:cNvPr id="4" name="caption"/>
          <p:cNvSpPr txBox="1"/>
          <p:nvPr/>
        </p:nvSpPr>
        <p:spPr>
          <a:xfrm>
            <a:off x="812800" y="1295400"/>
            <a:ext cx="1016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200">
                <a:solidFill>
                  <a:srgbClr val="8C8585"/>
                </a:solidFill>
                <a:latin typeface="MiSans"/>
                <a:ea typeface="MiSans"/>
              </a:rPr>
              <a:t>从一次成交，到共同成长——你和客户，现在在哪一层？</a:t>
            </a:r>
            <a:endParaRPr lang="en-US" sz="1200"/>
          </a:p>
        </p:txBody>
      </p:sp>
      <p:sp>
        <p:nvSpPr>
          <p:cNvPr id="5" name="title-line"/>
          <p:cNvSpPr/>
          <p:nvPr/>
        </p:nvSpPr>
        <p:spPr>
          <a:xfrm>
            <a:off x="812800" y="1676400"/>
            <a:ext cx="10566400" cy="12700"/>
          </a:xfrm>
          <a:prstGeom prst="rect">
            <a:avLst/>
          </a:prstGeom>
          <a:solidFill>
            <a:srgbClr val="E7E6E6"/>
          </a:solidFill>
          <a:ln>
            <a:noFill/>
          </a:ln>
        </p:spPr>
      </p:sp>
      <p:sp>
        <p:nvSpPr>
          <p:cNvPr id="6" name="s1"/>
          <p:cNvSpPr/>
          <p:nvPr/>
        </p:nvSpPr>
        <p:spPr>
          <a:xfrm>
            <a:off x="812800" y="4572000"/>
            <a:ext cx="1905000" cy="889000"/>
          </a:xfrm>
          <a:prstGeom prst="rect">
            <a:avLst/>
          </a:prstGeom>
          <a:solidFill>
            <a:srgbClr val="F0EEEE"/>
          </a:solidFill>
          <a:ln>
            <a:noFill/>
          </a:ln>
        </p:spPr>
      </p:sp>
      <p:sp>
        <p:nvSpPr>
          <p:cNvPr id="7" name="s1-l"/>
          <p:cNvSpPr txBox="1"/>
          <p:nvPr/>
        </p:nvSpPr>
        <p:spPr>
          <a:xfrm>
            <a:off x="990600" y="4699000"/>
            <a:ext cx="1549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950">
                <a:solidFill>
                  <a:srgbClr val="8C8585"/>
                </a:solidFill>
                <a:latin typeface="MiSans"/>
                <a:ea typeface="MiSans"/>
              </a:rPr>
              <a:t>第一层</a:t>
            </a:r>
            <a:endParaRPr lang="en-US" sz="950"/>
          </a:p>
        </p:txBody>
      </p:sp>
      <p:sp>
        <p:nvSpPr>
          <p:cNvPr id="8" name="s1-n"/>
          <p:cNvSpPr txBox="1"/>
          <p:nvPr/>
        </p:nvSpPr>
        <p:spPr>
          <a:xfrm>
            <a:off x="990600" y="4902200"/>
            <a:ext cx="15494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700" b="1">
                <a:solidFill>
                  <a:srgbClr val="1C0B0B"/>
                </a:solidFill>
                <a:latin typeface="MiSans"/>
                <a:ea typeface="MiSans"/>
              </a:rPr>
              <a:t>成交</a:t>
            </a:r>
            <a:endParaRPr lang="en-US" sz="1700"/>
          </a:p>
        </p:txBody>
      </p:sp>
      <p:sp>
        <p:nvSpPr>
          <p:cNvPr id="9" name="s2"/>
          <p:cNvSpPr/>
          <p:nvPr/>
        </p:nvSpPr>
        <p:spPr>
          <a:xfrm>
            <a:off x="2921000" y="3937000"/>
            <a:ext cx="1905000" cy="1524000"/>
          </a:xfrm>
          <a:prstGeom prst="rect">
            <a:avLst/>
          </a:prstGeom>
          <a:solidFill>
            <a:srgbClr val="E9E6E6"/>
          </a:solidFill>
          <a:ln>
            <a:noFill/>
          </a:ln>
        </p:spPr>
      </p:sp>
      <p:sp>
        <p:nvSpPr>
          <p:cNvPr id="10" name="s2-l"/>
          <p:cNvSpPr txBox="1"/>
          <p:nvPr/>
        </p:nvSpPr>
        <p:spPr>
          <a:xfrm>
            <a:off x="3098800" y="4064000"/>
            <a:ext cx="1549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950">
                <a:solidFill>
                  <a:srgbClr val="8C8585"/>
                </a:solidFill>
                <a:latin typeface="MiSans"/>
                <a:ea typeface="MiSans"/>
              </a:rPr>
              <a:t>第二层</a:t>
            </a:r>
            <a:endParaRPr lang="en-US" sz="950"/>
          </a:p>
        </p:txBody>
      </p:sp>
      <p:sp>
        <p:nvSpPr>
          <p:cNvPr id="11" name="s2-n"/>
          <p:cNvSpPr txBox="1"/>
          <p:nvPr/>
        </p:nvSpPr>
        <p:spPr>
          <a:xfrm>
            <a:off x="3098800" y="4267200"/>
            <a:ext cx="15494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700" b="1">
                <a:solidFill>
                  <a:srgbClr val="1C0B0B"/>
                </a:solidFill>
                <a:latin typeface="MiSans"/>
                <a:ea typeface="MiSans"/>
              </a:rPr>
              <a:t>信任</a:t>
            </a:r>
            <a:endParaRPr lang="en-US" sz="1700"/>
          </a:p>
        </p:txBody>
      </p:sp>
      <p:sp>
        <p:nvSpPr>
          <p:cNvPr id="12" name="s2-g"/>
          <p:cNvSpPr txBox="1"/>
          <p:nvPr/>
        </p:nvSpPr>
        <p:spPr>
          <a:xfrm>
            <a:off x="3098800" y="4572000"/>
            <a:ext cx="1549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950">
                <a:solidFill>
                  <a:srgbClr val="8C8585"/>
                </a:solidFill>
                <a:latin typeface="MiSans"/>
                <a:ea typeface="MiSans"/>
              </a:rPr>
              <a:t>说到做到</a:t>
            </a:r>
            <a:endParaRPr lang="en-US" sz="950"/>
          </a:p>
        </p:txBody>
      </p:sp>
      <p:sp>
        <p:nvSpPr>
          <p:cNvPr id="13" name="s3"/>
          <p:cNvSpPr/>
          <p:nvPr/>
        </p:nvSpPr>
        <p:spPr>
          <a:xfrm>
            <a:off x="5029200" y="3302000"/>
            <a:ext cx="1905000" cy="2159000"/>
          </a:xfrm>
          <a:prstGeom prst="rect">
            <a:avLst/>
          </a:prstGeom>
          <a:solidFill>
            <a:srgbClr val="E2DEDE"/>
          </a:solidFill>
          <a:ln>
            <a:noFill/>
          </a:ln>
        </p:spPr>
      </p:sp>
      <p:sp>
        <p:nvSpPr>
          <p:cNvPr id="14" name="s3-l"/>
          <p:cNvSpPr txBox="1"/>
          <p:nvPr/>
        </p:nvSpPr>
        <p:spPr>
          <a:xfrm>
            <a:off x="5207000" y="3429000"/>
            <a:ext cx="1549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950">
                <a:solidFill>
                  <a:srgbClr val="8C8585"/>
                </a:solidFill>
                <a:latin typeface="MiSans"/>
                <a:ea typeface="MiSans"/>
              </a:rPr>
              <a:t>第三层</a:t>
            </a:r>
            <a:endParaRPr lang="en-US" sz="950"/>
          </a:p>
        </p:txBody>
      </p:sp>
      <p:sp>
        <p:nvSpPr>
          <p:cNvPr id="15" name="s3-n"/>
          <p:cNvSpPr txBox="1"/>
          <p:nvPr/>
        </p:nvSpPr>
        <p:spPr>
          <a:xfrm>
            <a:off x="5207000" y="3632200"/>
            <a:ext cx="15494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700" b="1">
                <a:solidFill>
                  <a:srgbClr val="1C0B0B"/>
                </a:solidFill>
                <a:latin typeface="MiSans"/>
                <a:ea typeface="MiSans"/>
              </a:rPr>
              <a:t>合作</a:t>
            </a:r>
            <a:endParaRPr lang="en-US" sz="1700"/>
          </a:p>
        </p:txBody>
      </p:sp>
      <p:sp>
        <p:nvSpPr>
          <p:cNvPr id="16" name="s3-g"/>
          <p:cNvSpPr txBox="1"/>
          <p:nvPr/>
        </p:nvSpPr>
        <p:spPr>
          <a:xfrm>
            <a:off x="5207000" y="3937000"/>
            <a:ext cx="1549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950">
                <a:solidFill>
                  <a:srgbClr val="8C8585"/>
                </a:solidFill>
                <a:latin typeface="MiSans"/>
                <a:ea typeface="MiSans"/>
              </a:rPr>
              <a:t>稳定复购</a:t>
            </a:r>
            <a:endParaRPr lang="en-US" sz="950"/>
          </a:p>
        </p:txBody>
      </p:sp>
      <p:sp>
        <p:nvSpPr>
          <p:cNvPr id="17" name="s4"/>
          <p:cNvSpPr/>
          <p:nvPr/>
        </p:nvSpPr>
        <p:spPr>
          <a:xfrm>
            <a:off x="7137400" y="2667000"/>
            <a:ext cx="1905000" cy="2794000"/>
          </a:xfrm>
          <a:prstGeom prst="rect">
            <a:avLst/>
          </a:prstGeom>
          <a:solidFill>
            <a:srgbClr val="DBD6D6"/>
          </a:solidFill>
          <a:ln>
            <a:noFill/>
          </a:ln>
        </p:spPr>
      </p:sp>
      <p:sp>
        <p:nvSpPr>
          <p:cNvPr id="18" name="s4-l"/>
          <p:cNvSpPr txBox="1"/>
          <p:nvPr/>
        </p:nvSpPr>
        <p:spPr>
          <a:xfrm>
            <a:off x="7315200" y="2794000"/>
            <a:ext cx="1549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950">
                <a:solidFill>
                  <a:srgbClr val="8C8585"/>
                </a:solidFill>
                <a:latin typeface="MiSans"/>
                <a:ea typeface="MiSans"/>
              </a:rPr>
              <a:t>第四层</a:t>
            </a:r>
            <a:endParaRPr lang="en-US" sz="950"/>
          </a:p>
        </p:txBody>
      </p:sp>
      <p:sp>
        <p:nvSpPr>
          <p:cNvPr id="19" name="s4-n"/>
          <p:cNvSpPr txBox="1"/>
          <p:nvPr/>
        </p:nvSpPr>
        <p:spPr>
          <a:xfrm>
            <a:off x="7315200" y="2997200"/>
            <a:ext cx="15494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700" b="1">
                <a:solidFill>
                  <a:srgbClr val="1C0B0B"/>
                </a:solidFill>
                <a:latin typeface="MiSans"/>
                <a:ea typeface="MiSans"/>
              </a:rPr>
              <a:t>依赖</a:t>
            </a:r>
            <a:endParaRPr lang="en-US" sz="1700"/>
          </a:p>
        </p:txBody>
      </p:sp>
      <p:sp>
        <p:nvSpPr>
          <p:cNvPr id="20" name="s4-g"/>
          <p:cNvSpPr txBox="1"/>
          <p:nvPr/>
        </p:nvSpPr>
        <p:spPr>
          <a:xfrm>
            <a:off x="7315200" y="3302000"/>
            <a:ext cx="1549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950">
                <a:solidFill>
                  <a:srgbClr val="8C8585"/>
                </a:solidFill>
                <a:latin typeface="MiSans"/>
                <a:ea typeface="MiSans"/>
              </a:rPr>
              <a:t>不可替代</a:t>
            </a:r>
            <a:endParaRPr lang="en-US" sz="950"/>
          </a:p>
        </p:txBody>
      </p:sp>
      <p:sp>
        <p:nvSpPr>
          <p:cNvPr id="21" name="s5"/>
          <p:cNvSpPr/>
          <p:nvPr/>
        </p:nvSpPr>
        <p:spPr>
          <a:xfrm>
            <a:off x="9245600" y="2032000"/>
            <a:ext cx="1905000" cy="3429000"/>
          </a:xfrm>
          <a:prstGeom prst="rect">
            <a:avLst/>
          </a:prstGeom>
          <a:solidFill>
            <a:srgbClr val="FF4D4D"/>
          </a:solidFill>
          <a:ln>
            <a:noFill/>
          </a:ln>
        </p:spPr>
      </p:sp>
      <p:sp>
        <p:nvSpPr>
          <p:cNvPr id="22" name="s5-l"/>
          <p:cNvSpPr txBox="1"/>
          <p:nvPr/>
        </p:nvSpPr>
        <p:spPr>
          <a:xfrm>
            <a:off x="9423400" y="2159000"/>
            <a:ext cx="1549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950">
                <a:solidFill>
                  <a:srgbClr val="FFFFFF"/>
                </a:solidFill>
                <a:latin typeface="MiSans"/>
                <a:ea typeface="MiSans"/>
              </a:rPr>
              <a:t>第五层</a:t>
            </a:r>
            <a:endParaRPr lang="en-US" sz="950"/>
          </a:p>
        </p:txBody>
      </p:sp>
      <p:sp>
        <p:nvSpPr>
          <p:cNvPr id="23" name="s5-n"/>
          <p:cNvSpPr txBox="1"/>
          <p:nvPr/>
        </p:nvSpPr>
        <p:spPr>
          <a:xfrm>
            <a:off x="9423400" y="2362200"/>
            <a:ext cx="15494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700" b="1">
                <a:solidFill>
                  <a:srgbClr val="FFFFFF"/>
                </a:solidFill>
                <a:latin typeface="MiSans"/>
                <a:ea typeface="MiSans"/>
              </a:rPr>
              <a:t>共同成长</a:t>
            </a:r>
            <a:endParaRPr lang="en-US" sz="1700"/>
          </a:p>
        </p:txBody>
      </p:sp>
      <p:sp>
        <p:nvSpPr>
          <p:cNvPr id="24" name="s5-g"/>
          <p:cNvSpPr txBox="1"/>
          <p:nvPr/>
        </p:nvSpPr>
        <p:spPr>
          <a:xfrm>
            <a:off x="9423400" y="2667000"/>
            <a:ext cx="1549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950">
                <a:solidFill>
                  <a:srgbClr val="FFFFFF"/>
                </a:solidFill>
                <a:latin typeface="MiSans"/>
                <a:ea typeface="MiSans"/>
              </a:rPr>
              <a:t>命运共同体</a:t>
            </a:r>
            <a:endParaRPr lang="en-US" sz="950"/>
          </a:p>
        </p:txBody>
      </p:sp>
      <p:sp>
        <p:nvSpPr>
          <p:cNvPr id="25" name="s1-g"/>
          <p:cNvSpPr txBox="1"/>
          <p:nvPr/>
        </p:nvSpPr>
        <p:spPr>
          <a:xfrm>
            <a:off x="990600" y="5207000"/>
            <a:ext cx="1549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950">
                <a:solidFill>
                  <a:srgbClr val="8C8585"/>
                </a:solidFill>
                <a:latin typeface="MiSans"/>
                <a:ea typeface="MiSans"/>
              </a:rPr>
              <a:t>一次交易</a:t>
            </a:r>
            <a:endParaRPr lang="en-US" sz="950"/>
          </a:p>
        </p:txBody>
      </p:sp>
      <p:sp>
        <p:nvSpPr>
          <p:cNvPr id="26" name="bottom-note"/>
          <p:cNvSpPr txBox="1"/>
          <p:nvPr/>
        </p:nvSpPr>
        <p:spPr>
          <a:xfrm>
            <a:off x="812800" y="5740400"/>
            <a:ext cx="105664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200">
                <a:solidFill>
                  <a:srgbClr val="8C8585"/>
                </a:solidFill>
                <a:latin typeface="MiSans"/>
                <a:ea typeface="MiSans"/>
              </a:rPr>
              <a:t>真正优秀的销售，最终都会进入第五层——与客户共同成长。</a:t>
            </a:r>
            <a:endParaRPr lang="en-US" sz="1200"/>
          </a:p>
        </p:txBody>
      </p:sp>
      <p:sp>
        <p:nvSpPr>
          <p:cNvPr id="27" name="footer-line"/>
          <p:cNvSpPr/>
          <p:nvPr/>
        </p:nvSpPr>
        <p:spPr>
          <a:xfrm>
            <a:off x="812800" y="6400800"/>
            <a:ext cx="10566400" cy="12700"/>
          </a:xfrm>
          <a:prstGeom prst="rect">
            <a:avLst/>
          </a:prstGeom>
          <a:solidFill>
            <a:srgbClr val="E7E6E6"/>
          </a:solidFill>
          <a:ln>
            <a:noFill/>
          </a:ln>
        </p:spPr>
      </p:sp>
      <p:sp>
        <p:nvSpPr>
          <p:cNvPr id="28" name="footer-left"/>
          <p:cNvSpPr txBox="1"/>
          <p:nvPr/>
        </p:nvSpPr>
        <p:spPr>
          <a:xfrm>
            <a:off x="812800" y="65024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900">
                <a:solidFill>
                  <a:srgbClr val="B5AFAF"/>
                </a:solidFill>
                <a:latin typeface="MiSans"/>
                <a:ea typeface="MiSans"/>
              </a:rPr>
              <a:t>第三课 · 客户经营 ｜ 企业商学院</a:t>
            </a:r>
            <a:endParaRPr lang="en-US" sz="900"/>
          </a:p>
        </p:txBody>
      </p:sp>
      <p:sp>
        <p:nvSpPr>
          <p:cNvPr id="29" name="footer-page"/>
          <p:cNvSpPr txBox="1"/>
          <p:nvPr/>
        </p:nvSpPr>
        <p:spPr>
          <a:xfrm>
            <a:off x="10109200" y="65024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20000"/>
              </a:lnSpc>
            </a:pPr>
            <a:r>
              <a:rPr lang="en-US" sz="900">
                <a:solidFill>
                  <a:srgbClr val="B5AFAF"/>
                </a:solidFill>
                <a:latin typeface="MiSans"/>
                <a:ea typeface="MiSans"/>
              </a:rPr>
              <a:t>08</a:t>
            </a:r>
            <a:endParaRPr lang="en-US" sz="900"/>
          </a:p>
        </p:txBody>
      </p:sp>
    </p:spTree>
  </p:cSld>
  <p:clrMapOvr>
    <a:masterClrMapping/>
  </p:clrMapOvr>
  <p:transition spd="fast" advClick="1">
    <p:checker dir="horz"/>
  </p:transition>
</p:sld>
</file>

<file path=ppt/slides/slide9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508000"/>
            <a:ext cx="762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000" spc="300" kern="0">
                <a:solidFill>
                  <a:srgbClr val="8C8585"/>
                </a:solidFill>
                <a:latin typeface="MiSans"/>
                <a:ea typeface="MiSans"/>
              </a:rPr>
              <a:t>价值认知</a:t>
            </a:r>
            <a:endParaRPr lang="en-US" sz="1000"/>
          </a:p>
        </p:txBody>
      </p:sp>
      <p:sp>
        <p:nvSpPr>
          <p:cNvPr id="3" name="title"/>
          <p:cNvSpPr txBox="1"/>
          <p:nvPr/>
        </p:nvSpPr>
        <p:spPr>
          <a:xfrm>
            <a:off x="812800" y="762000"/>
            <a:ext cx="10160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2600" b="1">
                <a:solidFill>
                  <a:srgbClr val="1C0B0B"/>
                </a:solidFill>
                <a:latin typeface="MiSans"/>
                <a:ea typeface="MiSans"/>
              </a:rPr>
              <a:t>客户真正购买什么？</a:t>
            </a:r>
            <a:endParaRPr lang="en-US" sz="2600"/>
          </a:p>
        </p:txBody>
      </p:sp>
      <p:sp>
        <p:nvSpPr>
          <p:cNvPr id="4" name="caption"/>
          <p:cNvSpPr txBox="1"/>
          <p:nvPr/>
        </p:nvSpPr>
        <p:spPr>
          <a:xfrm>
            <a:off x="812800" y="1295400"/>
            <a:ext cx="1016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200">
                <a:solidFill>
                  <a:srgbClr val="8C8585"/>
                </a:solidFill>
                <a:latin typeface="MiSans"/>
                <a:ea typeface="MiSans"/>
              </a:rPr>
              <a:t>不是产品，而是产品背后的五种价值</a:t>
            </a:r>
            <a:endParaRPr lang="en-US" sz="1200"/>
          </a:p>
        </p:txBody>
      </p:sp>
      <p:sp>
        <p:nvSpPr>
          <p:cNvPr id="5" name="title-line"/>
          <p:cNvSpPr/>
          <p:nvPr/>
        </p:nvSpPr>
        <p:spPr>
          <a:xfrm>
            <a:off x="812800" y="1676400"/>
            <a:ext cx="10566400" cy="12700"/>
          </a:xfrm>
          <a:prstGeom prst="rect">
            <a:avLst/>
          </a:prstGeom>
          <a:solidFill>
            <a:srgbClr val="E7E6E6"/>
          </a:solidFill>
          <a:ln>
            <a:noFill/>
          </a:ln>
        </p:spPr>
      </p:sp>
      <p:sp>
        <p:nvSpPr>
          <p:cNvPr id="6" name="left-label"/>
          <p:cNvSpPr txBox="1"/>
          <p:nvPr/>
        </p:nvSpPr>
        <p:spPr>
          <a:xfrm>
            <a:off x="812800" y="2095500"/>
            <a:ext cx="304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100" spc="200" kern="0">
                <a:solidFill>
                  <a:srgbClr val="8C8585"/>
                </a:solidFill>
                <a:latin typeface="MiSans"/>
                <a:ea typeface="MiSans"/>
              </a:rPr>
              <a:t>客户真正购买的</a:t>
            </a:r>
            <a:endParaRPr lang="en-US" sz="1100"/>
          </a:p>
        </p:txBody>
      </p:sp>
      <p:sp>
        <p:nvSpPr>
          <p:cNvPr id="7" name="left-big"/>
          <p:cNvSpPr txBox="1"/>
          <p:nvPr/>
        </p:nvSpPr>
        <p:spPr>
          <a:xfrm>
            <a:off x="812800" y="2438400"/>
            <a:ext cx="3556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000" b="1">
                <a:solidFill>
                  <a:srgbClr val="1C0B0B"/>
                </a:solidFill>
                <a:latin typeface="MiSans"/>
                <a:ea typeface="MiSans"/>
              </a:rPr>
              <a:t>不是产品。</a:t>
            </a:r>
            <a:endParaRPr lang="en-US" sz="3000"/>
          </a:p>
        </p:txBody>
      </p:sp>
      <p:sp>
        <p:nvSpPr>
          <p:cNvPr id="8" name="left-sub"/>
          <p:cNvSpPr txBox="1"/>
          <p:nvPr/>
        </p:nvSpPr>
        <p:spPr>
          <a:xfrm>
            <a:off x="812800" y="3276600"/>
            <a:ext cx="3556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200">
                <a:solidFill>
                  <a:srgbClr val="8C8585"/>
                </a:solidFill>
                <a:latin typeface="MiSans"/>
                <a:ea typeface="MiSans"/>
              </a:rPr>
              <a:t>价格，只是其中一个因素——而且往往不是决定性因素。</a:t>
            </a:r>
            <a:endParaRPr lang="en-US" sz="1200"/>
          </a:p>
        </p:txBody>
      </p:sp>
      <p:sp>
        <p:nvSpPr>
          <p:cNvPr id="9" name="v1-k"/>
          <p:cNvSpPr txBox="1"/>
          <p:nvPr/>
        </p:nvSpPr>
        <p:spPr>
          <a:xfrm>
            <a:off x="4826000" y="2057400"/>
            <a:ext cx="1143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900" b="1">
                <a:solidFill>
                  <a:srgbClr val="1C0B0B"/>
                </a:solidFill>
                <a:latin typeface="MiSans"/>
                <a:ea typeface="MiSans"/>
              </a:rPr>
              <a:t>稳定</a:t>
            </a:r>
            <a:endParaRPr lang="en-US" sz="1900"/>
          </a:p>
        </p:txBody>
      </p:sp>
      <p:sp>
        <p:nvSpPr>
          <p:cNvPr id="10" name="v1-g"/>
          <p:cNvSpPr txBox="1"/>
          <p:nvPr/>
        </p:nvSpPr>
        <p:spPr>
          <a:xfrm>
            <a:off x="6172200" y="2032000"/>
            <a:ext cx="5207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1200">
                <a:solidFill>
                  <a:srgbClr val="8C8585"/>
                </a:solidFill>
                <a:latin typeface="MiSans"/>
                <a:ea typeface="MiSans"/>
              </a:rPr>
              <a:t>供货稳定、品质稳定、合作稳定</a:t>
            </a:r>
            <a:endParaRPr lang="en-US" sz="1200"/>
          </a:p>
        </p:txBody>
      </p:sp>
      <p:sp>
        <p:nvSpPr>
          <p:cNvPr id="11" name="v1-line"/>
          <p:cNvSpPr/>
          <p:nvPr/>
        </p:nvSpPr>
        <p:spPr>
          <a:xfrm>
            <a:off x="4826000" y="2641600"/>
            <a:ext cx="6553200" cy="12700"/>
          </a:xfrm>
          <a:prstGeom prst="rect">
            <a:avLst/>
          </a:prstGeom>
          <a:solidFill>
            <a:srgbClr val="E7E6E6"/>
          </a:solidFill>
          <a:ln>
            <a:noFill/>
          </a:ln>
        </p:spPr>
      </p:sp>
      <p:sp>
        <p:nvSpPr>
          <p:cNvPr id="12" name="v2-k"/>
          <p:cNvSpPr txBox="1"/>
          <p:nvPr/>
        </p:nvSpPr>
        <p:spPr>
          <a:xfrm>
            <a:off x="4826000" y="2844800"/>
            <a:ext cx="1143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900" b="1">
                <a:solidFill>
                  <a:srgbClr val="1C0B0B"/>
                </a:solidFill>
                <a:latin typeface="MiSans"/>
                <a:ea typeface="MiSans"/>
              </a:rPr>
              <a:t>专业</a:t>
            </a:r>
            <a:endParaRPr lang="en-US" sz="1900"/>
          </a:p>
        </p:txBody>
      </p:sp>
      <p:sp>
        <p:nvSpPr>
          <p:cNvPr id="13" name="v2-g"/>
          <p:cNvSpPr txBox="1"/>
          <p:nvPr/>
        </p:nvSpPr>
        <p:spPr>
          <a:xfrm>
            <a:off x="6172200" y="2819400"/>
            <a:ext cx="5207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1200">
                <a:solidFill>
                  <a:srgbClr val="8C8585"/>
                </a:solidFill>
                <a:latin typeface="MiSans"/>
                <a:ea typeface="MiSans"/>
              </a:rPr>
              <a:t>懂产品、懂行业，能解决真问题</a:t>
            </a:r>
            <a:endParaRPr lang="en-US" sz="1200"/>
          </a:p>
        </p:txBody>
      </p:sp>
      <p:sp>
        <p:nvSpPr>
          <p:cNvPr id="14" name="v2-line"/>
          <p:cNvSpPr/>
          <p:nvPr/>
        </p:nvSpPr>
        <p:spPr>
          <a:xfrm>
            <a:off x="4826000" y="3429000"/>
            <a:ext cx="6553200" cy="12700"/>
          </a:xfrm>
          <a:prstGeom prst="rect">
            <a:avLst/>
          </a:prstGeom>
          <a:solidFill>
            <a:srgbClr val="E7E6E6"/>
          </a:solidFill>
          <a:ln>
            <a:noFill/>
          </a:ln>
        </p:spPr>
      </p:sp>
      <p:sp>
        <p:nvSpPr>
          <p:cNvPr id="15" name="v3-k"/>
          <p:cNvSpPr txBox="1"/>
          <p:nvPr/>
        </p:nvSpPr>
        <p:spPr>
          <a:xfrm>
            <a:off x="4826000" y="3632200"/>
            <a:ext cx="1143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900" b="1">
                <a:solidFill>
                  <a:srgbClr val="1C0B0B"/>
                </a:solidFill>
                <a:latin typeface="MiSans"/>
                <a:ea typeface="MiSans"/>
              </a:rPr>
              <a:t>效率</a:t>
            </a:r>
            <a:endParaRPr lang="en-US" sz="1900"/>
          </a:p>
        </p:txBody>
      </p:sp>
      <p:sp>
        <p:nvSpPr>
          <p:cNvPr id="16" name="v3-g"/>
          <p:cNvSpPr txBox="1"/>
          <p:nvPr/>
        </p:nvSpPr>
        <p:spPr>
          <a:xfrm>
            <a:off x="6172200" y="3606800"/>
            <a:ext cx="5207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1200">
                <a:solidFill>
                  <a:srgbClr val="8C8585"/>
                </a:solidFill>
                <a:latin typeface="MiSans"/>
                <a:ea typeface="MiSans"/>
              </a:rPr>
              <a:t>响应快、交付快、沟通成本低</a:t>
            </a:r>
            <a:endParaRPr lang="en-US" sz="1200"/>
          </a:p>
        </p:txBody>
      </p:sp>
      <p:sp>
        <p:nvSpPr>
          <p:cNvPr id="17" name="v3-line"/>
          <p:cNvSpPr/>
          <p:nvPr/>
        </p:nvSpPr>
        <p:spPr>
          <a:xfrm>
            <a:off x="4826000" y="4216400"/>
            <a:ext cx="6553200" cy="12700"/>
          </a:xfrm>
          <a:prstGeom prst="rect">
            <a:avLst/>
          </a:prstGeom>
          <a:solidFill>
            <a:srgbClr val="E7E6E6"/>
          </a:solidFill>
          <a:ln>
            <a:noFill/>
          </a:ln>
        </p:spPr>
      </p:sp>
      <p:sp>
        <p:nvSpPr>
          <p:cNvPr id="18" name="v4-k"/>
          <p:cNvSpPr txBox="1"/>
          <p:nvPr/>
        </p:nvSpPr>
        <p:spPr>
          <a:xfrm>
            <a:off x="4826000" y="4419600"/>
            <a:ext cx="1143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900" b="1">
                <a:solidFill>
                  <a:srgbClr val="1C0B0B"/>
                </a:solidFill>
                <a:latin typeface="MiSans"/>
                <a:ea typeface="MiSans"/>
              </a:rPr>
              <a:t>安全</a:t>
            </a:r>
            <a:endParaRPr lang="en-US" sz="1900"/>
          </a:p>
        </p:txBody>
      </p:sp>
      <p:sp>
        <p:nvSpPr>
          <p:cNvPr id="19" name="v4-g"/>
          <p:cNvSpPr txBox="1"/>
          <p:nvPr/>
        </p:nvSpPr>
        <p:spPr>
          <a:xfrm>
            <a:off x="6172200" y="4394200"/>
            <a:ext cx="5207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1200">
                <a:solidFill>
                  <a:srgbClr val="8C8585"/>
                </a:solidFill>
                <a:latin typeface="MiSans"/>
                <a:ea typeface="MiSans"/>
              </a:rPr>
              <a:t>品质、资金、合规，都有保障</a:t>
            </a:r>
            <a:endParaRPr lang="en-US" sz="1200"/>
          </a:p>
        </p:txBody>
      </p:sp>
      <p:sp>
        <p:nvSpPr>
          <p:cNvPr id="20" name="v4-line"/>
          <p:cNvSpPr/>
          <p:nvPr/>
        </p:nvSpPr>
        <p:spPr>
          <a:xfrm>
            <a:off x="4826000" y="5003800"/>
            <a:ext cx="6553200" cy="12700"/>
          </a:xfrm>
          <a:prstGeom prst="rect">
            <a:avLst/>
          </a:prstGeom>
          <a:solidFill>
            <a:srgbClr val="E7E6E6"/>
          </a:solidFill>
          <a:ln>
            <a:noFill/>
          </a:ln>
        </p:spPr>
      </p:sp>
      <p:sp>
        <p:nvSpPr>
          <p:cNvPr id="21" name="v5-k"/>
          <p:cNvSpPr txBox="1"/>
          <p:nvPr/>
        </p:nvSpPr>
        <p:spPr>
          <a:xfrm>
            <a:off x="4826000" y="5207000"/>
            <a:ext cx="1143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900" b="1">
                <a:solidFill>
                  <a:srgbClr val="FF4D4D"/>
                </a:solidFill>
                <a:latin typeface="MiSans"/>
                <a:ea typeface="MiSans"/>
              </a:rPr>
              <a:t>增长</a:t>
            </a:r>
            <a:endParaRPr lang="en-US" sz="1900"/>
          </a:p>
        </p:txBody>
      </p:sp>
      <p:sp>
        <p:nvSpPr>
          <p:cNvPr id="22" name="v5-g"/>
          <p:cNvSpPr txBox="1"/>
          <p:nvPr/>
        </p:nvSpPr>
        <p:spPr>
          <a:xfrm>
            <a:off x="6172200" y="5181600"/>
            <a:ext cx="5207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1200">
                <a:solidFill>
                  <a:srgbClr val="8C8585"/>
                </a:solidFill>
                <a:latin typeface="MiSans"/>
                <a:ea typeface="MiSans"/>
              </a:rPr>
              <a:t>带来新品、新市场与新机会</a:t>
            </a:r>
            <a:endParaRPr lang="en-US" sz="1200"/>
          </a:p>
        </p:txBody>
      </p:sp>
      <p:sp>
        <p:nvSpPr>
          <p:cNvPr id="23" name="v5-line"/>
          <p:cNvSpPr/>
          <p:nvPr/>
        </p:nvSpPr>
        <p:spPr>
          <a:xfrm>
            <a:off x="4826000" y="5791200"/>
            <a:ext cx="6553200" cy="12700"/>
          </a:xfrm>
          <a:prstGeom prst="rect">
            <a:avLst/>
          </a:prstGeom>
          <a:solidFill>
            <a:srgbClr val="E7E6E6"/>
          </a:solidFill>
          <a:ln>
            <a:noFill/>
          </a:ln>
        </p:spPr>
      </p:sp>
      <p:sp>
        <p:nvSpPr>
          <p:cNvPr id="24" name="footer-line"/>
          <p:cNvSpPr/>
          <p:nvPr/>
        </p:nvSpPr>
        <p:spPr>
          <a:xfrm>
            <a:off x="812800" y="6400800"/>
            <a:ext cx="10566400" cy="12700"/>
          </a:xfrm>
          <a:prstGeom prst="rect">
            <a:avLst/>
          </a:prstGeom>
          <a:solidFill>
            <a:srgbClr val="E7E6E6"/>
          </a:solidFill>
          <a:ln>
            <a:noFill/>
          </a:ln>
        </p:spPr>
      </p:sp>
      <p:sp>
        <p:nvSpPr>
          <p:cNvPr id="25" name="footer-left"/>
          <p:cNvSpPr txBox="1"/>
          <p:nvPr/>
        </p:nvSpPr>
        <p:spPr>
          <a:xfrm>
            <a:off x="812800" y="65024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900">
                <a:solidFill>
                  <a:srgbClr val="B5AFAF"/>
                </a:solidFill>
                <a:latin typeface="MiSans"/>
                <a:ea typeface="MiSans"/>
              </a:rPr>
              <a:t>第三课 · 客户经营 ｜ 企业商学院</a:t>
            </a:r>
            <a:endParaRPr lang="en-US" sz="900"/>
          </a:p>
        </p:txBody>
      </p:sp>
      <p:sp>
        <p:nvSpPr>
          <p:cNvPr id="26" name="footer-page"/>
          <p:cNvSpPr txBox="1"/>
          <p:nvPr/>
        </p:nvSpPr>
        <p:spPr>
          <a:xfrm>
            <a:off x="10109200" y="65024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20000"/>
              </a:lnSpc>
            </a:pPr>
            <a:r>
              <a:rPr lang="en-US" sz="900">
                <a:solidFill>
                  <a:srgbClr val="B5AFAF"/>
                </a:solidFill>
                <a:latin typeface="MiSans"/>
                <a:ea typeface="MiSans"/>
              </a:rPr>
              <a:t>09</a:t>
            </a:r>
            <a:endParaRPr lang="en-US" sz="900"/>
          </a:p>
        </p:txBody>
      </p:sp>
    </p:spTree>
  </p:cSld>
  <p:clrMapOvr>
    <a:masterClrMapping/>
  </p:clrMapOvr>
  <p:transition spd="fast" advClick="1">
    <p:checker dir="horz"/>
  </p:transition>
</p:sld>
</file>

<file path=ppt/slides/slide10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508000"/>
            <a:ext cx="762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000" spc="300" kern="0">
                <a:solidFill>
                  <a:srgbClr val="8C8585"/>
                </a:solidFill>
                <a:latin typeface="MiSans"/>
                <a:ea typeface="MiSans"/>
              </a:rPr>
              <a:t>客户画像</a:t>
            </a:r>
            <a:endParaRPr lang="en-US" sz="1000"/>
          </a:p>
        </p:txBody>
      </p:sp>
      <p:sp>
        <p:nvSpPr>
          <p:cNvPr id="3" name="title"/>
          <p:cNvSpPr txBox="1"/>
          <p:nvPr/>
        </p:nvSpPr>
        <p:spPr>
          <a:xfrm>
            <a:off x="812800" y="762000"/>
            <a:ext cx="10160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2600" b="1">
                <a:solidFill>
                  <a:srgbClr val="1C0B0B"/>
                </a:solidFill>
                <a:latin typeface="MiSans"/>
                <a:ea typeface="MiSans"/>
              </a:rPr>
              <a:t>建立客户画像</a:t>
            </a:r>
            <a:endParaRPr lang="en-US" sz="2600"/>
          </a:p>
        </p:txBody>
      </p:sp>
      <p:sp>
        <p:nvSpPr>
          <p:cNvPr id="4" name="caption"/>
          <p:cNvSpPr txBox="1"/>
          <p:nvPr/>
        </p:nvSpPr>
        <p:spPr>
          <a:xfrm>
            <a:off x="812800" y="1295400"/>
            <a:ext cx="1016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200">
                <a:solidFill>
                  <a:srgbClr val="8C8585"/>
                </a:solidFill>
                <a:latin typeface="MiSans"/>
                <a:ea typeface="MiSans"/>
              </a:rPr>
              <a:t>每个A类客户，都必须拥有一份完整画像——十个维度，缺一不可</a:t>
            </a:r>
            <a:endParaRPr lang="en-US" sz="1200"/>
          </a:p>
        </p:txBody>
      </p:sp>
      <p:sp>
        <p:nvSpPr>
          <p:cNvPr id="5" name="title-line"/>
          <p:cNvSpPr/>
          <p:nvPr/>
        </p:nvSpPr>
        <p:spPr>
          <a:xfrm>
            <a:off x="812800" y="1676400"/>
            <a:ext cx="10566400" cy="12700"/>
          </a:xfrm>
          <a:prstGeom prst="rect">
            <a:avLst/>
          </a:prstGeom>
          <a:solidFill>
            <a:srgbClr val="E7E6E6"/>
          </a:solidFill>
          <a:ln>
            <a:noFill/>
          </a:ln>
        </p:spPr>
      </p:sp>
      <p:sp>
        <p:nvSpPr>
          <p:cNvPr id="6" name="g1"/>
          <p:cNvSpPr/>
          <p:nvPr/>
        </p:nvSpPr>
        <p:spPr>
          <a:xfrm>
            <a:off x="812800" y="2159000"/>
            <a:ext cx="1930400" cy="1524000"/>
          </a:xfrm>
          <a:prstGeom prst="rect">
            <a:avLst/>
          </a:prstGeom>
          <a:solidFill>
            <a:srgbClr val="F6F6F6"/>
          </a:solidFill>
          <a:ln>
            <a:noFill/>
          </a:ln>
        </p:spPr>
      </p:sp>
      <p:sp>
        <p:nvSpPr>
          <p:cNvPr id="7" name="g1-n"/>
          <p:cNvSpPr txBox="1"/>
          <p:nvPr/>
        </p:nvSpPr>
        <p:spPr>
          <a:xfrm>
            <a:off x="990600" y="2336800"/>
            <a:ext cx="508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000" b="1">
                <a:solidFill>
                  <a:srgbClr val="B5AFAF"/>
                </a:solidFill>
                <a:latin typeface="MiSans"/>
                <a:ea typeface="MiSans"/>
              </a:rPr>
              <a:t>01</a:t>
            </a:r>
            <a:endParaRPr lang="en-US" sz="1000"/>
          </a:p>
        </p:txBody>
      </p:sp>
      <p:sp>
        <p:nvSpPr>
          <p:cNvPr id="8" name="g1-t"/>
          <p:cNvSpPr txBox="1"/>
          <p:nvPr/>
        </p:nvSpPr>
        <p:spPr>
          <a:xfrm>
            <a:off x="990600" y="2616200"/>
            <a:ext cx="15748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1C0B0B"/>
                </a:solidFill>
                <a:latin typeface="MiSans"/>
                <a:ea typeface="MiSans"/>
              </a:rPr>
              <a:t>企业规模</a:t>
            </a:r>
            <a:endParaRPr lang="en-US" sz="1500"/>
          </a:p>
        </p:txBody>
      </p:sp>
      <p:sp>
        <p:nvSpPr>
          <p:cNvPr id="9" name="g2"/>
          <p:cNvSpPr/>
          <p:nvPr/>
        </p:nvSpPr>
        <p:spPr>
          <a:xfrm>
            <a:off x="2971800" y="2159000"/>
            <a:ext cx="1930400" cy="1524000"/>
          </a:xfrm>
          <a:prstGeom prst="rect">
            <a:avLst/>
          </a:prstGeom>
          <a:solidFill>
            <a:srgbClr val="F6F6F6"/>
          </a:solidFill>
          <a:ln>
            <a:noFill/>
          </a:ln>
        </p:spPr>
      </p:sp>
      <p:sp>
        <p:nvSpPr>
          <p:cNvPr id="10" name="g2-n"/>
          <p:cNvSpPr txBox="1"/>
          <p:nvPr/>
        </p:nvSpPr>
        <p:spPr>
          <a:xfrm>
            <a:off x="3149600" y="2336800"/>
            <a:ext cx="508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000" b="1">
                <a:solidFill>
                  <a:srgbClr val="B5AFAF"/>
                </a:solidFill>
                <a:latin typeface="MiSans"/>
                <a:ea typeface="MiSans"/>
              </a:rPr>
              <a:t>02</a:t>
            </a:r>
            <a:endParaRPr lang="en-US" sz="1000"/>
          </a:p>
        </p:txBody>
      </p:sp>
      <p:sp>
        <p:nvSpPr>
          <p:cNvPr id="11" name="g2-t"/>
          <p:cNvSpPr txBox="1"/>
          <p:nvPr/>
        </p:nvSpPr>
        <p:spPr>
          <a:xfrm>
            <a:off x="3149600" y="2616200"/>
            <a:ext cx="15748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1C0B0B"/>
                </a:solidFill>
                <a:latin typeface="MiSans"/>
                <a:ea typeface="MiSans"/>
              </a:rPr>
              <a:t>老板背景</a:t>
            </a:r>
            <a:endParaRPr lang="en-US" sz="1500"/>
          </a:p>
        </p:txBody>
      </p:sp>
      <p:sp>
        <p:nvSpPr>
          <p:cNvPr id="12" name="g3"/>
          <p:cNvSpPr/>
          <p:nvPr/>
        </p:nvSpPr>
        <p:spPr>
          <a:xfrm>
            <a:off x="5130800" y="2159000"/>
            <a:ext cx="1930400" cy="1524000"/>
          </a:xfrm>
          <a:prstGeom prst="rect">
            <a:avLst/>
          </a:prstGeom>
          <a:solidFill>
            <a:srgbClr val="F6F6F6"/>
          </a:solidFill>
          <a:ln>
            <a:noFill/>
          </a:ln>
        </p:spPr>
      </p:sp>
      <p:sp>
        <p:nvSpPr>
          <p:cNvPr id="13" name="g3-n"/>
          <p:cNvSpPr txBox="1"/>
          <p:nvPr/>
        </p:nvSpPr>
        <p:spPr>
          <a:xfrm>
            <a:off x="5308600" y="2336800"/>
            <a:ext cx="508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000" b="1">
                <a:solidFill>
                  <a:srgbClr val="B5AFAF"/>
                </a:solidFill>
                <a:latin typeface="MiSans"/>
                <a:ea typeface="MiSans"/>
              </a:rPr>
              <a:t>03</a:t>
            </a:r>
            <a:endParaRPr lang="en-US" sz="1000"/>
          </a:p>
        </p:txBody>
      </p:sp>
      <p:sp>
        <p:nvSpPr>
          <p:cNvPr id="14" name="g3-t"/>
          <p:cNvSpPr txBox="1"/>
          <p:nvPr/>
        </p:nvSpPr>
        <p:spPr>
          <a:xfrm>
            <a:off x="5308600" y="2616200"/>
            <a:ext cx="15748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1C0B0B"/>
                </a:solidFill>
                <a:latin typeface="MiSans"/>
                <a:ea typeface="MiSans"/>
              </a:rPr>
              <a:t>产品结构</a:t>
            </a:r>
            <a:endParaRPr lang="en-US" sz="1500"/>
          </a:p>
        </p:txBody>
      </p:sp>
      <p:sp>
        <p:nvSpPr>
          <p:cNvPr id="15" name="g4"/>
          <p:cNvSpPr/>
          <p:nvPr/>
        </p:nvSpPr>
        <p:spPr>
          <a:xfrm>
            <a:off x="7289800" y="2159000"/>
            <a:ext cx="1930400" cy="1524000"/>
          </a:xfrm>
          <a:prstGeom prst="rect">
            <a:avLst/>
          </a:prstGeom>
          <a:solidFill>
            <a:srgbClr val="F6F6F6"/>
          </a:solidFill>
          <a:ln>
            <a:noFill/>
          </a:ln>
        </p:spPr>
      </p:sp>
      <p:sp>
        <p:nvSpPr>
          <p:cNvPr id="16" name="g4-n"/>
          <p:cNvSpPr txBox="1"/>
          <p:nvPr/>
        </p:nvSpPr>
        <p:spPr>
          <a:xfrm>
            <a:off x="7467600" y="2336800"/>
            <a:ext cx="508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000" b="1">
                <a:solidFill>
                  <a:srgbClr val="B5AFAF"/>
                </a:solidFill>
                <a:latin typeface="MiSans"/>
                <a:ea typeface="MiSans"/>
              </a:rPr>
              <a:t>04</a:t>
            </a:r>
            <a:endParaRPr lang="en-US" sz="1000"/>
          </a:p>
        </p:txBody>
      </p:sp>
      <p:sp>
        <p:nvSpPr>
          <p:cNvPr id="17" name="g4-t"/>
          <p:cNvSpPr txBox="1"/>
          <p:nvPr/>
        </p:nvSpPr>
        <p:spPr>
          <a:xfrm>
            <a:off x="7467600" y="2616200"/>
            <a:ext cx="15748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1C0B0B"/>
                </a:solidFill>
                <a:latin typeface="MiSans"/>
                <a:ea typeface="MiSans"/>
              </a:rPr>
              <a:t>利润来源</a:t>
            </a:r>
            <a:endParaRPr lang="en-US" sz="1500"/>
          </a:p>
        </p:txBody>
      </p:sp>
      <p:sp>
        <p:nvSpPr>
          <p:cNvPr id="18" name="g5"/>
          <p:cNvSpPr/>
          <p:nvPr/>
        </p:nvSpPr>
        <p:spPr>
          <a:xfrm>
            <a:off x="9448800" y="2159000"/>
            <a:ext cx="1930400" cy="1524000"/>
          </a:xfrm>
          <a:prstGeom prst="rect">
            <a:avLst/>
          </a:prstGeom>
          <a:solidFill>
            <a:srgbClr val="F6F6F6"/>
          </a:solidFill>
          <a:ln>
            <a:noFill/>
          </a:ln>
        </p:spPr>
      </p:sp>
      <p:sp>
        <p:nvSpPr>
          <p:cNvPr id="19" name="g5-n"/>
          <p:cNvSpPr txBox="1"/>
          <p:nvPr/>
        </p:nvSpPr>
        <p:spPr>
          <a:xfrm>
            <a:off x="9626600" y="2336800"/>
            <a:ext cx="508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000" b="1">
                <a:solidFill>
                  <a:srgbClr val="B5AFAF"/>
                </a:solidFill>
                <a:latin typeface="MiSans"/>
                <a:ea typeface="MiSans"/>
              </a:rPr>
              <a:t>05</a:t>
            </a:r>
            <a:endParaRPr lang="en-US" sz="1000"/>
          </a:p>
        </p:txBody>
      </p:sp>
      <p:sp>
        <p:nvSpPr>
          <p:cNvPr id="20" name="g5-t"/>
          <p:cNvSpPr txBox="1"/>
          <p:nvPr/>
        </p:nvSpPr>
        <p:spPr>
          <a:xfrm>
            <a:off x="9626600" y="2616200"/>
            <a:ext cx="15748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1C0B0B"/>
                </a:solidFill>
                <a:latin typeface="MiSans"/>
                <a:ea typeface="MiSans"/>
              </a:rPr>
              <a:t>主要供应商</a:t>
            </a:r>
            <a:endParaRPr lang="en-US" sz="1500"/>
          </a:p>
        </p:txBody>
      </p:sp>
      <p:sp>
        <p:nvSpPr>
          <p:cNvPr id="21" name="g6"/>
          <p:cNvSpPr/>
          <p:nvPr/>
        </p:nvSpPr>
        <p:spPr>
          <a:xfrm>
            <a:off x="812800" y="3937000"/>
            <a:ext cx="1930400" cy="1524000"/>
          </a:xfrm>
          <a:prstGeom prst="rect">
            <a:avLst/>
          </a:prstGeom>
          <a:solidFill>
            <a:srgbClr val="F6F6F6"/>
          </a:solidFill>
          <a:ln>
            <a:noFill/>
          </a:ln>
        </p:spPr>
      </p:sp>
      <p:sp>
        <p:nvSpPr>
          <p:cNvPr id="22" name="g6-n"/>
          <p:cNvSpPr txBox="1"/>
          <p:nvPr/>
        </p:nvSpPr>
        <p:spPr>
          <a:xfrm>
            <a:off x="990600" y="4114800"/>
            <a:ext cx="508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000" b="1">
                <a:solidFill>
                  <a:srgbClr val="B5AFAF"/>
                </a:solidFill>
                <a:latin typeface="MiSans"/>
                <a:ea typeface="MiSans"/>
              </a:rPr>
              <a:t>06</a:t>
            </a:r>
            <a:endParaRPr lang="en-US" sz="1000"/>
          </a:p>
        </p:txBody>
      </p:sp>
      <p:sp>
        <p:nvSpPr>
          <p:cNvPr id="23" name="g6-t"/>
          <p:cNvSpPr txBox="1"/>
          <p:nvPr/>
        </p:nvSpPr>
        <p:spPr>
          <a:xfrm>
            <a:off x="990600" y="4394200"/>
            <a:ext cx="15748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1C0B0B"/>
                </a:solidFill>
                <a:latin typeface="MiSans"/>
                <a:ea typeface="MiSans"/>
              </a:rPr>
              <a:t>竞争优势</a:t>
            </a:r>
            <a:endParaRPr lang="en-US" sz="1500"/>
          </a:p>
        </p:txBody>
      </p:sp>
      <p:sp>
        <p:nvSpPr>
          <p:cNvPr id="24" name="g7"/>
          <p:cNvSpPr/>
          <p:nvPr/>
        </p:nvSpPr>
        <p:spPr>
          <a:xfrm>
            <a:off x="2971800" y="3937000"/>
            <a:ext cx="1930400" cy="1524000"/>
          </a:xfrm>
          <a:prstGeom prst="rect">
            <a:avLst/>
          </a:prstGeom>
          <a:solidFill>
            <a:srgbClr val="F6F6F6"/>
          </a:solidFill>
          <a:ln>
            <a:noFill/>
          </a:ln>
        </p:spPr>
      </p:sp>
      <p:sp>
        <p:nvSpPr>
          <p:cNvPr id="25" name="g7-n"/>
          <p:cNvSpPr txBox="1"/>
          <p:nvPr/>
        </p:nvSpPr>
        <p:spPr>
          <a:xfrm>
            <a:off x="3149600" y="4114800"/>
            <a:ext cx="508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000" b="1">
                <a:solidFill>
                  <a:srgbClr val="B5AFAF"/>
                </a:solidFill>
                <a:latin typeface="MiSans"/>
                <a:ea typeface="MiSans"/>
              </a:rPr>
              <a:t>07</a:t>
            </a:r>
            <a:endParaRPr lang="en-US" sz="1000"/>
          </a:p>
        </p:txBody>
      </p:sp>
      <p:sp>
        <p:nvSpPr>
          <p:cNvPr id="26" name="g7-t"/>
          <p:cNvSpPr txBox="1"/>
          <p:nvPr/>
        </p:nvSpPr>
        <p:spPr>
          <a:xfrm>
            <a:off x="3149600" y="4394200"/>
            <a:ext cx="15748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1C0B0B"/>
                </a:solidFill>
                <a:latin typeface="MiSans"/>
                <a:ea typeface="MiSans"/>
              </a:rPr>
              <a:t>未来规划</a:t>
            </a:r>
            <a:endParaRPr lang="en-US" sz="1500"/>
          </a:p>
        </p:txBody>
      </p:sp>
      <p:sp>
        <p:nvSpPr>
          <p:cNvPr id="27" name="g8"/>
          <p:cNvSpPr/>
          <p:nvPr/>
        </p:nvSpPr>
        <p:spPr>
          <a:xfrm>
            <a:off x="5130800" y="3937000"/>
            <a:ext cx="1930400" cy="1524000"/>
          </a:xfrm>
          <a:prstGeom prst="rect">
            <a:avLst/>
          </a:prstGeom>
          <a:solidFill>
            <a:srgbClr val="F6F6F6"/>
          </a:solidFill>
          <a:ln>
            <a:noFill/>
          </a:ln>
        </p:spPr>
      </p:sp>
      <p:sp>
        <p:nvSpPr>
          <p:cNvPr id="28" name="g8-n"/>
          <p:cNvSpPr txBox="1"/>
          <p:nvPr/>
        </p:nvSpPr>
        <p:spPr>
          <a:xfrm>
            <a:off x="5308600" y="4114800"/>
            <a:ext cx="508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000" b="1">
                <a:solidFill>
                  <a:srgbClr val="B5AFAF"/>
                </a:solidFill>
                <a:latin typeface="MiSans"/>
                <a:ea typeface="MiSans"/>
              </a:rPr>
              <a:t>08</a:t>
            </a:r>
            <a:endParaRPr lang="en-US" sz="1000"/>
          </a:p>
        </p:txBody>
      </p:sp>
      <p:sp>
        <p:nvSpPr>
          <p:cNvPr id="29" name="g8-t"/>
          <p:cNvSpPr txBox="1"/>
          <p:nvPr/>
        </p:nvSpPr>
        <p:spPr>
          <a:xfrm>
            <a:off x="5308600" y="4394200"/>
            <a:ext cx="15748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1C0B0B"/>
                </a:solidFill>
                <a:latin typeface="MiSans"/>
                <a:ea typeface="MiSans"/>
              </a:rPr>
              <a:t>主要风险</a:t>
            </a:r>
            <a:endParaRPr lang="en-US" sz="1500"/>
          </a:p>
        </p:txBody>
      </p:sp>
      <p:sp>
        <p:nvSpPr>
          <p:cNvPr id="30" name="g9"/>
          <p:cNvSpPr/>
          <p:nvPr/>
        </p:nvSpPr>
        <p:spPr>
          <a:xfrm>
            <a:off x="7289800" y="3937000"/>
            <a:ext cx="1930400" cy="1524000"/>
          </a:xfrm>
          <a:prstGeom prst="rect">
            <a:avLst/>
          </a:prstGeom>
          <a:solidFill>
            <a:srgbClr val="F6F6F6"/>
          </a:solidFill>
          <a:ln>
            <a:noFill/>
          </a:ln>
        </p:spPr>
      </p:sp>
      <p:sp>
        <p:nvSpPr>
          <p:cNvPr id="31" name="g9-n"/>
          <p:cNvSpPr txBox="1"/>
          <p:nvPr/>
        </p:nvSpPr>
        <p:spPr>
          <a:xfrm>
            <a:off x="7467600" y="4114800"/>
            <a:ext cx="508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000" b="1">
                <a:solidFill>
                  <a:srgbClr val="B5AFAF"/>
                </a:solidFill>
                <a:latin typeface="MiSans"/>
                <a:ea typeface="MiSans"/>
              </a:rPr>
              <a:t>09</a:t>
            </a:r>
            <a:endParaRPr lang="en-US" sz="1000"/>
          </a:p>
        </p:txBody>
      </p:sp>
      <p:sp>
        <p:nvSpPr>
          <p:cNvPr id="32" name="g9-t"/>
          <p:cNvSpPr txBox="1"/>
          <p:nvPr/>
        </p:nvSpPr>
        <p:spPr>
          <a:xfrm>
            <a:off x="7467600" y="4394200"/>
            <a:ext cx="15748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1C0B0B"/>
                </a:solidFill>
                <a:latin typeface="MiSans"/>
                <a:ea typeface="MiSans"/>
              </a:rPr>
              <a:t>行业位置</a:t>
            </a:r>
            <a:endParaRPr lang="en-US" sz="1500"/>
          </a:p>
        </p:txBody>
      </p:sp>
      <p:sp>
        <p:nvSpPr>
          <p:cNvPr id="33" name="g10"/>
          <p:cNvSpPr/>
          <p:nvPr/>
        </p:nvSpPr>
        <p:spPr>
          <a:xfrm>
            <a:off x="9448800" y="3937000"/>
            <a:ext cx="1930400" cy="1524000"/>
          </a:xfrm>
          <a:prstGeom prst="rect">
            <a:avLst/>
          </a:prstGeom>
          <a:solidFill>
            <a:srgbClr val="F6F6F6"/>
          </a:solidFill>
          <a:ln>
            <a:noFill/>
          </a:ln>
        </p:spPr>
      </p:sp>
      <p:sp>
        <p:nvSpPr>
          <p:cNvPr id="34" name="g10-n"/>
          <p:cNvSpPr txBox="1"/>
          <p:nvPr/>
        </p:nvSpPr>
        <p:spPr>
          <a:xfrm>
            <a:off x="9626600" y="4114800"/>
            <a:ext cx="508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000" b="1">
                <a:solidFill>
                  <a:srgbClr val="B5AFAF"/>
                </a:solidFill>
                <a:latin typeface="MiSans"/>
                <a:ea typeface="MiSans"/>
              </a:rPr>
              <a:t>10</a:t>
            </a:r>
            <a:endParaRPr lang="en-US" sz="1000"/>
          </a:p>
        </p:txBody>
      </p:sp>
      <p:sp>
        <p:nvSpPr>
          <p:cNvPr id="35" name="g10-t"/>
          <p:cNvSpPr txBox="1"/>
          <p:nvPr/>
        </p:nvSpPr>
        <p:spPr>
          <a:xfrm>
            <a:off x="9626600" y="4394200"/>
            <a:ext cx="15748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1C0B0B"/>
                </a:solidFill>
                <a:latin typeface="MiSans"/>
                <a:ea typeface="MiSans"/>
              </a:rPr>
              <a:t>增长方向</a:t>
            </a:r>
            <a:endParaRPr lang="en-US" sz="1500"/>
          </a:p>
        </p:txBody>
      </p:sp>
      <p:sp>
        <p:nvSpPr>
          <p:cNvPr id="36" name="bottom-note"/>
          <p:cNvSpPr txBox="1"/>
          <p:nvPr/>
        </p:nvSpPr>
        <p:spPr>
          <a:xfrm>
            <a:off x="812800" y="5740400"/>
            <a:ext cx="105664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200">
                <a:solidFill>
                  <a:srgbClr val="8C8585"/>
                </a:solidFill>
                <a:latin typeface="MiSans"/>
                <a:ea typeface="MiSans"/>
              </a:rPr>
              <a:t>画像越完整，经营越主动——要做到比客户的员工，更懂客户。</a:t>
            </a:r>
            <a:endParaRPr lang="en-US" sz="1200"/>
          </a:p>
        </p:txBody>
      </p:sp>
      <p:sp>
        <p:nvSpPr>
          <p:cNvPr id="37" name="footer-line"/>
          <p:cNvSpPr/>
          <p:nvPr/>
        </p:nvSpPr>
        <p:spPr>
          <a:xfrm>
            <a:off x="812800" y="6400800"/>
            <a:ext cx="10566400" cy="12700"/>
          </a:xfrm>
          <a:prstGeom prst="rect">
            <a:avLst/>
          </a:prstGeom>
          <a:solidFill>
            <a:srgbClr val="E7E6E6"/>
          </a:solidFill>
          <a:ln>
            <a:noFill/>
          </a:ln>
        </p:spPr>
      </p:sp>
      <p:sp>
        <p:nvSpPr>
          <p:cNvPr id="38" name="footer-left"/>
          <p:cNvSpPr txBox="1"/>
          <p:nvPr/>
        </p:nvSpPr>
        <p:spPr>
          <a:xfrm>
            <a:off x="812800" y="65024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900">
                <a:solidFill>
                  <a:srgbClr val="B5AFAF"/>
                </a:solidFill>
                <a:latin typeface="MiSans"/>
                <a:ea typeface="MiSans"/>
              </a:rPr>
              <a:t>第三课 · 客户经营 ｜ 企业商学院</a:t>
            </a:r>
            <a:endParaRPr lang="en-US" sz="900"/>
          </a:p>
        </p:txBody>
      </p:sp>
      <p:sp>
        <p:nvSpPr>
          <p:cNvPr id="39" name="footer-page"/>
          <p:cNvSpPr txBox="1"/>
          <p:nvPr/>
        </p:nvSpPr>
        <p:spPr>
          <a:xfrm>
            <a:off x="10109200" y="65024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20000"/>
              </a:lnSpc>
            </a:pPr>
            <a:r>
              <a:rPr lang="en-US" sz="900">
                <a:solidFill>
                  <a:srgbClr val="B5AFAF"/>
                </a:solidFill>
                <a:latin typeface="MiSans"/>
                <a:ea typeface="MiSans"/>
              </a:rPr>
              <a:t>10</a:t>
            </a:r>
            <a:endParaRPr lang="en-US" sz="900"/>
          </a:p>
        </p:txBody>
      </p:sp>
    </p:spTree>
  </p:cSld>
  <p:clrMapOvr>
    <a:masterClrMapping/>
  </p:clrMapOvr>
  <p:transition spd="fast" advClick="1">
    <p:checker dir="horz"/>
  </p:transition>
</p:sld>
</file>

<file path=ppt/slides/slide11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508000"/>
            <a:ext cx="762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000" spc="300" kern="0">
                <a:solidFill>
                  <a:srgbClr val="8C8585"/>
                </a:solidFill>
                <a:latin typeface="MiSans"/>
                <a:ea typeface="MiSans"/>
              </a:rPr>
              <a:t>组织地图</a:t>
            </a:r>
            <a:endParaRPr lang="en-US" sz="1000"/>
          </a:p>
        </p:txBody>
      </p:sp>
      <p:sp>
        <p:nvSpPr>
          <p:cNvPr id="3" name="title"/>
          <p:cNvSpPr txBox="1"/>
          <p:nvPr/>
        </p:nvSpPr>
        <p:spPr>
          <a:xfrm>
            <a:off x="812800" y="762000"/>
            <a:ext cx="10160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2600" b="1">
                <a:solidFill>
                  <a:srgbClr val="1C0B0B"/>
                </a:solidFill>
                <a:latin typeface="MiSans"/>
                <a:ea typeface="MiSans"/>
              </a:rPr>
              <a:t>客户地图：不要只认识采购</a:t>
            </a:r>
            <a:endParaRPr lang="en-US" sz="2600"/>
          </a:p>
        </p:txBody>
      </p:sp>
      <p:sp>
        <p:nvSpPr>
          <p:cNvPr id="4" name="caption"/>
          <p:cNvSpPr txBox="1"/>
          <p:nvPr/>
        </p:nvSpPr>
        <p:spPr>
          <a:xfrm>
            <a:off x="812800" y="1295400"/>
            <a:ext cx="1016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200">
                <a:solidFill>
                  <a:srgbClr val="8C8585"/>
                </a:solidFill>
                <a:latin typeface="MiSans"/>
                <a:ea typeface="MiSans"/>
              </a:rPr>
              <a:t>只有真正进入客户的组织，合作才会稳定</a:t>
            </a:r>
            <a:endParaRPr lang="en-US" sz="1200"/>
          </a:p>
        </p:txBody>
      </p:sp>
      <p:sp>
        <p:nvSpPr>
          <p:cNvPr id="5" name="title-line"/>
          <p:cNvSpPr/>
          <p:nvPr/>
        </p:nvSpPr>
        <p:spPr>
          <a:xfrm>
            <a:off x="812800" y="1676400"/>
            <a:ext cx="10566400" cy="12700"/>
          </a:xfrm>
          <a:prstGeom prst="rect">
            <a:avLst/>
          </a:prstGeom>
          <a:solidFill>
            <a:srgbClr val="E7E6E6"/>
          </a:solidFill>
          <a:ln>
            <a:noFill/>
          </a:ln>
        </p:spPr>
      </p:sp>
      <p:sp>
        <p:nvSpPr>
          <p:cNvPr id="6" name="left-label"/>
          <p:cNvSpPr txBox="1"/>
          <p:nvPr/>
        </p:nvSpPr>
        <p:spPr>
          <a:xfrm>
            <a:off x="812800" y="2006600"/>
            <a:ext cx="3302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100" spc="200" kern="0">
                <a:solidFill>
                  <a:srgbClr val="8C8585"/>
                </a:solidFill>
                <a:latin typeface="MiSans"/>
                <a:ea typeface="MiSans"/>
              </a:rPr>
              <a:t>大多数销售的现状</a:t>
            </a:r>
            <a:endParaRPr lang="en-US" sz="1100"/>
          </a:p>
        </p:txBody>
      </p:sp>
      <p:sp>
        <p:nvSpPr>
          <p:cNvPr id="7" name="left-big"/>
          <p:cNvSpPr txBox="1"/>
          <p:nvPr/>
        </p:nvSpPr>
        <p:spPr>
          <a:xfrm>
            <a:off x="812800" y="2311400"/>
            <a:ext cx="3429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200" b="1">
                <a:solidFill>
                  <a:srgbClr val="1C0B0B"/>
                </a:solidFill>
                <a:latin typeface="MiSans"/>
                <a:ea typeface="MiSans"/>
              </a:rPr>
              <a:t>只认识采购</a:t>
            </a:r>
            <a:endParaRPr lang="en-US" sz="2200"/>
          </a:p>
        </p:txBody>
      </p:sp>
      <p:sp>
        <p:nvSpPr>
          <p:cNvPr id="8" name="left-desc"/>
          <p:cNvSpPr txBox="1"/>
          <p:nvPr/>
        </p:nvSpPr>
        <p:spPr>
          <a:xfrm>
            <a:off x="812800" y="2870200"/>
            <a:ext cx="3429000" cy="101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200">
                <a:solidFill>
                  <a:srgbClr val="8C8585"/>
                </a:solidFill>
                <a:latin typeface="MiSans"/>
                <a:ea typeface="MiSans"/>
              </a:rPr>
              <a:t>采购换人，合作归零；采购压价，只能接招。单点关系，撑不起长期合作。</a:t>
            </a:r>
            <a:endParaRPr lang="en-US" sz="1200"/>
          </a:p>
        </p:txBody>
      </p:sp>
      <p:sp>
        <p:nvSpPr>
          <p:cNvPr id="9" name="left-red"/>
          <p:cNvSpPr txBox="1"/>
          <p:nvPr/>
        </p:nvSpPr>
        <p:spPr>
          <a:xfrm>
            <a:off x="812800" y="4089400"/>
            <a:ext cx="3429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600" b="1">
                <a:solidFill>
                  <a:srgbClr val="FF4D4D"/>
                </a:solidFill>
                <a:latin typeface="MiSans"/>
                <a:ea typeface="MiSans"/>
              </a:rPr>
              <a:t>要进入整个组织</a:t>
            </a:r>
            <a:endParaRPr lang="en-US" sz="1600"/>
          </a:p>
        </p:txBody>
      </p:sp>
      <p:sp>
        <p:nvSpPr>
          <p:cNvPr id="10" name="link-b1"/>
          <p:cNvSpPr/>
          <p:nvPr>
            <p:extLst>
              <p:ext uri="{F5677B7D-0D2A-4D9B-9A5C-6D8D7D0E5A5D}">
                <pptd:line encoding="base64url">eyJ2aWV3Qm94IjpbMjEzLDUwXSwicG9pbnRzIjoiMjEzLDAgMCw1MCIsImN1cnZlIjoic2hhcnAifQ</pptd:line>
              </p:ext>
            </p:extLst>
          </p:nvPr>
        </p:nvSpPr>
        <p:spPr>
          <a:xfrm>
            <a:off x="5778500" y="2540000"/>
            <a:ext cx="2705100" cy="635000"/>
          </a:xfrm>
          <a:custGeom>
            <a:avLst/>
            <a:gdLst/>
            <a:ahLst/>
            <a:cxnLst/>
            <a:rect l="l" t="t" r="r" b="b"/>
            <a:pathLst>
              <a:path w="213" h="50">
                <a:moveTo>
                  <a:pt x="213" y="0"/>
                </a:moveTo>
                <a:lnTo>
                  <a:pt x="0" y="50"/>
                </a:lnTo>
              </a:path>
            </a:pathLst>
          </a:custGeom>
          <a:noFill/>
          <a:ln w="12700">
            <a:solidFill>
              <a:srgbClr val="C1C1C1"/>
            </a:solidFill>
          </a:ln>
        </p:spPr>
      </p:sp>
      <p:sp>
        <p:nvSpPr>
          <p:cNvPr id="11" name="link-b2"/>
          <p:cNvSpPr/>
          <p:nvPr>
            <p:extLst>
              <p:ext uri="{F5677B7D-0D2A-4D9B-9A5C-6D8D7D0E5A5D}">
                <pptd:line encoding="base64url">eyJ2aWV3Qm94IjpbMiw1MF0sInBvaW50cyI6IjEsMCAxLDUwIiwiY3VydmUiOiJzaGFycCJ9</pptd:line>
              </p:ext>
            </p:extLst>
          </p:nvPr>
        </p:nvSpPr>
        <p:spPr>
          <a:xfrm>
            <a:off x="8470900" y="2540000"/>
            <a:ext cx="25400" cy="635000"/>
          </a:xfrm>
          <a:custGeom>
            <a:avLst/>
            <a:gdLst/>
            <a:ahLst/>
            <a:cxnLst/>
            <a:rect l="l" t="t" r="r" b="b"/>
            <a:pathLst>
              <a:path w="2" h="50">
                <a:moveTo>
                  <a:pt x="1" y="0"/>
                </a:moveTo>
                <a:lnTo>
                  <a:pt x="1" y="50"/>
                </a:lnTo>
              </a:path>
            </a:pathLst>
          </a:custGeom>
          <a:noFill/>
          <a:ln w="12700">
            <a:solidFill>
              <a:srgbClr val="C1C1C1"/>
            </a:solidFill>
          </a:ln>
        </p:spPr>
      </p:sp>
      <p:sp>
        <p:nvSpPr>
          <p:cNvPr id="12" name="link-b3"/>
          <p:cNvSpPr/>
          <p:nvPr>
            <p:extLst>
              <p:ext uri="{F5677B7D-0D2A-4D9B-9A5C-6D8D7D0E5A5D}">
                <pptd:line encoding="base64url">eyJ2aWV3Qm94IjpbMTUzLDUwXSwicG9pbnRzIjoiMCwwIDE1Myw1MCIsImN1cnZlIjoic2hhcnAifQ</pptd:line>
              </p:ext>
            </p:extLst>
          </p:nvPr>
        </p:nvSpPr>
        <p:spPr>
          <a:xfrm>
            <a:off x="8483600" y="2540000"/>
            <a:ext cx="1943100" cy="635000"/>
          </a:xfrm>
          <a:custGeom>
            <a:avLst/>
            <a:gdLst/>
            <a:ahLst/>
            <a:cxnLst/>
            <a:rect l="l" t="t" r="r" b="b"/>
            <a:pathLst>
              <a:path w="153" h="50">
                <a:moveTo>
                  <a:pt x="0" y="0"/>
                </a:moveTo>
                <a:lnTo>
                  <a:pt x="153" y="50"/>
                </a:lnTo>
              </a:path>
            </a:pathLst>
          </a:custGeom>
          <a:noFill/>
          <a:ln w="12700">
            <a:solidFill>
              <a:srgbClr val="C1C1C1"/>
            </a:solidFill>
          </a:ln>
        </p:spPr>
      </p:sp>
      <p:sp>
        <p:nvSpPr>
          <p:cNvPr id="13" name="link-c1"/>
          <p:cNvSpPr/>
          <p:nvPr>
            <p:extLst>
              <p:ext uri="{F5677B7D-0D2A-4D9B-9A5C-6D8D7D0E5A5D}">
                <pptd:line encoding="base64url">eyJ2aWV3Qm94IjpbMjEzLDEzNF0sInBvaW50cyI6IjIxMywwIDAsMTM0IiwiY3VydmUiOiJzaGFycCJ9</pptd:line>
              </p:ext>
            </p:extLst>
          </p:nvPr>
        </p:nvSpPr>
        <p:spPr>
          <a:xfrm>
            <a:off x="5778500" y="2540000"/>
            <a:ext cx="2705100" cy="1701800"/>
          </a:xfrm>
          <a:custGeom>
            <a:avLst/>
            <a:gdLst/>
            <a:ahLst/>
            <a:cxnLst/>
            <a:rect l="l" t="t" r="r" b="b"/>
            <a:pathLst>
              <a:path w="213" h="134">
                <a:moveTo>
                  <a:pt x="213" y="0"/>
                </a:moveTo>
                <a:lnTo>
                  <a:pt x="0" y="134"/>
                </a:lnTo>
              </a:path>
            </a:pathLst>
          </a:custGeom>
          <a:noFill/>
          <a:ln w="12700">
            <a:solidFill>
              <a:srgbClr val="C1C1C1"/>
            </a:solidFill>
          </a:ln>
        </p:spPr>
      </p:sp>
      <p:sp>
        <p:nvSpPr>
          <p:cNvPr id="14" name="link-c2"/>
          <p:cNvSpPr/>
          <p:nvPr>
            <p:extLst>
              <p:ext uri="{F5677B7D-0D2A-4D9B-9A5C-6D8D7D0E5A5D}">
                <pptd:line encoding="base64url">eyJ2aWV3Qm94IjpbMiwxMzRdLCJwb2ludHMiOiIxLDAgMSwxMzQiLCJjdXJ2ZSI6InNoYXJwIn0</pptd:line>
              </p:ext>
            </p:extLst>
          </p:nvPr>
        </p:nvSpPr>
        <p:spPr>
          <a:xfrm>
            <a:off x="8470900" y="2540000"/>
            <a:ext cx="25400" cy="1701800"/>
          </a:xfrm>
          <a:custGeom>
            <a:avLst/>
            <a:gdLst/>
            <a:ahLst/>
            <a:cxnLst/>
            <a:rect l="l" t="t" r="r" b="b"/>
            <a:pathLst>
              <a:path w="2" h="134">
                <a:moveTo>
                  <a:pt x="1" y="0"/>
                </a:moveTo>
                <a:lnTo>
                  <a:pt x="1" y="134"/>
                </a:lnTo>
              </a:path>
            </a:pathLst>
          </a:custGeom>
          <a:noFill/>
          <a:ln w="12700">
            <a:solidFill>
              <a:srgbClr val="C1C1C1"/>
            </a:solidFill>
          </a:ln>
        </p:spPr>
      </p:sp>
      <p:sp>
        <p:nvSpPr>
          <p:cNvPr id="15" name="link-c3"/>
          <p:cNvSpPr/>
          <p:nvPr>
            <p:extLst>
              <p:ext uri="{F5677B7D-0D2A-4D9B-9A5C-6D8D7D0E5A5D}">
                <pptd:line encoding="base64url">eyJ2aWV3Qm94IjpbMTUzLDEzNF0sInBvaW50cyI6IjAsMCAxNTMsMTM0IiwiY3VydmUiOiJzaGFycCJ9</pptd:line>
              </p:ext>
            </p:extLst>
          </p:nvPr>
        </p:nvSpPr>
        <p:spPr>
          <a:xfrm>
            <a:off x="8483600" y="2540000"/>
            <a:ext cx="1943100" cy="1701800"/>
          </a:xfrm>
          <a:custGeom>
            <a:avLst/>
            <a:gdLst/>
            <a:ahLst/>
            <a:cxnLst/>
            <a:rect l="l" t="t" r="r" b="b"/>
            <a:pathLst>
              <a:path w="153" h="134">
                <a:moveTo>
                  <a:pt x="0" y="0"/>
                </a:moveTo>
                <a:lnTo>
                  <a:pt x="153" y="134"/>
                </a:lnTo>
              </a:path>
            </a:pathLst>
          </a:custGeom>
          <a:noFill/>
          <a:ln w="12700">
            <a:solidFill>
              <a:srgbClr val="C1C1C1"/>
            </a:solidFill>
          </a:ln>
        </p:spPr>
      </p:sp>
      <p:sp>
        <p:nvSpPr>
          <p:cNvPr id="16" name="boss-node"/>
          <p:cNvSpPr/>
          <p:nvPr/>
        </p:nvSpPr>
        <p:spPr>
          <a:xfrm>
            <a:off x="7721600" y="2006600"/>
            <a:ext cx="1524000" cy="533400"/>
          </a:xfrm>
          <a:prstGeom prst="rect">
            <a:avLst/>
          </a:prstGeom>
          <a:solidFill>
            <a:srgbClr val="FF4D4D"/>
          </a:solidFill>
          <a:ln>
            <a:noFill/>
          </a:ln>
        </p:spPr>
      </p:sp>
      <p:sp>
        <p:nvSpPr>
          <p:cNvPr id="17" name="boss-text"/>
          <p:cNvSpPr txBox="1"/>
          <p:nvPr/>
        </p:nvSpPr>
        <p:spPr>
          <a:xfrm>
            <a:off x="7721600" y="2006600"/>
            <a:ext cx="15240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500" b="1">
                <a:solidFill>
                  <a:srgbClr val="FFFFFF"/>
                </a:solidFill>
                <a:latin typeface="MiSans"/>
                <a:ea typeface="MiSans"/>
              </a:rPr>
              <a:t>老板</a:t>
            </a:r>
            <a:endParaRPr lang="en-US" sz="1500"/>
          </a:p>
        </p:txBody>
      </p:sp>
      <p:sp>
        <p:nvSpPr>
          <p:cNvPr id="18" name="n1"/>
          <p:cNvSpPr/>
          <p:nvPr/>
        </p:nvSpPr>
        <p:spPr>
          <a:xfrm>
            <a:off x="4826000" y="3175000"/>
            <a:ext cx="1905000" cy="50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8C8585"/>
            </a:solidFill>
            <a:prstDash val="dash"/>
          </a:ln>
        </p:spPr>
      </p:sp>
      <p:sp>
        <p:nvSpPr>
          <p:cNvPr id="19" name="n1-t"/>
          <p:cNvSpPr txBox="1"/>
          <p:nvPr/>
        </p:nvSpPr>
        <p:spPr>
          <a:xfrm>
            <a:off x="4826000" y="3175000"/>
            <a:ext cx="1905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300">
                <a:solidFill>
                  <a:srgbClr val="1C0B0B"/>
                </a:solidFill>
                <a:latin typeface="MiSans"/>
                <a:ea typeface="MiSans"/>
              </a:rPr>
              <a:t>采购</a:t>
            </a:r>
            <a:endParaRPr lang="en-US" sz="1300"/>
          </a:p>
        </p:txBody>
      </p:sp>
      <p:sp>
        <p:nvSpPr>
          <p:cNvPr id="20" name="n2"/>
          <p:cNvSpPr/>
          <p:nvPr/>
        </p:nvSpPr>
        <p:spPr>
          <a:xfrm>
            <a:off x="7150100" y="3175000"/>
            <a:ext cx="1905000" cy="508000"/>
          </a:xfrm>
          <a:prstGeom prst="rect">
            <a:avLst/>
          </a:prstGeom>
          <a:solidFill>
            <a:srgbClr val="F6F6F6"/>
          </a:solidFill>
          <a:ln>
            <a:noFill/>
          </a:ln>
        </p:spPr>
      </p:sp>
      <p:sp>
        <p:nvSpPr>
          <p:cNvPr id="21" name="n2-t"/>
          <p:cNvSpPr txBox="1"/>
          <p:nvPr/>
        </p:nvSpPr>
        <p:spPr>
          <a:xfrm>
            <a:off x="7150100" y="3175000"/>
            <a:ext cx="1905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300">
                <a:solidFill>
                  <a:srgbClr val="1C0B0B"/>
                </a:solidFill>
                <a:latin typeface="MiSans"/>
                <a:ea typeface="MiSans"/>
              </a:rPr>
              <a:t>研发</a:t>
            </a:r>
            <a:endParaRPr lang="en-US" sz="1300"/>
          </a:p>
        </p:txBody>
      </p:sp>
      <p:sp>
        <p:nvSpPr>
          <p:cNvPr id="22" name="n3"/>
          <p:cNvSpPr/>
          <p:nvPr/>
        </p:nvSpPr>
        <p:spPr>
          <a:xfrm>
            <a:off x="9474200" y="3175000"/>
            <a:ext cx="1905000" cy="508000"/>
          </a:xfrm>
          <a:prstGeom prst="rect">
            <a:avLst/>
          </a:prstGeom>
          <a:solidFill>
            <a:srgbClr val="F6F6F6"/>
          </a:solidFill>
          <a:ln>
            <a:noFill/>
          </a:ln>
        </p:spPr>
      </p:sp>
      <p:sp>
        <p:nvSpPr>
          <p:cNvPr id="23" name="n3-t"/>
          <p:cNvSpPr txBox="1"/>
          <p:nvPr/>
        </p:nvSpPr>
        <p:spPr>
          <a:xfrm>
            <a:off x="9474200" y="3175000"/>
            <a:ext cx="1905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300">
                <a:solidFill>
                  <a:srgbClr val="1C0B0B"/>
                </a:solidFill>
                <a:latin typeface="MiSans"/>
                <a:ea typeface="MiSans"/>
              </a:rPr>
              <a:t>生产</a:t>
            </a:r>
            <a:endParaRPr lang="en-US" sz="1300"/>
          </a:p>
        </p:txBody>
      </p:sp>
      <p:sp>
        <p:nvSpPr>
          <p:cNvPr id="24" name="n4"/>
          <p:cNvSpPr/>
          <p:nvPr/>
        </p:nvSpPr>
        <p:spPr>
          <a:xfrm>
            <a:off x="4826000" y="4241800"/>
            <a:ext cx="1905000" cy="508000"/>
          </a:xfrm>
          <a:prstGeom prst="rect">
            <a:avLst/>
          </a:prstGeom>
          <a:solidFill>
            <a:srgbClr val="F6F6F6"/>
          </a:solidFill>
          <a:ln>
            <a:noFill/>
          </a:ln>
        </p:spPr>
      </p:sp>
      <p:sp>
        <p:nvSpPr>
          <p:cNvPr id="25" name="n4-t"/>
          <p:cNvSpPr txBox="1"/>
          <p:nvPr/>
        </p:nvSpPr>
        <p:spPr>
          <a:xfrm>
            <a:off x="4826000" y="4241800"/>
            <a:ext cx="1905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300">
                <a:solidFill>
                  <a:srgbClr val="1C0B0B"/>
                </a:solidFill>
                <a:latin typeface="MiSans"/>
                <a:ea typeface="MiSans"/>
              </a:rPr>
              <a:t>品质</a:t>
            </a:r>
            <a:endParaRPr lang="en-US" sz="1300"/>
          </a:p>
        </p:txBody>
      </p:sp>
      <p:sp>
        <p:nvSpPr>
          <p:cNvPr id="26" name="n5"/>
          <p:cNvSpPr/>
          <p:nvPr/>
        </p:nvSpPr>
        <p:spPr>
          <a:xfrm>
            <a:off x="7150100" y="4241800"/>
            <a:ext cx="1905000" cy="508000"/>
          </a:xfrm>
          <a:prstGeom prst="rect">
            <a:avLst/>
          </a:prstGeom>
          <a:solidFill>
            <a:srgbClr val="F6F6F6"/>
          </a:solidFill>
          <a:ln>
            <a:noFill/>
          </a:ln>
        </p:spPr>
      </p:sp>
      <p:sp>
        <p:nvSpPr>
          <p:cNvPr id="27" name="n5-t"/>
          <p:cNvSpPr txBox="1"/>
          <p:nvPr/>
        </p:nvSpPr>
        <p:spPr>
          <a:xfrm>
            <a:off x="7150100" y="4241800"/>
            <a:ext cx="1905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300">
                <a:solidFill>
                  <a:srgbClr val="1C0B0B"/>
                </a:solidFill>
                <a:latin typeface="MiSans"/>
                <a:ea typeface="MiSans"/>
              </a:rPr>
              <a:t>财务</a:t>
            </a:r>
            <a:endParaRPr lang="en-US" sz="1300"/>
          </a:p>
        </p:txBody>
      </p:sp>
      <p:sp>
        <p:nvSpPr>
          <p:cNvPr id="28" name="n6"/>
          <p:cNvSpPr/>
          <p:nvPr/>
        </p:nvSpPr>
        <p:spPr>
          <a:xfrm>
            <a:off x="9474200" y="4241800"/>
            <a:ext cx="1905000" cy="508000"/>
          </a:xfrm>
          <a:prstGeom prst="rect">
            <a:avLst/>
          </a:prstGeom>
          <a:solidFill>
            <a:srgbClr val="F6F6F6"/>
          </a:solidFill>
          <a:ln>
            <a:noFill/>
          </a:ln>
        </p:spPr>
      </p:sp>
      <p:sp>
        <p:nvSpPr>
          <p:cNvPr id="29" name="n6-t"/>
          <p:cNvSpPr txBox="1"/>
          <p:nvPr/>
        </p:nvSpPr>
        <p:spPr>
          <a:xfrm>
            <a:off x="9474200" y="4241800"/>
            <a:ext cx="1905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300">
                <a:solidFill>
                  <a:srgbClr val="1C0B0B"/>
                </a:solidFill>
                <a:latin typeface="MiSans"/>
                <a:ea typeface="MiSans"/>
              </a:rPr>
              <a:t>供应链负责人</a:t>
            </a:r>
            <a:endParaRPr lang="en-US" sz="1300"/>
          </a:p>
        </p:txBody>
      </p:sp>
      <p:sp>
        <p:nvSpPr>
          <p:cNvPr id="30" name="map-note"/>
          <p:cNvSpPr txBox="1"/>
          <p:nvPr/>
        </p:nvSpPr>
        <p:spPr>
          <a:xfrm>
            <a:off x="4826000" y="5003800"/>
            <a:ext cx="65532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050">
                <a:solidFill>
                  <a:srgbClr val="8C8585"/>
                </a:solidFill>
                <a:latin typeface="MiSans"/>
                <a:ea typeface="MiSans"/>
              </a:rPr>
              <a:t>虚线框：大多数销售只停留在“采购”——采购一变动，合作就归零。</a:t>
            </a:r>
            <a:endParaRPr lang="en-US" sz="1050"/>
          </a:p>
        </p:txBody>
      </p:sp>
      <p:sp>
        <p:nvSpPr>
          <p:cNvPr id="31" name="bottom-note"/>
          <p:cNvSpPr txBox="1"/>
          <p:nvPr/>
        </p:nvSpPr>
        <p:spPr>
          <a:xfrm>
            <a:off x="812800" y="5740400"/>
            <a:ext cx="105664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200">
                <a:solidFill>
                  <a:srgbClr val="8C8585"/>
                </a:solidFill>
                <a:latin typeface="MiSans"/>
                <a:ea typeface="MiSans"/>
              </a:rPr>
              <a:t>认识的层级越高、面越广，合作越稳定。</a:t>
            </a:r>
            <a:endParaRPr lang="en-US" sz="1200"/>
          </a:p>
        </p:txBody>
      </p:sp>
      <p:sp>
        <p:nvSpPr>
          <p:cNvPr id="32" name="footer-line"/>
          <p:cNvSpPr/>
          <p:nvPr/>
        </p:nvSpPr>
        <p:spPr>
          <a:xfrm>
            <a:off x="812800" y="6400800"/>
            <a:ext cx="10566400" cy="12700"/>
          </a:xfrm>
          <a:prstGeom prst="rect">
            <a:avLst/>
          </a:prstGeom>
          <a:solidFill>
            <a:srgbClr val="E7E6E6"/>
          </a:solidFill>
          <a:ln>
            <a:noFill/>
          </a:ln>
        </p:spPr>
      </p:sp>
      <p:sp>
        <p:nvSpPr>
          <p:cNvPr id="33" name="footer-left"/>
          <p:cNvSpPr txBox="1"/>
          <p:nvPr/>
        </p:nvSpPr>
        <p:spPr>
          <a:xfrm>
            <a:off x="812800" y="65024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900">
                <a:solidFill>
                  <a:srgbClr val="B5AFAF"/>
                </a:solidFill>
                <a:latin typeface="MiSans"/>
                <a:ea typeface="MiSans"/>
              </a:rPr>
              <a:t>第三课 · 客户经营 ｜ 企业商学院</a:t>
            </a:r>
            <a:endParaRPr lang="en-US" sz="900"/>
          </a:p>
        </p:txBody>
      </p:sp>
      <p:sp>
        <p:nvSpPr>
          <p:cNvPr id="34" name="footer-page"/>
          <p:cNvSpPr txBox="1"/>
          <p:nvPr/>
        </p:nvSpPr>
        <p:spPr>
          <a:xfrm>
            <a:off x="10109200" y="65024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20000"/>
              </a:lnSpc>
            </a:pPr>
            <a:r>
              <a:rPr lang="en-US" sz="900">
                <a:solidFill>
                  <a:srgbClr val="B5AFAF"/>
                </a:solidFill>
                <a:latin typeface="MiSans"/>
                <a:ea typeface="MiSans"/>
              </a:rPr>
              <a:t>11</a:t>
            </a:r>
            <a:endParaRPr lang="en-US" sz="900"/>
          </a:p>
        </p:txBody>
      </p:sp>
    </p:spTree>
  </p:cSld>
  <p:clrMapOvr>
    <a:masterClrMapping/>
  </p:clrMapOvr>
  <p:transition spd="fast" advClick="1">
    <p:checker dir="horz"/>
  </p:transition>
</p:sld>
</file>

<file path=ppt/slides/slide12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508000"/>
            <a:ext cx="762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000" spc="300" kern="0">
                <a:solidFill>
                  <a:srgbClr val="8C8585"/>
                </a:solidFill>
                <a:latin typeface="MiSans"/>
                <a:ea typeface="MiSans"/>
              </a:rPr>
              <a:t>主动经营</a:t>
            </a:r>
            <a:endParaRPr lang="en-US" sz="1000"/>
          </a:p>
        </p:txBody>
      </p:sp>
      <p:sp>
        <p:nvSpPr>
          <p:cNvPr id="3" name="title"/>
          <p:cNvSpPr txBox="1"/>
          <p:nvPr/>
        </p:nvSpPr>
        <p:spPr>
          <a:xfrm>
            <a:off x="812800" y="762000"/>
            <a:ext cx="10160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2600" b="1">
                <a:solidFill>
                  <a:srgbClr val="1C0B0B"/>
                </a:solidFill>
                <a:latin typeface="MiSans"/>
                <a:ea typeface="MiSans"/>
              </a:rPr>
              <a:t>经营客户，不是等询盘</a:t>
            </a:r>
            <a:endParaRPr lang="en-US" sz="2600"/>
          </a:p>
        </p:txBody>
      </p:sp>
      <p:sp>
        <p:nvSpPr>
          <p:cNvPr id="4" name="caption"/>
          <p:cNvSpPr txBox="1"/>
          <p:nvPr/>
        </p:nvSpPr>
        <p:spPr>
          <a:xfrm>
            <a:off x="812800" y="1295400"/>
            <a:ext cx="1016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200">
                <a:solidFill>
                  <a:srgbClr val="8C8585"/>
                </a:solidFill>
                <a:latin typeface="MiSans"/>
                <a:ea typeface="MiSans"/>
              </a:rPr>
              <a:t>优秀销售不等需求出现，而是主动创造需求</a:t>
            </a:r>
            <a:endParaRPr lang="en-US" sz="1200"/>
          </a:p>
        </p:txBody>
      </p:sp>
      <p:sp>
        <p:nvSpPr>
          <p:cNvPr id="5" name="title-line"/>
          <p:cNvSpPr/>
          <p:nvPr/>
        </p:nvSpPr>
        <p:spPr>
          <a:xfrm>
            <a:off x="812800" y="1676400"/>
            <a:ext cx="10566400" cy="12700"/>
          </a:xfrm>
          <a:prstGeom prst="rect">
            <a:avLst/>
          </a:prstGeom>
          <a:solidFill>
            <a:srgbClr val="E7E6E6"/>
          </a:solidFill>
          <a:ln>
            <a:noFill/>
          </a:ln>
        </p:spPr>
      </p:sp>
      <p:sp>
        <p:nvSpPr>
          <p:cNvPr id="6" name="p1"/>
          <p:cNvSpPr/>
          <p:nvPr/>
        </p:nvSpPr>
        <p:spPr>
          <a:xfrm>
            <a:off x="812800" y="2095500"/>
            <a:ext cx="2413000" cy="457200"/>
          </a:xfrm>
          <a:prstGeom prst="roundRect">
            <a:avLst>
              <a:gd name="adj" fmla="val 50000"/>
            </a:avLst>
          </a:prstGeom>
          <a:solidFill>
            <a:srgbClr val="1C0B0B"/>
          </a:solidFill>
          <a:ln>
            <a:noFill/>
          </a:ln>
        </p:spPr>
      </p:sp>
      <p:sp>
        <p:nvSpPr>
          <p:cNvPr id="7" name="p1-t"/>
          <p:cNvSpPr txBox="1"/>
          <p:nvPr/>
        </p:nvSpPr>
        <p:spPr>
          <a:xfrm>
            <a:off x="812800" y="2095500"/>
            <a:ext cx="2413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300" b="1">
                <a:solidFill>
                  <a:srgbClr val="FFFFFF"/>
                </a:solidFill>
                <a:latin typeface="MiSans"/>
                <a:ea typeface="MiSans"/>
              </a:rPr>
              <a:t>新品建议</a:t>
            </a:r>
            <a:endParaRPr lang="en-US" sz="1300"/>
          </a:p>
        </p:txBody>
      </p:sp>
      <p:sp>
        <p:nvSpPr>
          <p:cNvPr id="8" name="p1-g"/>
          <p:cNvSpPr txBox="1"/>
          <p:nvPr/>
        </p:nvSpPr>
        <p:spPr>
          <a:xfrm>
            <a:off x="3454400" y="2209800"/>
            <a:ext cx="431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100">
                <a:solidFill>
                  <a:srgbClr val="8C8585"/>
                </a:solidFill>
                <a:latin typeface="MiSans"/>
                <a:ea typeface="MiSans"/>
              </a:rPr>
              <a:t>用品类眼光，帮客户发现下一个机会</a:t>
            </a:r>
            <a:endParaRPr lang="en-US" sz="1100"/>
          </a:p>
        </p:txBody>
      </p:sp>
      <p:sp>
        <p:nvSpPr>
          <p:cNvPr id="9" name="p2"/>
          <p:cNvSpPr/>
          <p:nvPr/>
        </p:nvSpPr>
        <p:spPr>
          <a:xfrm>
            <a:off x="812800" y="2781300"/>
            <a:ext cx="2413000" cy="457200"/>
          </a:xfrm>
          <a:prstGeom prst="roundRect">
            <a:avLst>
              <a:gd name="adj" fmla="val 50000"/>
            </a:avLst>
          </a:prstGeom>
          <a:solidFill>
            <a:srgbClr val="1C0B0B"/>
          </a:solidFill>
          <a:ln>
            <a:noFill/>
          </a:ln>
        </p:spPr>
      </p:sp>
      <p:sp>
        <p:nvSpPr>
          <p:cNvPr id="10" name="p2-t"/>
          <p:cNvSpPr txBox="1"/>
          <p:nvPr/>
        </p:nvSpPr>
        <p:spPr>
          <a:xfrm>
            <a:off x="812800" y="2781300"/>
            <a:ext cx="2413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300" b="1">
                <a:solidFill>
                  <a:srgbClr val="FFFFFF"/>
                </a:solidFill>
                <a:latin typeface="MiSans"/>
                <a:ea typeface="MiSans"/>
              </a:rPr>
              <a:t>成本优化</a:t>
            </a:r>
            <a:endParaRPr lang="en-US" sz="1300"/>
          </a:p>
        </p:txBody>
      </p:sp>
      <p:sp>
        <p:nvSpPr>
          <p:cNvPr id="11" name="p2-g"/>
          <p:cNvSpPr txBox="1"/>
          <p:nvPr/>
        </p:nvSpPr>
        <p:spPr>
          <a:xfrm>
            <a:off x="3454400" y="2895600"/>
            <a:ext cx="431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100">
                <a:solidFill>
                  <a:srgbClr val="8C8585"/>
                </a:solidFill>
                <a:latin typeface="MiSans"/>
                <a:ea typeface="MiSans"/>
              </a:rPr>
              <a:t>主动帮客户算账：哪里还能降本</a:t>
            </a:r>
            <a:endParaRPr lang="en-US" sz="1100"/>
          </a:p>
        </p:txBody>
      </p:sp>
      <p:sp>
        <p:nvSpPr>
          <p:cNvPr id="12" name="p3"/>
          <p:cNvSpPr/>
          <p:nvPr/>
        </p:nvSpPr>
        <p:spPr>
          <a:xfrm>
            <a:off x="812800" y="3467100"/>
            <a:ext cx="2413000" cy="457200"/>
          </a:xfrm>
          <a:prstGeom prst="roundRect">
            <a:avLst>
              <a:gd name="adj" fmla="val 50000"/>
            </a:avLst>
          </a:prstGeom>
          <a:solidFill>
            <a:srgbClr val="1C0B0B"/>
          </a:solidFill>
          <a:ln>
            <a:noFill/>
          </a:ln>
        </p:spPr>
      </p:sp>
      <p:sp>
        <p:nvSpPr>
          <p:cNvPr id="13" name="p3-t"/>
          <p:cNvSpPr txBox="1"/>
          <p:nvPr/>
        </p:nvSpPr>
        <p:spPr>
          <a:xfrm>
            <a:off x="812800" y="3467100"/>
            <a:ext cx="2413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300" b="1">
                <a:solidFill>
                  <a:srgbClr val="FFFFFF"/>
                </a:solidFill>
                <a:latin typeface="MiSans"/>
                <a:ea typeface="MiSans"/>
              </a:rPr>
              <a:t>市场信息</a:t>
            </a:r>
            <a:endParaRPr lang="en-US" sz="1300"/>
          </a:p>
        </p:txBody>
      </p:sp>
      <p:sp>
        <p:nvSpPr>
          <p:cNvPr id="14" name="p3-g"/>
          <p:cNvSpPr txBox="1"/>
          <p:nvPr/>
        </p:nvSpPr>
        <p:spPr>
          <a:xfrm>
            <a:off x="3454400" y="3581400"/>
            <a:ext cx="431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100">
                <a:solidFill>
                  <a:srgbClr val="8C8585"/>
                </a:solidFill>
                <a:latin typeface="MiSans"/>
                <a:ea typeface="MiSans"/>
              </a:rPr>
              <a:t>行业动态、竞对动向，第一时间同步</a:t>
            </a:r>
            <a:endParaRPr lang="en-US" sz="1100"/>
          </a:p>
        </p:txBody>
      </p:sp>
      <p:sp>
        <p:nvSpPr>
          <p:cNvPr id="15" name="p4"/>
          <p:cNvSpPr/>
          <p:nvPr/>
        </p:nvSpPr>
        <p:spPr>
          <a:xfrm>
            <a:off x="812800" y="4152900"/>
            <a:ext cx="2413000" cy="457200"/>
          </a:xfrm>
          <a:prstGeom prst="roundRect">
            <a:avLst>
              <a:gd name="adj" fmla="val 50000"/>
            </a:avLst>
          </a:prstGeom>
          <a:solidFill>
            <a:srgbClr val="1C0B0B"/>
          </a:solidFill>
          <a:ln>
            <a:noFill/>
          </a:ln>
        </p:spPr>
      </p:sp>
      <p:sp>
        <p:nvSpPr>
          <p:cNvPr id="16" name="p4-t"/>
          <p:cNvSpPr txBox="1"/>
          <p:nvPr/>
        </p:nvSpPr>
        <p:spPr>
          <a:xfrm>
            <a:off x="812800" y="4152900"/>
            <a:ext cx="2413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300" b="1">
                <a:solidFill>
                  <a:srgbClr val="FFFFFF"/>
                </a:solidFill>
                <a:latin typeface="MiSans"/>
                <a:ea typeface="MiSans"/>
              </a:rPr>
              <a:t>供应链优化</a:t>
            </a:r>
            <a:endParaRPr lang="en-US" sz="1300"/>
          </a:p>
        </p:txBody>
      </p:sp>
      <p:sp>
        <p:nvSpPr>
          <p:cNvPr id="17" name="p4-g"/>
          <p:cNvSpPr txBox="1"/>
          <p:nvPr/>
        </p:nvSpPr>
        <p:spPr>
          <a:xfrm>
            <a:off x="3454400" y="4267200"/>
            <a:ext cx="431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100">
                <a:solidFill>
                  <a:srgbClr val="8C8585"/>
                </a:solidFill>
                <a:latin typeface="MiSans"/>
                <a:ea typeface="MiSans"/>
              </a:rPr>
              <a:t>交付、库存、账期的持续改进</a:t>
            </a:r>
            <a:endParaRPr lang="en-US" sz="1100"/>
          </a:p>
        </p:txBody>
      </p:sp>
      <p:sp>
        <p:nvSpPr>
          <p:cNvPr id="18" name="p5"/>
          <p:cNvSpPr/>
          <p:nvPr/>
        </p:nvSpPr>
        <p:spPr>
          <a:xfrm>
            <a:off x="812800" y="4838700"/>
            <a:ext cx="2413000" cy="457200"/>
          </a:xfrm>
          <a:prstGeom prst="roundRect">
            <a:avLst>
              <a:gd name="adj" fmla="val 50000"/>
            </a:avLst>
          </a:prstGeom>
          <a:solidFill>
            <a:srgbClr val="1C0B0B"/>
          </a:solidFill>
          <a:ln>
            <a:noFill/>
          </a:ln>
        </p:spPr>
      </p:sp>
      <p:sp>
        <p:nvSpPr>
          <p:cNvPr id="19" name="p5-t"/>
          <p:cNvSpPr txBox="1"/>
          <p:nvPr/>
        </p:nvSpPr>
        <p:spPr>
          <a:xfrm>
            <a:off x="812800" y="4838700"/>
            <a:ext cx="2413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300" b="1">
                <a:solidFill>
                  <a:srgbClr val="FFFFFF"/>
                </a:solidFill>
                <a:latin typeface="MiSans"/>
                <a:ea typeface="MiSans"/>
              </a:rPr>
              <a:t>竞争分析</a:t>
            </a:r>
            <a:endParaRPr lang="en-US" sz="1300"/>
          </a:p>
        </p:txBody>
      </p:sp>
      <p:sp>
        <p:nvSpPr>
          <p:cNvPr id="20" name="p5-g"/>
          <p:cNvSpPr txBox="1"/>
          <p:nvPr/>
        </p:nvSpPr>
        <p:spPr>
          <a:xfrm>
            <a:off x="3454400" y="4953000"/>
            <a:ext cx="431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100">
                <a:solidFill>
                  <a:srgbClr val="8C8585"/>
                </a:solidFill>
                <a:latin typeface="MiSans"/>
                <a:ea typeface="MiSans"/>
              </a:rPr>
              <a:t>帮客户看清自己在市场中的位置</a:t>
            </a:r>
            <a:endParaRPr lang="en-US" sz="1100"/>
          </a:p>
        </p:txBody>
      </p:sp>
      <p:sp>
        <p:nvSpPr>
          <p:cNvPr id="21" name="red-card"/>
          <p:cNvSpPr/>
          <p:nvPr/>
        </p:nvSpPr>
        <p:spPr>
          <a:xfrm>
            <a:off x="8128000" y="2095500"/>
            <a:ext cx="3251200" cy="3200400"/>
          </a:xfrm>
          <a:prstGeom prst="rect">
            <a:avLst/>
          </a:prstGeom>
          <a:solidFill>
            <a:srgbClr val="FF4D4D"/>
          </a:solidFill>
          <a:ln>
            <a:noFill/>
          </a:ln>
        </p:spPr>
      </p:sp>
      <p:sp>
        <p:nvSpPr>
          <p:cNvPr id="22" name="red-label"/>
          <p:cNvSpPr txBox="1"/>
          <p:nvPr/>
        </p:nvSpPr>
        <p:spPr>
          <a:xfrm>
            <a:off x="8432800" y="2374900"/>
            <a:ext cx="254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050" spc="200" kern="0">
                <a:solidFill>
                  <a:srgbClr val="FFFFFF"/>
                </a:solidFill>
                <a:latin typeface="MiSans"/>
                <a:ea typeface="MiSans"/>
              </a:rPr>
              <a:t>客户的感受</a:t>
            </a:r>
            <a:endParaRPr lang="en-US" sz="1050"/>
          </a:p>
        </p:txBody>
      </p:sp>
      <p:sp>
        <p:nvSpPr>
          <p:cNvPr id="23" name="red-quote"/>
          <p:cNvSpPr txBox="1"/>
          <p:nvPr/>
        </p:nvSpPr>
        <p:spPr>
          <a:xfrm>
            <a:off x="8432800" y="2768600"/>
            <a:ext cx="26670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2100" b="1">
                <a:solidFill>
                  <a:srgbClr val="FFFFFF"/>
                </a:solidFill>
                <a:latin typeface="MiSans"/>
                <a:ea typeface="MiSans"/>
              </a:rPr>
              <a:t>“这个人，对我有帮助。”</a:t>
            </a:r>
            <a:endParaRPr lang="en-US" sz="2100"/>
          </a:p>
        </p:txBody>
      </p:sp>
      <p:sp>
        <p:nvSpPr>
          <p:cNvPr id="24" name="red-sub"/>
          <p:cNvSpPr txBox="1"/>
          <p:nvPr/>
        </p:nvSpPr>
        <p:spPr>
          <a:xfrm>
            <a:off x="8432800" y="4267200"/>
            <a:ext cx="2667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50">
                <a:solidFill>
                  <a:srgbClr val="FFFFFF"/>
                </a:solidFill>
                <a:latin typeface="MiSans"/>
                <a:ea typeface="MiSans"/>
              </a:rPr>
              <a:t>从推销员，变成客户离不开的顾问。</a:t>
            </a:r>
            <a:endParaRPr lang="en-US" sz="1150"/>
          </a:p>
        </p:txBody>
      </p:sp>
      <p:sp>
        <p:nvSpPr>
          <p:cNvPr id="25" name="bottom-note"/>
          <p:cNvSpPr txBox="1"/>
          <p:nvPr/>
        </p:nvSpPr>
        <p:spPr>
          <a:xfrm>
            <a:off x="812800" y="5740400"/>
            <a:ext cx="105664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200">
                <a:solidFill>
                  <a:srgbClr val="8C8585"/>
                </a:solidFill>
                <a:latin typeface="MiSans"/>
                <a:ea typeface="MiSans"/>
              </a:rPr>
              <a:t>你主动创造的价值越多，客户对你的依赖越深。</a:t>
            </a:r>
            <a:endParaRPr lang="en-US" sz="1200"/>
          </a:p>
        </p:txBody>
      </p:sp>
      <p:sp>
        <p:nvSpPr>
          <p:cNvPr id="26" name="footer-line"/>
          <p:cNvSpPr/>
          <p:nvPr/>
        </p:nvSpPr>
        <p:spPr>
          <a:xfrm>
            <a:off x="812800" y="6400800"/>
            <a:ext cx="10566400" cy="12700"/>
          </a:xfrm>
          <a:prstGeom prst="rect">
            <a:avLst/>
          </a:prstGeom>
          <a:solidFill>
            <a:srgbClr val="E7E6E6"/>
          </a:solidFill>
          <a:ln>
            <a:noFill/>
          </a:ln>
        </p:spPr>
      </p:sp>
      <p:sp>
        <p:nvSpPr>
          <p:cNvPr id="27" name="footer-left"/>
          <p:cNvSpPr txBox="1"/>
          <p:nvPr/>
        </p:nvSpPr>
        <p:spPr>
          <a:xfrm>
            <a:off x="812800" y="65024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900">
                <a:solidFill>
                  <a:srgbClr val="B5AFAF"/>
                </a:solidFill>
                <a:latin typeface="MiSans"/>
                <a:ea typeface="MiSans"/>
              </a:rPr>
              <a:t>第三课 · 客户经营 ｜ 企业商学院</a:t>
            </a:r>
            <a:endParaRPr lang="en-US" sz="900"/>
          </a:p>
        </p:txBody>
      </p:sp>
      <p:sp>
        <p:nvSpPr>
          <p:cNvPr id="28" name="footer-page"/>
          <p:cNvSpPr txBox="1"/>
          <p:nvPr/>
        </p:nvSpPr>
        <p:spPr>
          <a:xfrm>
            <a:off x="10109200" y="65024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20000"/>
              </a:lnSpc>
            </a:pPr>
            <a:r>
              <a:rPr lang="en-US" sz="900">
                <a:solidFill>
                  <a:srgbClr val="B5AFAF"/>
                </a:solidFill>
                <a:latin typeface="MiSans"/>
                <a:ea typeface="MiSans"/>
              </a:rPr>
              <a:t>12</a:t>
            </a:r>
            <a:endParaRPr lang="en-US" sz="900"/>
          </a:p>
        </p:txBody>
      </p:sp>
    </p:spTree>
  </p:cSld>
  <p:clrMapOvr>
    <a:masterClrMapping/>
  </p:clrMapOvr>
  <p:transition spd="fast" advClick="1">
    <p:checker dir="horz"/>
  </p:transition>
</p:sld>
</file>

<file path=ppt/slides/slide13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508000"/>
            <a:ext cx="762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000" spc="300" kern="0">
                <a:solidFill>
                  <a:srgbClr val="8C8585"/>
                </a:solidFill>
                <a:latin typeface="MiSans"/>
                <a:ea typeface="MiSans"/>
              </a:rPr>
              <a:t>经营节奏</a:t>
            </a:r>
            <a:endParaRPr lang="en-US" sz="1000"/>
          </a:p>
        </p:txBody>
      </p:sp>
      <p:sp>
        <p:nvSpPr>
          <p:cNvPr id="3" name="title"/>
          <p:cNvSpPr txBox="1"/>
          <p:nvPr/>
        </p:nvSpPr>
        <p:spPr>
          <a:xfrm>
            <a:off x="812800" y="762000"/>
            <a:ext cx="10160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2600" b="1">
                <a:solidFill>
                  <a:srgbClr val="1C0B0B"/>
                </a:solidFill>
                <a:latin typeface="MiSans"/>
                <a:ea typeface="MiSans"/>
              </a:rPr>
              <a:t>建立客户经营节奏</a:t>
            </a:r>
            <a:endParaRPr lang="en-US" sz="2600"/>
          </a:p>
        </p:txBody>
      </p:sp>
      <p:sp>
        <p:nvSpPr>
          <p:cNvPr id="4" name="caption"/>
          <p:cNvSpPr txBox="1"/>
          <p:nvPr/>
        </p:nvSpPr>
        <p:spPr>
          <a:xfrm>
            <a:off x="812800" y="1295400"/>
            <a:ext cx="1016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200">
                <a:solidFill>
                  <a:srgbClr val="8C8585"/>
                </a:solidFill>
                <a:latin typeface="MiSans"/>
                <a:ea typeface="MiSans"/>
              </a:rPr>
              <a:t>经营不是凭感觉，而是靠固定的节奏</a:t>
            </a:r>
            <a:endParaRPr lang="en-US" sz="1200"/>
          </a:p>
        </p:txBody>
      </p:sp>
      <p:sp>
        <p:nvSpPr>
          <p:cNvPr id="5" name="title-line"/>
          <p:cNvSpPr/>
          <p:nvPr/>
        </p:nvSpPr>
        <p:spPr>
          <a:xfrm>
            <a:off x="812800" y="1676400"/>
            <a:ext cx="10566400" cy="12700"/>
          </a:xfrm>
          <a:prstGeom prst="rect">
            <a:avLst/>
          </a:prstGeom>
          <a:solidFill>
            <a:srgbClr val="E7E6E6"/>
          </a:solidFill>
          <a:ln>
            <a:noFill/>
          </a:ln>
        </p:spPr>
      </p:sp>
      <p:sp>
        <p:nvSpPr>
          <p:cNvPr id="6" name="r1-cap"/>
          <p:cNvSpPr/>
          <p:nvPr/>
        </p:nvSpPr>
        <p:spPr>
          <a:xfrm>
            <a:off x="812800" y="2171700"/>
            <a:ext cx="1117600" cy="431800"/>
          </a:xfrm>
          <a:prstGeom prst="roundRect">
            <a:avLst>
              <a:gd name="adj" fmla="val 50000"/>
            </a:avLst>
          </a:prstGeom>
          <a:solidFill>
            <a:srgbClr val="1C0B0B"/>
          </a:solidFill>
          <a:ln>
            <a:noFill/>
          </a:ln>
        </p:spPr>
      </p:sp>
      <p:sp>
        <p:nvSpPr>
          <p:cNvPr id="7" name="r1-cap-t"/>
          <p:cNvSpPr txBox="1"/>
          <p:nvPr/>
        </p:nvSpPr>
        <p:spPr>
          <a:xfrm>
            <a:off x="812800" y="2171700"/>
            <a:ext cx="11176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300" b="1">
                <a:solidFill>
                  <a:srgbClr val="FFFFFF"/>
                </a:solidFill>
                <a:latin typeface="MiSans"/>
                <a:ea typeface="MiSans"/>
              </a:rPr>
              <a:t>每周</a:t>
            </a:r>
            <a:endParaRPr lang="en-US" sz="1300"/>
          </a:p>
        </p:txBody>
      </p:sp>
      <p:sp>
        <p:nvSpPr>
          <p:cNvPr id="8" name="r1-a"/>
          <p:cNvSpPr txBox="1"/>
          <p:nvPr/>
        </p:nvSpPr>
        <p:spPr>
          <a:xfrm>
            <a:off x="2159000" y="2133600"/>
            <a:ext cx="2794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1C0B0B"/>
                </a:solidFill>
                <a:latin typeface="MiSans"/>
                <a:ea typeface="MiSans"/>
              </a:rPr>
              <a:t>轻连接</a:t>
            </a:r>
            <a:endParaRPr lang="en-US" sz="1500"/>
          </a:p>
        </p:txBody>
      </p:sp>
      <p:sp>
        <p:nvSpPr>
          <p:cNvPr id="9" name="r1-g"/>
          <p:cNvSpPr txBox="1"/>
          <p:nvPr/>
        </p:nvSpPr>
        <p:spPr>
          <a:xfrm>
            <a:off x="5334000" y="2133600"/>
            <a:ext cx="60452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1100">
                <a:solidFill>
                  <a:srgbClr val="8C8585"/>
                </a:solidFill>
                <a:latin typeface="MiSans"/>
                <a:ea typeface="MiSans"/>
              </a:rPr>
              <a:t>一条有价值的信息，一次简短的问候</a:t>
            </a:r>
            <a:endParaRPr lang="en-US" sz="1100"/>
          </a:p>
        </p:txBody>
      </p:sp>
      <p:sp>
        <p:nvSpPr>
          <p:cNvPr id="10" name="r1-line"/>
          <p:cNvSpPr/>
          <p:nvPr/>
        </p:nvSpPr>
        <p:spPr>
          <a:xfrm>
            <a:off x="812800" y="2768600"/>
            <a:ext cx="10566400" cy="12700"/>
          </a:xfrm>
          <a:prstGeom prst="rect">
            <a:avLst/>
          </a:prstGeom>
          <a:solidFill>
            <a:srgbClr val="E7E6E6"/>
          </a:solidFill>
          <a:ln>
            <a:noFill/>
          </a:ln>
        </p:spPr>
      </p:sp>
      <p:sp>
        <p:nvSpPr>
          <p:cNvPr id="11" name="r2-cap"/>
          <p:cNvSpPr/>
          <p:nvPr/>
        </p:nvSpPr>
        <p:spPr>
          <a:xfrm>
            <a:off x="812800" y="2933700"/>
            <a:ext cx="1117600" cy="431800"/>
          </a:xfrm>
          <a:prstGeom prst="roundRect">
            <a:avLst>
              <a:gd name="adj" fmla="val 50000"/>
            </a:avLst>
          </a:prstGeom>
          <a:solidFill>
            <a:srgbClr val="1C0B0B"/>
          </a:solidFill>
          <a:ln>
            <a:noFill/>
          </a:ln>
        </p:spPr>
      </p:sp>
      <p:sp>
        <p:nvSpPr>
          <p:cNvPr id="12" name="r2-cap-t"/>
          <p:cNvSpPr txBox="1"/>
          <p:nvPr/>
        </p:nvSpPr>
        <p:spPr>
          <a:xfrm>
            <a:off x="812800" y="2933700"/>
            <a:ext cx="11176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300" b="1">
                <a:solidFill>
                  <a:srgbClr val="FFFFFF"/>
                </a:solidFill>
                <a:latin typeface="MiSans"/>
                <a:ea typeface="MiSans"/>
              </a:rPr>
              <a:t>每月</a:t>
            </a:r>
            <a:endParaRPr lang="en-US" sz="1300"/>
          </a:p>
        </p:txBody>
      </p:sp>
      <p:sp>
        <p:nvSpPr>
          <p:cNvPr id="13" name="r2-a"/>
          <p:cNvSpPr txBox="1"/>
          <p:nvPr/>
        </p:nvSpPr>
        <p:spPr>
          <a:xfrm>
            <a:off x="2159000" y="2895600"/>
            <a:ext cx="2794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1C0B0B"/>
                </a:solidFill>
                <a:latin typeface="MiSans"/>
                <a:ea typeface="MiSans"/>
              </a:rPr>
              <a:t>一次拜访</a:t>
            </a:r>
            <a:endParaRPr lang="en-US" sz="1500"/>
          </a:p>
        </p:txBody>
      </p:sp>
      <p:sp>
        <p:nvSpPr>
          <p:cNvPr id="14" name="r2-g"/>
          <p:cNvSpPr txBox="1"/>
          <p:nvPr/>
        </p:nvSpPr>
        <p:spPr>
          <a:xfrm>
            <a:off x="5334000" y="2895600"/>
            <a:ext cx="60452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1100">
                <a:solidFill>
                  <a:srgbClr val="8C8585"/>
                </a:solidFill>
                <a:latin typeface="MiSans"/>
                <a:ea typeface="MiSans"/>
              </a:rPr>
              <a:t>带着新信息见面，而不是空着手要订单</a:t>
            </a:r>
            <a:endParaRPr lang="en-US" sz="1100"/>
          </a:p>
        </p:txBody>
      </p:sp>
      <p:sp>
        <p:nvSpPr>
          <p:cNvPr id="15" name="r2-line"/>
          <p:cNvSpPr/>
          <p:nvPr/>
        </p:nvSpPr>
        <p:spPr>
          <a:xfrm>
            <a:off x="812800" y="3530600"/>
            <a:ext cx="10566400" cy="12700"/>
          </a:xfrm>
          <a:prstGeom prst="rect">
            <a:avLst/>
          </a:prstGeom>
          <a:solidFill>
            <a:srgbClr val="E7E6E6"/>
          </a:solidFill>
          <a:ln>
            <a:noFill/>
          </a:ln>
        </p:spPr>
      </p:sp>
      <p:sp>
        <p:nvSpPr>
          <p:cNvPr id="16" name="r3-cap"/>
          <p:cNvSpPr/>
          <p:nvPr/>
        </p:nvSpPr>
        <p:spPr>
          <a:xfrm>
            <a:off x="812800" y="3695700"/>
            <a:ext cx="1117600" cy="431800"/>
          </a:xfrm>
          <a:prstGeom prst="roundRect">
            <a:avLst>
              <a:gd name="adj" fmla="val 50000"/>
            </a:avLst>
          </a:prstGeom>
          <a:solidFill>
            <a:srgbClr val="1C0B0B"/>
          </a:solidFill>
          <a:ln>
            <a:noFill/>
          </a:ln>
        </p:spPr>
      </p:sp>
      <p:sp>
        <p:nvSpPr>
          <p:cNvPr id="17" name="r3-cap-t"/>
          <p:cNvSpPr txBox="1"/>
          <p:nvPr/>
        </p:nvSpPr>
        <p:spPr>
          <a:xfrm>
            <a:off x="812800" y="3695700"/>
            <a:ext cx="11176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300" b="1">
                <a:solidFill>
                  <a:srgbClr val="FFFFFF"/>
                </a:solidFill>
                <a:latin typeface="MiSans"/>
                <a:ea typeface="MiSans"/>
              </a:rPr>
              <a:t>每季度</a:t>
            </a:r>
            <a:endParaRPr lang="en-US" sz="1300"/>
          </a:p>
        </p:txBody>
      </p:sp>
      <p:sp>
        <p:nvSpPr>
          <p:cNvPr id="18" name="r3-a"/>
          <p:cNvSpPr txBox="1"/>
          <p:nvPr/>
        </p:nvSpPr>
        <p:spPr>
          <a:xfrm>
            <a:off x="2159000" y="3657600"/>
            <a:ext cx="2794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1C0B0B"/>
                </a:solidFill>
                <a:latin typeface="MiSans"/>
                <a:ea typeface="MiSans"/>
              </a:rPr>
              <a:t>经营复盘</a:t>
            </a:r>
            <a:endParaRPr lang="en-US" sz="1500"/>
          </a:p>
        </p:txBody>
      </p:sp>
      <p:sp>
        <p:nvSpPr>
          <p:cNvPr id="19" name="r3-g"/>
          <p:cNvSpPr txBox="1"/>
          <p:nvPr/>
        </p:nvSpPr>
        <p:spPr>
          <a:xfrm>
            <a:off x="5334000" y="3657600"/>
            <a:ext cx="60452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1100">
                <a:solidFill>
                  <a:srgbClr val="8C8585"/>
                </a:solidFill>
                <a:latin typeface="MiSans"/>
                <a:ea typeface="MiSans"/>
              </a:rPr>
              <a:t>回顾合作数据，找到下一个增长点</a:t>
            </a:r>
            <a:endParaRPr lang="en-US" sz="1100"/>
          </a:p>
        </p:txBody>
      </p:sp>
      <p:sp>
        <p:nvSpPr>
          <p:cNvPr id="20" name="r3-line"/>
          <p:cNvSpPr/>
          <p:nvPr/>
        </p:nvSpPr>
        <p:spPr>
          <a:xfrm>
            <a:off x="812800" y="4292600"/>
            <a:ext cx="10566400" cy="12700"/>
          </a:xfrm>
          <a:prstGeom prst="rect">
            <a:avLst/>
          </a:prstGeom>
          <a:solidFill>
            <a:srgbClr val="E7E6E6"/>
          </a:solidFill>
          <a:ln>
            <a:noFill/>
          </a:ln>
        </p:spPr>
      </p:sp>
      <p:sp>
        <p:nvSpPr>
          <p:cNvPr id="21" name="r4-cap"/>
          <p:cNvSpPr/>
          <p:nvPr/>
        </p:nvSpPr>
        <p:spPr>
          <a:xfrm>
            <a:off x="812800" y="4457700"/>
            <a:ext cx="1117600" cy="431800"/>
          </a:xfrm>
          <a:prstGeom prst="roundRect">
            <a:avLst>
              <a:gd name="adj" fmla="val 50000"/>
            </a:avLst>
          </a:prstGeom>
          <a:solidFill>
            <a:srgbClr val="1C0B0B"/>
          </a:solidFill>
          <a:ln>
            <a:noFill/>
          </a:ln>
        </p:spPr>
      </p:sp>
      <p:sp>
        <p:nvSpPr>
          <p:cNvPr id="22" name="r4-cap-t"/>
          <p:cNvSpPr txBox="1"/>
          <p:nvPr/>
        </p:nvSpPr>
        <p:spPr>
          <a:xfrm>
            <a:off x="812800" y="4457700"/>
            <a:ext cx="11176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300" b="1">
                <a:solidFill>
                  <a:srgbClr val="FFFFFF"/>
                </a:solidFill>
                <a:latin typeface="MiSans"/>
                <a:ea typeface="MiSans"/>
              </a:rPr>
              <a:t>每半年</a:t>
            </a:r>
            <a:endParaRPr lang="en-US" sz="1300"/>
          </a:p>
        </p:txBody>
      </p:sp>
      <p:sp>
        <p:nvSpPr>
          <p:cNvPr id="23" name="r4-a"/>
          <p:cNvSpPr txBox="1"/>
          <p:nvPr/>
        </p:nvSpPr>
        <p:spPr>
          <a:xfrm>
            <a:off x="2159000" y="4419600"/>
            <a:ext cx="3048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1C0B0B"/>
                </a:solidFill>
                <a:latin typeface="MiSans"/>
                <a:ea typeface="MiSans"/>
              </a:rPr>
              <a:t>供应链优化方案</a:t>
            </a:r>
            <a:endParaRPr lang="en-US" sz="1500"/>
          </a:p>
        </p:txBody>
      </p:sp>
      <p:sp>
        <p:nvSpPr>
          <p:cNvPr id="24" name="r4-g"/>
          <p:cNvSpPr txBox="1"/>
          <p:nvPr/>
        </p:nvSpPr>
        <p:spPr>
          <a:xfrm>
            <a:off x="5334000" y="4419600"/>
            <a:ext cx="60452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1100">
                <a:solidFill>
                  <a:srgbClr val="8C8585"/>
                </a:solidFill>
                <a:latin typeface="MiSans"/>
                <a:ea typeface="MiSans"/>
              </a:rPr>
              <a:t>交付、成本、账期的系统级优化</a:t>
            </a:r>
            <a:endParaRPr lang="en-US" sz="1100"/>
          </a:p>
        </p:txBody>
      </p:sp>
      <p:sp>
        <p:nvSpPr>
          <p:cNvPr id="25" name="r4-line"/>
          <p:cNvSpPr/>
          <p:nvPr/>
        </p:nvSpPr>
        <p:spPr>
          <a:xfrm>
            <a:off x="812800" y="5054600"/>
            <a:ext cx="10566400" cy="12700"/>
          </a:xfrm>
          <a:prstGeom prst="rect">
            <a:avLst/>
          </a:prstGeom>
          <a:solidFill>
            <a:srgbClr val="E7E6E6"/>
          </a:solidFill>
          <a:ln>
            <a:noFill/>
          </a:ln>
        </p:spPr>
      </p:sp>
      <p:sp>
        <p:nvSpPr>
          <p:cNvPr id="26" name="r5-cap"/>
          <p:cNvSpPr/>
          <p:nvPr/>
        </p:nvSpPr>
        <p:spPr>
          <a:xfrm>
            <a:off x="812800" y="5219700"/>
            <a:ext cx="1117600" cy="431800"/>
          </a:xfrm>
          <a:prstGeom prst="roundRect">
            <a:avLst>
              <a:gd name="adj" fmla="val 50000"/>
            </a:avLst>
          </a:prstGeom>
          <a:solidFill>
            <a:srgbClr val="FF4D4D"/>
          </a:solidFill>
          <a:ln>
            <a:noFill/>
          </a:ln>
        </p:spPr>
      </p:sp>
      <p:sp>
        <p:nvSpPr>
          <p:cNvPr id="27" name="r5-cap-t"/>
          <p:cNvSpPr txBox="1"/>
          <p:nvPr/>
        </p:nvSpPr>
        <p:spPr>
          <a:xfrm>
            <a:off x="812800" y="5219700"/>
            <a:ext cx="11176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300" b="1">
                <a:solidFill>
                  <a:srgbClr val="FFFFFF"/>
                </a:solidFill>
                <a:latin typeface="MiSans"/>
                <a:ea typeface="MiSans"/>
              </a:rPr>
              <a:t>每年</a:t>
            </a:r>
            <a:endParaRPr lang="en-US" sz="1300"/>
          </a:p>
        </p:txBody>
      </p:sp>
      <p:sp>
        <p:nvSpPr>
          <p:cNvPr id="28" name="r5-a"/>
          <p:cNvSpPr txBox="1"/>
          <p:nvPr/>
        </p:nvSpPr>
        <p:spPr>
          <a:xfrm>
            <a:off x="2159000" y="5181600"/>
            <a:ext cx="3048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FF4D4D"/>
                </a:solidFill>
                <a:latin typeface="MiSans"/>
                <a:ea typeface="MiSans"/>
              </a:rPr>
              <a:t>战略合作规划</a:t>
            </a:r>
            <a:endParaRPr lang="en-US" sz="1500"/>
          </a:p>
        </p:txBody>
      </p:sp>
      <p:sp>
        <p:nvSpPr>
          <p:cNvPr id="29" name="r5-g"/>
          <p:cNvSpPr txBox="1"/>
          <p:nvPr/>
        </p:nvSpPr>
        <p:spPr>
          <a:xfrm>
            <a:off x="5334000" y="5181600"/>
            <a:ext cx="60452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1100">
                <a:solidFill>
                  <a:srgbClr val="8C8585"/>
                </a:solidFill>
                <a:latin typeface="MiSans"/>
                <a:ea typeface="MiSans"/>
              </a:rPr>
              <a:t>和客户一起，规划下一年的生意</a:t>
            </a:r>
            <a:endParaRPr lang="en-US" sz="1100"/>
          </a:p>
        </p:txBody>
      </p:sp>
      <p:sp>
        <p:nvSpPr>
          <p:cNvPr id="30" name="r5-line"/>
          <p:cNvSpPr/>
          <p:nvPr/>
        </p:nvSpPr>
        <p:spPr>
          <a:xfrm>
            <a:off x="812800" y="5816600"/>
            <a:ext cx="10566400" cy="12700"/>
          </a:xfrm>
          <a:prstGeom prst="rect">
            <a:avLst/>
          </a:prstGeom>
          <a:solidFill>
            <a:srgbClr val="E7E6E6"/>
          </a:solidFill>
          <a:ln>
            <a:noFill/>
          </a:ln>
        </p:spPr>
      </p:sp>
      <p:sp>
        <p:nvSpPr>
          <p:cNvPr id="31" name="bottom-note"/>
          <p:cNvSpPr txBox="1"/>
          <p:nvPr/>
        </p:nvSpPr>
        <p:spPr>
          <a:xfrm>
            <a:off x="812800" y="5994400"/>
            <a:ext cx="105664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150">
                <a:solidFill>
                  <a:srgbClr val="8C8585"/>
                </a:solidFill>
                <a:latin typeface="MiSans"/>
                <a:ea typeface="MiSans"/>
              </a:rPr>
              <a:t>经营，一定要有节奏——节奏稳定，关系才稳定。</a:t>
            </a:r>
            <a:endParaRPr lang="en-US" sz="1150"/>
          </a:p>
        </p:txBody>
      </p:sp>
      <p:sp>
        <p:nvSpPr>
          <p:cNvPr id="32" name="footer-line"/>
          <p:cNvSpPr/>
          <p:nvPr/>
        </p:nvSpPr>
        <p:spPr>
          <a:xfrm>
            <a:off x="812800" y="6400800"/>
            <a:ext cx="10566400" cy="12700"/>
          </a:xfrm>
          <a:prstGeom prst="rect">
            <a:avLst/>
          </a:prstGeom>
          <a:solidFill>
            <a:srgbClr val="E7E6E6"/>
          </a:solidFill>
          <a:ln>
            <a:noFill/>
          </a:ln>
        </p:spPr>
      </p:sp>
      <p:sp>
        <p:nvSpPr>
          <p:cNvPr id="33" name="footer-left"/>
          <p:cNvSpPr txBox="1"/>
          <p:nvPr/>
        </p:nvSpPr>
        <p:spPr>
          <a:xfrm>
            <a:off x="812800" y="65024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900">
                <a:solidFill>
                  <a:srgbClr val="B5AFAF"/>
                </a:solidFill>
                <a:latin typeface="MiSans"/>
                <a:ea typeface="MiSans"/>
              </a:rPr>
              <a:t>第三课 · 客户经营 ｜ 企业商学院</a:t>
            </a:r>
            <a:endParaRPr lang="en-US" sz="900"/>
          </a:p>
        </p:txBody>
      </p:sp>
      <p:sp>
        <p:nvSpPr>
          <p:cNvPr id="34" name="footer-page"/>
          <p:cNvSpPr txBox="1"/>
          <p:nvPr/>
        </p:nvSpPr>
        <p:spPr>
          <a:xfrm>
            <a:off x="10109200" y="65024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20000"/>
              </a:lnSpc>
            </a:pPr>
            <a:r>
              <a:rPr lang="en-US" sz="900">
                <a:solidFill>
                  <a:srgbClr val="B5AFAF"/>
                </a:solidFill>
                <a:latin typeface="MiSans"/>
                <a:ea typeface="MiSans"/>
              </a:rPr>
              <a:t>13</a:t>
            </a:r>
            <a:endParaRPr lang="en-US" sz="900"/>
          </a:p>
        </p:txBody>
      </p:sp>
    </p:spTree>
  </p:cSld>
  <p:clrMapOvr>
    <a:masterClrMapping/>
  </p:clrMapOvr>
  <p:transition spd="fast" advClick="1">
    <p:checker dir="horz"/>
  </p:transition>
</p:sld>
</file>

<file path=ppt/slides/slide14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508000"/>
            <a:ext cx="762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000" spc="300" kern="0">
                <a:solidFill>
                  <a:srgbClr val="8C8585"/>
                </a:solidFill>
                <a:latin typeface="MiSans"/>
                <a:ea typeface="MiSans"/>
              </a:rPr>
              <a:t>拜访升级</a:t>
            </a:r>
            <a:endParaRPr lang="en-US" sz="1000"/>
          </a:p>
        </p:txBody>
      </p:sp>
      <p:sp>
        <p:nvSpPr>
          <p:cNvPr id="3" name="title"/>
          <p:cNvSpPr txBox="1"/>
          <p:nvPr/>
        </p:nvSpPr>
        <p:spPr>
          <a:xfrm>
            <a:off x="812800" y="762000"/>
            <a:ext cx="10160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2600" b="1">
                <a:solidFill>
                  <a:srgbClr val="1C0B0B"/>
                </a:solidFill>
                <a:latin typeface="MiSans"/>
                <a:ea typeface="MiSans"/>
              </a:rPr>
              <a:t>拜访不是推销</a:t>
            </a:r>
            <a:endParaRPr lang="en-US" sz="2600"/>
          </a:p>
        </p:txBody>
      </p:sp>
      <p:sp>
        <p:nvSpPr>
          <p:cNvPr id="4" name="caption"/>
          <p:cNvSpPr txBox="1"/>
          <p:nvPr/>
        </p:nvSpPr>
        <p:spPr>
          <a:xfrm>
            <a:off x="812800" y="1295400"/>
            <a:ext cx="1016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200">
                <a:solidFill>
                  <a:srgbClr val="8C8585"/>
                </a:solidFill>
                <a:latin typeface="MiSans"/>
                <a:ea typeface="MiSans"/>
              </a:rPr>
              <a:t>低价值拜访消耗信任，高价值拜访积累信任</a:t>
            </a:r>
            <a:endParaRPr lang="en-US" sz="1200"/>
          </a:p>
        </p:txBody>
      </p:sp>
      <p:sp>
        <p:nvSpPr>
          <p:cNvPr id="5" name="title-line"/>
          <p:cNvSpPr/>
          <p:nvPr/>
        </p:nvSpPr>
        <p:spPr>
          <a:xfrm>
            <a:off x="812800" y="1676400"/>
            <a:ext cx="10566400" cy="12700"/>
          </a:xfrm>
          <a:prstGeom prst="rect">
            <a:avLst/>
          </a:prstGeom>
          <a:solidFill>
            <a:srgbClr val="E7E6E6"/>
          </a:solidFill>
          <a:ln>
            <a:noFill/>
          </a:ln>
        </p:spPr>
      </p:sp>
      <p:sp>
        <p:nvSpPr>
          <p:cNvPr id="6" name="low-card"/>
          <p:cNvSpPr/>
          <p:nvPr/>
        </p:nvSpPr>
        <p:spPr>
          <a:xfrm>
            <a:off x="812800" y="2006600"/>
            <a:ext cx="5029200" cy="3200400"/>
          </a:xfrm>
          <a:prstGeom prst="rect">
            <a:avLst/>
          </a:prstGeom>
          <a:solidFill>
            <a:srgbClr val="F6F6F6"/>
          </a:solidFill>
          <a:ln>
            <a:noFill/>
          </a:ln>
        </p:spPr>
      </p:sp>
      <p:sp>
        <p:nvSpPr>
          <p:cNvPr id="7" name="low-label"/>
          <p:cNvSpPr txBox="1"/>
          <p:nvPr/>
        </p:nvSpPr>
        <p:spPr>
          <a:xfrm>
            <a:off x="1117600" y="2286000"/>
            <a:ext cx="254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100" spc="200" kern="0">
                <a:solidFill>
                  <a:srgbClr val="8C8585"/>
                </a:solidFill>
                <a:latin typeface="MiSans"/>
                <a:ea typeface="MiSans"/>
              </a:rPr>
              <a:t>低价值拜访</a:t>
            </a:r>
            <a:endParaRPr lang="en-US" sz="1100"/>
          </a:p>
        </p:txBody>
      </p:sp>
      <p:sp>
        <p:nvSpPr>
          <p:cNvPr id="8" name="low-big"/>
          <p:cNvSpPr txBox="1"/>
          <p:nvPr/>
        </p:nvSpPr>
        <p:spPr>
          <a:xfrm>
            <a:off x="1117600" y="2667000"/>
            <a:ext cx="4318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900" b="1">
                <a:solidFill>
                  <a:srgbClr val="8C8585"/>
                </a:solidFill>
                <a:latin typeface="MiSans"/>
                <a:ea typeface="MiSans"/>
              </a:rPr>
              <a:t>“最近有没有订单？”</a:t>
            </a:r>
            <a:endParaRPr lang="en-US" sz="1900"/>
          </a:p>
        </p:txBody>
      </p:sp>
      <p:sp>
        <p:nvSpPr>
          <p:cNvPr id="9" name="low-sub"/>
          <p:cNvSpPr txBox="1"/>
          <p:nvPr/>
        </p:nvSpPr>
        <p:spPr>
          <a:xfrm>
            <a:off x="1117600" y="3327400"/>
            <a:ext cx="4318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200">
                <a:solidFill>
                  <a:srgbClr val="8C8585"/>
                </a:solidFill>
                <a:latin typeface="MiSans"/>
                <a:ea typeface="MiSans"/>
              </a:rPr>
              <a:t>除了索取订单，什么都不带。次数多了，客户开始躲你。</a:t>
            </a:r>
            <a:endParaRPr lang="en-US" sz="1200"/>
          </a:p>
        </p:txBody>
      </p:sp>
      <p:sp>
        <p:nvSpPr>
          <p:cNvPr id="10" name="high-card"/>
          <p:cNvSpPr/>
          <p:nvPr/>
        </p:nvSpPr>
        <p:spPr>
          <a:xfrm>
            <a:off x="6350000" y="2006600"/>
            <a:ext cx="5029200" cy="3200400"/>
          </a:xfrm>
          <a:prstGeom prst="rect">
            <a:avLst/>
          </a:prstGeom>
          <a:solidFill>
            <a:srgbClr val="FFF1F1"/>
          </a:solidFill>
          <a:ln>
            <a:noFill/>
          </a:ln>
        </p:spPr>
      </p:sp>
      <p:sp>
        <p:nvSpPr>
          <p:cNvPr id="11" name="high-bar"/>
          <p:cNvSpPr/>
          <p:nvPr/>
        </p:nvSpPr>
        <p:spPr>
          <a:xfrm>
            <a:off x="6350000" y="2006600"/>
            <a:ext cx="50800" cy="3200400"/>
          </a:xfrm>
          <a:prstGeom prst="rect">
            <a:avLst/>
          </a:prstGeom>
          <a:solidFill>
            <a:srgbClr val="FF4D4D"/>
          </a:solidFill>
          <a:ln>
            <a:noFill/>
          </a:ln>
        </p:spPr>
      </p:sp>
      <p:sp>
        <p:nvSpPr>
          <p:cNvPr id="12" name="high-label"/>
          <p:cNvSpPr txBox="1"/>
          <p:nvPr/>
        </p:nvSpPr>
        <p:spPr>
          <a:xfrm>
            <a:off x="6654800" y="2286000"/>
            <a:ext cx="254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100" spc="200" kern="0">
                <a:solidFill>
                  <a:srgbClr val="FF4D4D"/>
                </a:solidFill>
                <a:latin typeface="MiSans"/>
                <a:ea typeface="MiSans"/>
              </a:rPr>
              <a:t>高价值拜访</a:t>
            </a:r>
            <a:endParaRPr lang="en-US" sz="1100"/>
          </a:p>
        </p:txBody>
      </p:sp>
      <p:sp>
        <p:nvSpPr>
          <p:cNvPr id="13" name="high-list"/>
          <p:cNvSpPr txBox="1"/>
          <p:nvPr/>
        </p:nvSpPr>
        <p:spPr>
          <a:xfrm>
            <a:off x="6654800" y="2667000"/>
            <a:ext cx="4419600" cy="2235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95000"/>
              </a:lnSpc>
            </a:pPr>
            <a:r>
              <a:rPr lang="en-US" sz="1350">
                <a:solidFill>
                  <a:srgbClr val="1C0B0B"/>
                </a:solidFill>
                <a:latin typeface="MiSans"/>
                <a:ea typeface="MiSans"/>
              </a:rPr>
              <a:t>“最近行业有什么变化？”</a:t>
            </a:r>
            <a:endParaRPr lang="en-US" sz="1350"/>
          </a:p>
          <a:p>
            <a:pPr>
              <a:lnSpc>
                <a:spcPct val="195000"/>
              </a:lnSpc>
            </a:pPr>
            <a:r>
              <a:rPr lang="en-US" sz="1350">
                <a:solidFill>
                  <a:srgbClr val="1C0B0B"/>
                </a:solidFill>
                <a:latin typeface="MiSans"/>
                <a:ea typeface="MiSans"/>
              </a:rPr>
              <a:t>“我们发现了什么新品？”</a:t>
            </a:r>
            <a:endParaRPr lang="en-US" sz="1350"/>
          </a:p>
          <a:p>
            <a:pPr>
              <a:lnSpc>
                <a:spcPct val="195000"/>
              </a:lnSpc>
            </a:pPr>
            <a:r>
              <a:rPr lang="en-US" sz="1350">
                <a:solidFill>
                  <a:srgbClr val="1C0B0B"/>
                </a:solidFill>
                <a:latin typeface="MiSans"/>
                <a:ea typeface="MiSans"/>
              </a:rPr>
              <a:t>“有没有地方可以降成本？”</a:t>
            </a:r>
            <a:endParaRPr lang="en-US" sz="1350"/>
          </a:p>
          <a:p>
            <a:pPr>
              <a:lnSpc>
                <a:spcPct val="195000"/>
              </a:lnSpc>
            </a:pPr>
            <a:r>
              <a:rPr lang="en-US" sz="1350">
                <a:solidFill>
                  <a:srgbClr val="1C0B0B"/>
                </a:solidFill>
                <a:latin typeface="MiSans"/>
                <a:ea typeface="MiSans"/>
              </a:rPr>
              <a:t>“有没有新的市场机会？”</a:t>
            </a:r>
            <a:endParaRPr lang="en-US" sz="1350"/>
          </a:p>
        </p:txBody>
      </p:sp>
      <p:sp>
        <p:nvSpPr>
          <p:cNvPr id="14" name="bottom-main"/>
          <p:cNvSpPr txBox="1"/>
          <p:nvPr/>
        </p:nvSpPr>
        <p:spPr>
          <a:xfrm>
            <a:off x="812800" y="5562600"/>
            <a:ext cx="105664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300" b="1">
                <a:solidFill>
                  <a:srgbClr val="1C0B0B"/>
                </a:solidFill>
                <a:latin typeface="MiSans"/>
                <a:ea typeface="MiSans"/>
              </a:rPr>
              <a:t>客户真正期待的，是从你这里获得新的信息。</a:t>
            </a:r>
            <a:endParaRPr lang="en-US" sz="1300"/>
          </a:p>
        </p:txBody>
      </p:sp>
      <p:sp>
        <p:nvSpPr>
          <p:cNvPr id="15" name="bottom-sub"/>
          <p:cNvSpPr txBox="1"/>
          <p:nvPr/>
        </p:nvSpPr>
        <p:spPr>
          <a:xfrm>
            <a:off x="812800" y="5892800"/>
            <a:ext cx="105664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100">
                <a:solidFill>
                  <a:srgbClr val="8C8585"/>
                </a:solidFill>
                <a:latin typeface="MiSans"/>
                <a:ea typeface="MiSans"/>
              </a:rPr>
              <a:t>带着信息去，带着订单回；空着手去，连门都进不去。</a:t>
            </a:r>
            <a:endParaRPr lang="en-US" sz="1100"/>
          </a:p>
        </p:txBody>
      </p:sp>
      <p:sp>
        <p:nvSpPr>
          <p:cNvPr id="16" name="footer-line"/>
          <p:cNvSpPr/>
          <p:nvPr/>
        </p:nvSpPr>
        <p:spPr>
          <a:xfrm>
            <a:off x="812800" y="6400800"/>
            <a:ext cx="10566400" cy="12700"/>
          </a:xfrm>
          <a:prstGeom prst="rect">
            <a:avLst/>
          </a:prstGeom>
          <a:solidFill>
            <a:srgbClr val="E7E6E6"/>
          </a:solidFill>
          <a:ln>
            <a:noFill/>
          </a:ln>
        </p:spPr>
      </p:sp>
      <p:sp>
        <p:nvSpPr>
          <p:cNvPr id="17" name="footer-left"/>
          <p:cNvSpPr txBox="1"/>
          <p:nvPr/>
        </p:nvSpPr>
        <p:spPr>
          <a:xfrm>
            <a:off x="812800" y="65024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900">
                <a:solidFill>
                  <a:srgbClr val="B5AFAF"/>
                </a:solidFill>
                <a:latin typeface="MiSans"/>
                <a:ea typeface="MiSans"/>
              </a:rPr>
              <a:t>第三课 · 客户经营 ｜ 企业商学院</a:t>
            </a:r>
            <a:endParaRPr lang="en-US" sz="900"/>
          </a:p>
        </p:txBody>
      </p:sp>
      <p:sp>
        <p:nvSpPr>
          <p:cNvPr id="18" name="footer-page"/>
          <p:cNvSpPr txBox="1"/>
          <p:nvPr/>
        </p:nvSpPr>
        <p:spPr>
          <a:xfrm>
            <a:off x="10109200" y="65024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20000"/>
              </a:lnSpc>
            </a:pPr>
            <a:r>
              <a:rPr lang="en-US" sz="900">
                <a:solidFill>
                  <a:srgbClr val="B5AFAF"/>
                </a:solidFill>
                <a:latin typeface="MiSans"/>
                <a:ea typeface="MiSans"/>
              </a:rPr>
              <a:t>14</a:t>
            </a:r>
            <a:endParaRPr lang="en-US" sz="900"/>
          </a:p>
        </p:txBody>
      </p:sp>
    </p:spTree>
  </p:cSld>
  <p:clrMapOvr>
    <a:masterClrMapping/>
  </p:clrMapOvr>
  <p:transition spd="fast" advClick="1">
    <p:checker dir="horz"/>
  </p:transition>
</p:sld>
</file>

<file path=ppt/slides/slide15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508000"/>
            <a:ext cx="762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000" spc="300" kern="0">
                <a:solidFill>
                  <a:srgbClr val="8C8585"/>
                </a:solidFill>
                <a:latin typeface="MiSans"/>
                <a:ea typeface="MiSans"/>
              </a:rPr>
              <a:t>信任原理</a:t>
            </a:r>
            <a:endParaRPr lang="en-US" sz="1000"/>
          </a:p>
        </p:txBody>
      </p:sp>
      <p:sp>
        <p:nvSpPr>
          <p:cNvPr id="3" name="title"/>
          <p:cNvSpPr txBox="1"/>
          <p:nvPr/>
        </p:nvSpPr>
        <p:spPr>
          <a:xfrm>
            <a:off x="812800" y="762000"/>
            <a:ext cx="10160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2600" b="1">
                <a:solidFill>
                  <a:srgbClr val="1C0B0B"/>
                </a:solidFill>
                <a:latin typeface="MiSans"/>
                <a:ea typeface="MiSans"/>
              </a:rPr>
              <a:t>客户为什么越来越信任你？</a:t>
            </a:r>
            <a:endParaRPr lang="en-US" sz="2600"/>
          </a:p>
        </p:txBody>
      </p:sp>
      <p:sp>
        <p:nvSpPr>
          <p:cNvPr id="4" name="caption"/>
          <p:cNvSpPr txBox="1"/>
          <p:nvPr/>
        </p:nvSpPr>
        <p:spPr>
          <a:xfrm>
            <a:off x="812800" y="1295400"/>
            <a:ext cx="1016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200">
                <a:solidFill>
                  <a:srgbClr val="8C8585"/>
                </a:solidFill>
                <a:latin typeface="MiSans"/>
                <a:ea typeface="MiSans"/>
              </a:rPr>
              <a:t>信任的秘密，藏在每一次见面里</a:t>
            </a:r>
            <a:endParaRPr lang="en-US" sz="1200"/>
          </a:p>
        </p:txBody>
      </p:sp>
      <p:sp>
        <p:nvSpPr>
          <p:cNvPr id="5" name="title-line"/>
          <p:cNvSpPr/>
          <p:nvPr/>
        </p:nvSpPr>
        <p:spPr>
          <a:xfrm>
            <a:off x="812800" y="1676400"/>
            <a:ext cx="10566400" cy="12700"/>
          </a:xfrm>
          <a:prstGeom prst="rect">
            <a:avLst/>
          </a:prstGeom>
          <a:solidFill>
            <a:srgbClr val="E7E6E6"/>
          </a:solidFill>
          <a:ln>
            <a:noFill/>
          </a:ln>
        </p:spPr>
      </p:sp>
      <p:sp>
        <p:nvSpPr>
          <p:cNvPr id="6" name="big-line"/>
          <p:cNvSpPr txBox="1"/>
          <p:nvPr/>
        </p:nvSpPr>
        <p:spPr>
          <a:xfrm>
            <a:off x="812800" y="2743200"/>
            <a:ext cx="105664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200" b="1">
                <a:solidFill>
                  <a:srgbClr val="1C0B0B"/>
                </a:solidFill>
                <a:latin typeface="MiSans"/>
                <a:ea typeface="MiSans"/>
              </a:rPr>
              <a:t>每一次见面，都获得</a:t>
            </a:r>
            <a:r>
              <a:rPr lang="en-US" sz="3200" b="1">
                <a:solidFill>
                  <a:srgbClr val="FF4D4D"/>
                </a:solidFill>
                <a:latin typeface="MiSans"/>
                <a:ea typeface="MiSans"/>
              </a:rPr>
              <a:t>新的价值</a:t>
            </a:r>
            <a:r>
              <a:rPr lang="en-US" sz="3200" b="1">
                <a:solidFill>
                  <a:srgbClr val="1C0B0B"/>
                </a:solidFill>
                <a:latin typeface="MiSans"/>
                <a:ea typeface="MiSans"/>
              </a:rPr>
              <a:t>。</a:t>
            </a:r>
            <a:endParaRPr lang="en-US" sz="3200"/>
          </a:p>
        </p:txBody>
      </p:sp>
      <p:sp>
        <p:nvSpPr>
          <p:cNvPr id="7" name="second-line"/>
          <p:cNvSpPr txBox="1"/>
          <p:nvPr/>
        </p:nvSpPr>
        <p:spPr>
          <a:xfrm>
            <a:off x="812800" y="3759200"/>
            <a:ext cx="105664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800">
                <a:solidFill>
                  <a:srgbClr val="8C8585"/>
                </a:solidFill>
                <a:latin typeface="MiSans"/>
                <a:ea typeface="MiSans"/>
              </a:rPr>
              <a:t>而不是——每一次见面，都来卖东西。</a:t>
            </a:r>
            <a:endParaRPr lang="en-US" sz="1800"/>
          </a:p>
        </p:txBody>
      </p:sp>
      <p:sp>
        <p:nvSpPr>
          <p:cNvPr id="8" name="small-note"/>
          <p:cNvSpPr txBox="1"/>
          <p:nvPr/>
        </p:nvSpPr>
        <p:spPr>
          <a:xfrm>
            <a:off x="812800" y="4521200"/>
            <a:ext cx="762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200">
                <a:solidFill>
                  <a:srgbClr val="8C8585"/>
                </a:solidFill>
                <a:latin typeface="MiSans"/>
                <a:ea typeface="MiSans"/>
              </a:rPr>
              <a:t>信任，来自持续的价值增量。</a:t>
            </a:r>
            <a:endParaRPr lang="en-US" sz="1200"/>
          </a:p>
        </p:txBody>
      </p:sp>
      <p:sp>
        <p:nvSpPr>
          <p:cNvPr id="9" name="footer-line"/>
          <p:cNvSpPr/>
          <p:nvPr/>
        </p:nvSpPr>
        <p:spPr>
          <a:xfrm>
            <a:off x="812800" y="6400800"/>
            <a:ext cx="10566400" cy="12700"/>
          </a:xfrm>
          <a:prstGeom prst="rect">
            <a:avLst/>
          </a:prstGeom>
          <a:solidFill>
            <a:srgbClr val="E7E6E6"/>
          </a:solidFill>
          <a:ln>
            <a:noFill/>
          </a:ln>
        </p:spPr>
      </p:sp>
      <p:sp>
        <p:nvSpPr>
          <p:cNvPr id="10" name="footer-left"/>
          <p:cNvSpPr txBox="1"/>
          <p:nvPr/>
        </p:nvSpPr>
        <p:spPr>
          <a:xfrm>
            <a:off x="812800" y="65024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900">
                <a:solidFill>
                  <a:srgbClr val="B5AFAF"/>
                </a:solidFill>
                <a:latin typeface="MiSans"/>
                <a:ea typeface="MiSans"/>
              </a:rPr>
              <a:t>第三课 · 客户经营 ｜ 企业商学院</a:t>
            </a:r>
            <a:endParaRPr lang="en-US" sz="900"/>
          </a:p>
        </p:txBody>
      </p:sp>
      <p:sp>
        <p:nvSpPr>
          <p:cNvPr id="11" name="footer-page"/>
          <p:cNvSpPr txBox="1"/>
          <p:nvPr/>
        </p:nvSpPr>
        <p:spPr>
          <a:xfrm>
            <a:off x="10109200" y="65024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20000"/>
              </a:lnSpc>
            </a:pPr>
            <a:r>
              <a:rPr lang="en-US" sz="900">
                <a:solidFill>
                  <a:srgbClr val="B5AFAF"/>
                </a:solidFill>
                <a:latin typeface="MiSans"/>
                <a:ea typeface="MiSans"/>
              </a:rPr>
              <a:t>15</a:t>
            </a:r>
            <a:endParaRPr lang="en-US" sz="900"/>
          </a:p>
        </p:txBody>
      </p:sp>
    </p:spTree>
  </p:cSld>
  <p:clrMapOvr>
    <a:masterClrMapping/>
  </p:clrMapOvr>
  <p:transition spd="fast" advClick="1">
    <p:checker dir="horz"/>
  </p:transition>
</p:sld>
</file>

<file path=ppt/slides/slide16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508000"/>
            <a:ext cx="762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000" spc="300" kern="0">
                <a:solidFill>
                  <a:srgbClr val="8C8585"/>
                </a:solidFill>
                <a:latin typeface="MiSans"/>
                <a:ea typeface="MiSans"/>
              </a:rPr>
              <a:t>经营档案</a:t>
            </a:r>
            <a:endParaRPr lang="en-US" sz="1000"/>
          </a:p>
        </p:txBody>
      </p:sp>
      <p:sp>
        <p:nvSpPr>
          <p:cNvPr id="3" name="title"/>
          <p:cNvSpPr txBox="1"/>
          <p:nvPr/>
        </p:nvSpPr>
        <p:spPr>
          <a:xfrm>
            <a:off x="812800" y="762000"/>
            <a:ext cx="10160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2600" b="1">
                <a:solidFill>
                  <a:srgbClr val="1C0B0B"/>
                </a:solidFill>
                <a:latin typeface="MiSans"/>
                <a:ea typeface="MiSans"/>
              </a:rPr>
              <a:t>建立客户经营档案</a:t>
            </a:r>
            <a:endParaRPr lang="en-US" sz="2600"/>
          </a:p>
        </p:txBody>
      </p:sp>
      <p:sp>
        <p:nvSpPr>
          <p:cNvPr id="4" name="caption"/>
          <p:cNvSpPr txBox="1"/>
          <p:nvPr/>
        </p:nvSpPr>
        <p:spPr>
          <a:xfrm>
            <a:off x="812800" y="1295400"/>
            <a:ext cx="1016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200">
                <a:solidFill>
                  <a:srgbClr val="8C8585"/>
                </a:solidFill>
                <a:latin typeface="MiSans"/>
                <a:ea typeface="MiSans"/>
              </a:rPr>
              <a:t>一个A类客户 = 一张客户经营卡</a:t>
            </a:r>
            <a:endParaRPr lang="en-US" sz="1200"/>
          </a:p>
        </p:txBody>
      </p:sp>
      <p:sp>
        <p:nvSpPr>
          <p:cNvPr id="5" name="title-line"/>
          <p:cNvSpPr/>
          <p:nvPr/>
        </p:nvSpPr>
        <p:spPr>
          <a:xfrm>
            <a:off x="812800" y="1676400"/>
            <a:ext cx="10566400" cy="12700"/>
          </a:xfrm>
          <a:prstGeom prst="rect">
            <a:avLst/>
          </a:prstGeom>
          <a:solidFill>
            <a:srgbClr val="E7E6E6"/>
          </a:solidFill>
          <a:ln>
            <a:noFill/>
          </a:ln>
        </p:spPr>
      </p:sp>
      <p:sp>
        <p:nvSpPr>
          <p:cNvPr id="6" name="left-label"/>
          <p:cNvSpPr txBox="1"/>
          <p:nvPr/>
        </p:nvSpPr>
        <p:spPr>
          <a:xfrm>
            <a:off x="812800" y="2006600"/>
            <a:ext cx="304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100" spc="200" kern="0">
                <a:solidFill>
                  <a:srgbClr val="8C8585"/>
                </a:solidFill>
                <a:latin typeface="MiSans"/>
                <a:ea typeface="MiSans"/>
              </a:rPr>
              <a:t>为什么要建档案</a:t>
            </a:r>
            <a:endParaRPr lang="en-US" sz="1100"/>
          </a:p>
        </p:txBody>
      </p:sp>
      <p:sp>
        <p:nvSpPr>
          <p:cNvPr id="7" name="left-text"/>
          <p:cNvSpPr txBox="1"/>
          <p:nvPr/>
        </p:nvSpPr>
        <p:spPr>
          <a:xfrm>
            <a:off x="812800" y="2336800"/>
            <a:ext cx="3200400" cy="190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250">
                <a:solidFill>
                  <a:srgbClr val="8C8585"/>
                </a:solidFill>
                <a:latin typeface="MiSans"/>
                <a:ea typeface="MiSans"/>
              </a:rPr>
              <a:t>凭印象经营客户，是最大的浪费。</a:t>
            </a:r>
            <a:endParaRPr lang="en-US" sz="125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250">
                <a:solidFill>
                  <a:srgbClr val="8C8585"/>
                </a:solidFill>
                <a:latin typeface="MiSans"/>
                <a:ea typeface="MiSans"/>
              </a:rPr>
              <a:t>把关键信息沉淀成一张经营卡——客户不再只是某个销售的客户，而是</a:t>
            </a:r>
            <a:r>
              <a:rPr lang="en-US" sz="1250" b="1">
                <a:solidFill>
                  <a:srgbClr val="FF4D4D"/>
                </a:solidFill>
                <a:latin typeface="MiSans"/>
                <a:ea typeface="MiSans"/>
              </a:rPr>
              <a:t>公司的资产</a:t>
            </a:r>
            <a:r>
              <a:rPr lang="en-US" sz="1250">
                <a:solidFill>
                  <a:srgbClr val="8C8585"/>
                </a:solidFill>
                <a:latin typeface="MiSans"/>
                <a:ea typeface="MiSans"/>
              </a:rPr>
              <a:t>。</a:t>
            </a:r>
            <a:endParaRPr lang="en-US" sz="1250"/>
          </a:p>
        </p:txBody>
      </p:sp>
      <p:sp>
        <p:nvSpPr>
          <p:cNvPr id="8" name="card"/>
          <p:cNvSpPr/>
          <p:nvPr/>
        </p:nvSpPr>
        <p:spPr>
          <a:xfrm>
            <a:off x="4445000" y="1905000"/>
            <a:ext cx="6934200" cy="375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6E6"/>
            </a:solidFill>
          </a:ln>
        </p:spPr>
      </p:sp>
      <p:sp>
        <p:nvSpPr>
          <p:cNvPr id="9" name="card-title"/>
          <p:cNvSpPr txBox="1"/>
          <p:nvPr/>
        </p:nvSpPr>
        <p:spPr>
          <a:xfrm>
            <a:off x="4749800" y="2133600"/>
            <a:ext cx="254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600" b="1">
                <a:solidFill>
                  <a:srgbClr val="FF4D4D"/>
                </a:solidFill>
                <a:latin typeface="MiSans"/>
                <a:ea typeface="MiSans"/>
              </a:rPr>
              <a:t>客户经营卡</a:t>
            </a:r>
            <a:endParaRPr lang="en-US" sz="1600"/>
          </a:p>
        </p:txBody>
      </p:sp>
      <p:sp>
        <p:nvSpPr>
          <p:cNvPr id="10" name="card-meta"/>
          <p:cNvSpPr txBox="1"/>
          <p:nvPr/>
        </p:nvSpPr>
        <p:spPr>
          <a:xfrm>
            <a:off x="8890000" y="2184400"/>
            <a:ext cx="2184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20000"/>
              </a:lnSpc>
            </a:pPr>
            <a:r>
              <a:rPr lang="en-US" sz="950">
                <a:solidFill>
                  <a:srgbClr val="8C8585"/>
                </a:solidFill>
                <a:latin typeface="MiSans"/>
                <a:ea typeface="MiSans"/>
              </a:rPr>
              <a:t>A类客户 · 每季更新</a:t>
            </a:r>
            <a:endParaRPr lang="en-US" sz="950"/>
          </a:p>
        </p:txBody>
      </p:sp>
      <p:sp>
        <p:nvSpPr>
          <p:cNvPr id="11" name="card-line"/>
          <p:cNvSpPr/>
          <p:nvPr/>
        </p:nvSpPr>
        <p:spPr>
          <a:xfrm>
            <a:off x="4749800" y="2540000"/>
            <a:ext cx="6324600" cy="12700"/>
          </a:xfrm>
          <a:prstGeom prst="rect">
            <a:avLst/>
          </a:prstGeom>
          <a:solidFill>
            <a:srgbClr val="E7E6E6"/>
          </a:solidFill>
          <a:ln>
            <a:noFill/>
          </a:ln>
        </p:spPr>
      </p:sp>
      <p:sp>
        <p:nvSpPr>
          <p:cNvPr id="12" name="f1"/>
          <p:cNvSpPr txBox="1"/>
          <p:nvPr/>
        </p:nvSpPr>
        <p:spPr>
          <a:xfrm>
            <a:off x="4749800" y="2768600"/>
            <a:ext cx="2794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000" b="1">
                <a:solidFill>
                  <a:srgbClr val="B5AFAF"/>
                </a:solidFill>
                <a:latin typeface="MiSans"/>
                <a:ea typeface="MiSans"/>
              </a:rPr>
              <a:t>01　</a:t>
            </a:r>
            <a:r>
              <a:rPr lang="en-US" sz="1300" b="1">
                <a:solidFill>
                  <a:srgbClr val="1C0B0B"/>
                </a:solidFill>
                <a:latin typeface="MiSans"/>
                <a:ea typeface="MiSans"/>
              </a:rPr>
              <a:t>基本信息</a:t>
            </a:r>
            <a:endParaRPr lang="en-US" sz="1600"/>
          </a:p>
        </p:txBody>
      </p:sp>
      <p:sp>
        <p:nvSpPr>
          <p:cNvPr id="13" name="f2"/>
          <p:cNvSpPr txBox="1"/>
          <p:nvPr/>
        </p:nvSpPr>
        <p:spPr>
          <a:xfrm>
            <a:off x="4749800" y="3302000"/>
            <a:ext cx="2794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000" b="1">
                <a:solidFill>
                  <a:srgbClr val="B5AFAF"/>
                </a:solidFill>
                <a:latin typeface="MiSans"/>
                <a:ea typeface="MiSans"/>
              </a:rPr>
              <a:t>02　</a:t>
            </a:r>
            <a:r>
              <a:rPr lang="en-US" sz="1300" b="1">
                <a:solidFill>
                  <a:srgbClr val="1C0B0B"/>
                </a:solidFill>
                <a:latin typeface="MiSans"/>
                <a:ea typeface="MiSans"/>
              </a:rPr>
              <a:t>合作产品</a:t>
            </a:r>
            <a:endParaRPr lang="en-US" sz="1600"/>
          </a:p>
        </p:txBody>
      </p:sp>
      <p:sp>
        <p:nvSpPr>
          <p:cNvPr id="14" name="f3"/>
          <p:cNvSpPr txBox="1"/>
          <p:nvPr/>
        </p:nvSpPr>
        <p:spPr>
          <a:xfrm>
            <a:off x="4749800" y="3835400"/>
            <a:ext cx="2794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000" b="1">
                <a:solidFill>
                  <a:srgbClr val="B5AFAF"/>
                </a:solidFill>
                <a:latin typeface="MiSans"/>
                <a:ea typeface="MiSans"/>
              </a:rPr>
              <a:t>03　</a:t>
            </a:r>
            <a:r>
              <a:rPr lang="en-US" sz="1300" b="1">
                <a:solidFill>
                  <a:srgbClr val="1C0B0B"/>
                </a:solidFill>
                <a:latin typeface="MiSans"/>
                <a:ea typeface="MiSans"/>
              </a:rPr>
              <a:t>历史订单</a:t>
            </a:r>
            <a:endParaRPr lang="en-US" sz="1600"/>
          </a:p>
        </p:txBody>
      </p:sp>
      <p:sp>
        <p:nvSpPr>
          <p:cNvPr id="15" name="f4"/>
          <p:cNvSpPr txBox="1"/>
          <p:nvPr/>
        </p:nvSpPr>
        <p:spPr>
          <a:xfrm>
            <a:off x="4749800" y="4368800"/>
            <a:ext cx="2794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000" b="1">
                <a:solidFill>
                  <a:srgbClr val="B5AFAF"/>
                </a:solidFill>
                <a:latin typeface="MiSans"/>
                <a:ea typeface="MiSans"/>
              </a:rPr>
              <a:t>04　</a:t>
            </a:r>
            <a:r>
              <a:rPr lang="en-US" sz="1300" b="1">
                <a:solidFill>
                  <a:srgbClr val="1C0B0B"/>
                </a:solidFill>
                <a:latin typeface="MiSans"/>
                <a:ea typeface="MiSans"/>
              </a:rPr>
              <a:t>利润分析</a:t>
            </a:r>
            <a:endParaRPr lang="en-US" sz="1600"/>
          </a:p>
        </p:txBody>
      </p:sp>
      <p:sp>
        <p:nvSpPr>
          <p:cNvPr id="16" name="f5"/>
          <p:cNvSpPr txBox="1"/>
          <p:nvPr/>
        </p:nvSpPr>
        <p:spPr>
          <a:xfrm>
            <a:off x="4749800" y="4902200"/>
            <a:ext cx="2794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000" b="1">
                <a:solidFill>
                  <a:srgbClr val="B5AFAF"/>
                </a:solidFill>
                <a:latin typeface="MiSans"/>
                <a:ea typeface="MiSans"/>
              </a:rPr>
              <a:t>05　</a:t>
            </a:r>
            <a:r>
              <a:rPr lang="en-US" sz="1300" b="1">
                <a:solidFill>
                  <a:srgbClr val="1C0B0B"/>
                </a:solidFill>
                <a:latin typeface="MiSans"/>
                <a:ea typeface="MiSans"/>
              </a:rPr>
              <a:t>供应链地图</a:t>
            </a:r>
            <a:endParaRPr lang="en-US" sz="1600"/>
          </a:p>
        </p:txBody>
      </p:sp>
      <p:sp>
        <p:nvSpPr>
          <p:cNvPr id="17" name="f6"/>
          <p:cNvSpPr txBox="1"/>
          <p:nvPr/>
        </p:nvSpPr>
        <p:spPr>
          <a:xfrm>
            <a:off x="8305800" y="2768600"/>
            <a:ext cx="2794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000" b="1">
                <a:solidFill>
                  <a:srgbClr val="B5AFAF"/>
                </a:solidFill>
                <a:latin typeface="MiSans"/>
                <a:ea typeface="MiSans"/>
              </a:rPr>
              <a:t>06　</a:t>
            </a:r>
            <a:r>
              <a:rPr lang="en-US" sz="1300" b="1">
                <a:solidFill>
                  <a:srgbClr val="1C0B0B"/>
                </a:solidFill>
                <a:latin typeface="MiSans"/>
                <a:ea typeface="MiSans"/>
              </a:rPr>
              <a:t>主要竞争对手</a:t>
            </a:r>
            <a:endParaRPr lang="en-US" sz="1600"/>
          </a:p>
        </p:txBody>
      </p:sp>
      <p:sp>
        <p:nvSpPr>
          <p:cNvPr id="18" name="f7"/>
          <p:cNvSpPr txBox="1"/>
          <p:nvPr/>
        </p:nvSpPr>
        <p:spPr>
          <a:xfrm>
            <a:off x="8305800" y="3302000"/>
            <a:ext cx="2794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000" b="1">
                <a:solidFill>
                  <a:srgbClr val="B5AFAF"/>
                </a:solidFill>
                <a:latin typeface="MiSans"/>
                <a:ea typeface="MiSans"/>
              </a:rPr>
              <a:t>07　</a:t>
            </a:r>
            <a:r>
              <a:rPr lang="en-US" sz="1300" b="1">
                <a:solidFill>
                  <a:srgbClr val="1C0B0B"/>
                </a:solidFill>
                <a:latin typeface="MiSans"/>
                <a:ea typeface="MiSans"/>
              </a:rPr>
              <a:t>老板关注点</a:t>
            </a:r>
            <a:endParaRPr lang="en-US" sz="1600"/>
          </a:p>
        </p:txBody>
      </p:sp>
      <p:sp>
        <p:nvSpPr>
          <p:cNvPr id="19" name="f8"/>
          <p:cNvSpPr txBox="1"/>
          <p:nvPr/>
        </p:nvSpPr>
        <p:spPr>
          <a:xfrm>
            <a:off x="8305800" y="3835400"/>
            <a:ext cx="2794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000" b="1">
                <a:solidFill>
                  <a:srgbClr val="B5AFAF"/>
                </a:solidFill>
                <a:latin typeface="MiSans"/>
                <a:ea typeface="MiSans"/>
              </a:rPr>
              <a:t>08　</a:t>
            </a:r>
            <a:r>
              <a:rPr lang="en-US" sz="1300" b="1">
                <a:solidFill>
                  <a:srgbClr val="1C0B0B"/>
                </a:solidFill>
                <a:latin typeface="MiSans"/>
                <a:ea typeface="MiSans"/>
              </a:rPr>
              <a:t>未来项目</a:t>
            </a:r>
            <a:endParaRPr lang="en-US" sz="1600"/>
          </a:p>
        </p:txBody>
      </p:sp>
      <p:sp>
        <p:nvSpPr>
          <p:cNvPr id="20" name="f9"/>
          <p:cNvSpPr txBox="1"/>
          <p:nvPr/>
        </p:nvSpPr>
        <p:spPr>
          <a:xfrm>
            <a:off x="8305800" y="4368800"/>
            <a:ext cx="2794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000" b="1">
                <a:solidFill>
                  <a:srgbClr val="B5AFAF"/>
                </a:solidFill>
                <a:latin typeface="MiSans"/>
                <a:ea typeface="MiSans"/>
              </a:rPr>
              <a:t>09　</a:t>
            </a:r>
            <a:r>
              <a:rPr lang="en-US" sz="1300" b="1">
                <a:solidFill>
                  <a:srgbClr val="1C0B0B"/>
                </a:solidFill>
                <a:latin typeface="MiSans"/>
                <a:ea typeface="MiSans"/>
              </a:rPr>
              <a:t>风险提示</a:t>
            </a:r>
            <a:endParaRPr lang="en-US" sz="1600"/>
          </a:p>
        </p:txBody>
      </p:sp>
      <p:sp>
        <p:nvSpPr>
          <p:cNvPr id="21" name="f10"/>
          <p:cNvSpPr txBox="1"/>
          <p:nvPr/>
        </p:nvSpPr>
        <p:spPr>
          <a:xfrm>
            <a:off x="8305800" y="4902200"/>
            <a:ext cx="2794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000" b="1">
                <a:solidFill>
                  <a:srgbClr val="B5AFAF"/>
                </a:solidFill>
                <a:latin typeface="MiSans"/>
                <a:ea typeface="MiSans"/>
              </a:rPr>
              <a:t>10　</a:t>
            </a:r>
            <a:r>
              <a:rPr lang="en-US" sz="1300" b="1">
                <a:solidFill>
                  <a:srgbClr val="1C0B0B"/>
                </a:solidFill>
                <a:latin typeface="MiSans"/>
                <a:ea typeface="MiSans"/>
              </a:rPr>
              <a:t>下一步计划</a:t>
            </a:r>
            <a:endParaRPr lang="en-US" sz="1600"/>
          </a:p>
        </p:txBody>
      </p:sp>
      <p:sp>
        <p:nvSpPr>
          <p:cNvPr id="22" name="bottom-note"/>
          <p:cNvSpPr txBox="1"/>
          <p:nvPr/>
        </p:nvSpPr>
        <p:spPr>
          <a:xfrm>
            <a:off x="812800" y="5969000"/>
            <a:ext cx="105664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100">
                <a:solidFill>
                  <a:srgbClr val="8C8585"/>
                </a:solidFill>
                <a:latin typeface="MiSans"/>
                <a:ea typeface="MiSans"/>
              </a:rPr>
              <a:t>每次拜访后花10分钟更新一次——档案活，客户才活。</a:t>
            </a:r>
            <a:endParaRPr lang="en-US" sz="1100"/>
          </a:p>
        </p:txBody>
      </p:sp>
      <p:sp>
        <p:nvSpPr>
          <p:cNvPr id="23" name="footer-line"/>
          <p:cNvSpPr/>
          <p:nvPr/>
        </p:nvSpPr>
        <p:spPr>
          <a:xfrm>
            <a:off x="812800" y="6400800"/>
            <a:ext cx="10566400" cy="12700"/>
          </a:xfrm>
          <a:prstGeom prst="rect">
            <a:avLst/>
          </a:prstGeom>
          <a:solidFill>
            <a:srgbClr val="E7E6E6"/>
          </a:solidFill>
          <a:ln>
            <a:noFill/>
          </a:ln>
        </p:spPr>
      </p:sp>
      <p:sp>
        <p:nvSpPr>
          <p:cNvPr id="24" name="footer-left"/>
          <p:cNvSpPr txBox="1"/>
          <p:nvPr/>
        </p:nvSpPr>
        <p:spPr>
          <a:xfrm>
            <a:off x="812800" y="65024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900">
                <a:solidFill>
                  <a:srgbClr val="B5AFAF"/>
                </a:solidFill>
                <a:latin typeface="MiSans"/>
                <a:ea typeface="MiSans"/>
              </a:rPr>
              <a:t>第三课 · 客户经营 ｜ 企业商学院</a:t>
            </a:r>
            <a:endParaRPr lang="en-US" sz="900"/>
          </a:p>
        </p:txBody>
      </p:sp>
      <p:sp>
        <p:nvSpPr>
          <p:cNvPr id="25" name="footer-page"/>
          <p:cNvSpPr txBox="1"/>
          <p:nvPr/>
        </p:nvSpPr>
        <p:spPr>
          <a:xfrm>
            <a:off x="10109200" y="65024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20000"/>
              </a:lnSpc>
            </a:pPr>
            <a:r>
              <a:rPr lang="en-US" sz="900">
                <a:solidFill>
                  <a:srgbClr val="B5AFAF"/>
                </a:solidFill>
                <a:latin typeface="MiSans"/>
                <a:ea typeface="MiSans"/>
              </a:rPr>
              <a:t>16</a:t>
            </a:r>
            <a:endParaRPr lang="en-US" sz="900"/>
          </a:p>
        </p:txBody>
      </p:sp>
    </p:spTree>
  </p:cSld>
  <p:clrMapOvr>
    <a:masterClrMapping/>
  </p:clrMapOvr>
  <p:transition spd="fast" advClick="1">
    <p:checker dir="horz"/>
  </p:transition>
</p:sld>
</file>

<file path=ppt/slides/slide17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508000"/>
            <a:ext cx="762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000" spc="300" kern="0">
                <a:solidFill>
                  <a:srgbClr val="8C8585"/>
                </a:solidFill>
                <a:latin typeface="MiSans"/>
                <a:ea typeface="MiSans"/>
              </a:rPr>
              <a:t>关键决策人</a:t>
            </a:r>
            <a:endParaRPr lang="en-US" sz="1000"/>
          </a:p>
        </p:txBody>
      </p:sp>
      <p:sp>
        <p:nvSpPr>
          <p:cNvPr id="3" name="title"/>
          <p:cNvSpPr txBox="1"/>
          <p:nvPr/>
        </p:nvSpPr>
        <p:spPr>
          <a:xfrm>
            <a:off x="812800" y="762000"/>
            <a:ext cx="10160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2600" b="1">
                <a:solidFill>
                  <a:srgbClr val="1C0B0B"/>
                </a:solidFill>
                <a:latin typeface="MiSans"/>
                <a:ea typeface="MiSans"/>
              </a:rPr>
              <a:t>经营客户，经营的是老板</a:t>
            </a:r>
            <a:endParaRPr lang="en-US" sz="2600"/>
          </a:p>
        </p:txBody>
      </p:sp>
      <p:sp>
        <p:nvSpPr>
          <p:cNvPr id="4" name="caption"/>
          <p:cNvSpPr txBox="1"/>
          <p:nvPr/>
        </p:nvSpPr>
        <p:spPr>
          <a:xfrm>
            <a:off x="812800" y="1295400"/>
            <a:ext cx="1016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200">
                <a:solidFill>
                  <a:srgbClr val="8C8585"/>
                </a:solidFill>
                <a:latin typeface="MiSans"/>
                <a:ea typeface="MiSans"/>
              </a:rPr>
              <a:t>真正决定合作的人，很多时候不是采购，而是老板</a:t>
            </a:r>
            <a:endParaRPr lang="en-US" sz="1200"/>
          </a:p>
        </p:txBody>
      </p:sp>
      <p:sp>
        <p:nvSpPr>
          <p:cNvPr id="5" name="title-line"/>
          <p:cNvSpPr/>
          <p:nvPr/>
        </p:nvSpPr>
        <p:spPr>
          <a:xfrm>
            <a:off x="812800" y="1676400"/>
            <a:ext cx="10566400" cy="12700"/>
          </a:xfrm>
          <a:prstGeom prst="rect">
            <a:avLst/>
          </a:prstGeom>
          <a:solidFill>
            <a:srgbClr val="E7E6E6"/>
          </a:solidFill>
          <a:ln>
            <a:noFill/>
          </a:ln>
        </p:spPr>
      </p:sp>
      <p:sp>
        <p:nvSpPr>
          <p:cNvPr id="6" name="lead"/>
          <p:cNvSpPr txBox="1"/>
          <p:nvPr/>
        </p:nvSpPr>
        <p:spPr>
          <a:xfrm>
            <a:off x="812800" y="2006600"/>
            <a:ext cx="105664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400">
                <a:solidFill>
                  <a:srgbClr val="8C8585"/>
                </a:solidFill>
                <a:latin typeface="MiSans"/>
                <a:ea typeface="MiSans"/>
              </a:rPr>
              <a:t>老板关心的，从来不是某个产品的价格——而是这五件事：</a:t>
            </a:r>
            <a:endParaRPr lang="en-US" sz="1400"/>
          </a:p>
        </p:txBody>
      </p:sp>
      <p:sp>
        <p:nvSpPr>
          <p:cNvPr id="7" name="b1"/>
          <p:cNvSpPr/>
          <p:nvPr/>
        </p:nvSpPr>
        <p:spPr>
          <a:xfrm>
            <a:off x="812800" y="2540000"/>
            <a:ext cx="1905000" cy="1524000"/>
          </a:xfrm>
          <a:prstGeom prst="rect">
            <a:avLst/>
          </a:prstGeom>
          <a:solidFill>
            <a:srgbClr val="F6F6F6"/>
          </a:solidFill>
          <a:ln>
            <a:noFill/>
          </a:ln>
        </p:spPr>
      </p:sp>
      <p:sp>
        <p:nvSpPr>
          <p:cNvPr id="8" name="b1-k"/>
          <p:cNvSpPr txBox="1"/>
          <p:nvPr/>
        </p:nvSpPr>
        <p:spPr>
          <a:xfrm>
            <a:off x="990600" y="2768600"/>
            <a:ext cx="15494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900" b="1">
                <a:solidFill>
                  <a:srgbClr val="1C0B0B"/>
                </a:solidFill>
                <a:latin typeface="MiSans"/>
                <a:ea typeface="MiSans"/>
              </a:rPr>
              <a:t>利润</a:t>
            </a:r>
            <a:endParaRPr lang="en-US" sz="1900"/>
          </a:p>
        </p:txBody>
      </p:sp>
      <p:sp>
        <p:nvSpPr>
          <p:cNvPr id="9" name="b1-g"/>
          <p:cNvSpPr txBox="1"/>
          <p:nvPr/>
        </p:nvSpPr>
        <p:spPr>
          <a:xfrm>
            <a:off x="990600" y="3200400"/>
            <a:ext cx="15494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000">
                <a:solidFill>
                  <a:srgbClr val="8C8585"/>
                </a:solidFill>
                <a:latin typeface="MiSans"/>
                <a:ea typeface="MiSans"/>
              </a:rPr>
              <a:t>这单能挣多少钱</a:t>
            </a:r>
            <a:endParaRPr lang="en-US" sz="1000"/>
          </a:p>
        </p:txBody>
      </p:sp>
      <p:sp>
        <p:nvSpPr>
          <p:cNvPr id="10" name="b2"/>
          <p:cNvSpPr/>
          <p:nvPr/>
        </p:nvSpPr>
        <p:spPr>
          <a:xfrm>
            <a:off x="2946400" y="2540000"/>
            <a:ext cx="1905000" cy="1524000"/>
          </a:xfrm>
          <a:prstGeom prst="rect">
            <a:avLst/>
          </a:prstGeom>
          <a:solidFill>
            <a:srgbClr val="F6F6F6"/>
          </a:solidFill>
          <a:ln>
            <a:noFill/>
          </a:ln>
        </p:spPr>
      </p:sp>
      <p:sp>
        <p:nvSpPr>
          <p:cNvPr id="11" name="b2-k"/>
          <p:cNvSpPr txBox="1"/>
          <p:nvPr/>
        </p:nvSpPr>
        <p:spPr>
          <a:xfrm>
            <a:off x="3124200" y="2768600"/>
            <a:ext cx="15494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900" b="1">
                <a:solidFill>
                  <a:srgbClr val="1C0B0B"/>
                </a:solidFill>
                <a:latin typeface="MiSans"/>
                <a:ea typeface="MiSans"/>
              </a:rPr>
              <a:t>增长</a:t>
            </a:r>
            <a:endParaRPr lang="en-US" sz="1900"/>
          </a:p>
        </p:txBody>
      </p:sp>
      <p:sp>
        <p:nvSpPr>
          <p:cNvPr id="12" name="b2-g"/>
          <p:cNvSpPr txBox="1"/>
          <p:nvPr/>
        </p:nvSpPr>
        <p:spPr>
          <a:xfrm>
            <a:off x="3124200" y="3200400"/>
            <a:ext cx="15494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000">
                <a:solidFill>
                  <a:srgbClr val="8C8585"/>
                </a:solidFill>
                <a:latin typeface="MiSans"/>
                <a:ea typeface="MiSans"/>
              </a:rPr>
              <a:t>生意能不能做大</a:t>
            </a:r>
            <a:endParaRPr lang="en-US" sz="1000"/>
          </a:p>
        </p:txBody>
      </p:sp>
      <p:sp>
        <p:nvSpPr>
          <p:cNvPr id="13" name="b3"/>
          <p:cNvSpPr/>
          <p:nvPr/>
        </p:nvSpPr>
        <p:spPr>
          <a:xfrm>
            <a:off x="5080000" y="2540000"/>
            <a:ext cx="1905000" cy="1524000"/>
          </a:xfrm>
          <a:prstGeom prst="rect">
            <a:avLst/>
          </a:prstGeom>
          <a:solidFill>
            <a:srgbClr val="F6F6F6"/>
          </a:solidFill>
          <a:ln>
            <a:noFill/>
          </a:ln>
        </p:spPr>
      </p:sp>
      <p:sp>
        <p:nvSpPr>
          <p:cNvPr id="14" name="b3-k"/>
          <p:cNvSpPr txBox="1"/>
          <p:nvPr/>
        </p:nvSpPr>
        <p:spPr>
          <a:xfrm>
            <a:off x="5257800" y="2768600"/>
            <a:ext cx="15494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900" b="1">
                <a:solidFill>
                  <a:srgbClr val="1C0B0B"/>
                </a:solidFill>
                <a:latin typeface="MiSans"/>
                <a:ea typeface="MiSans"/>
              </a:rPr>
              <a:t>效率</a:t>
            </a:r>
            <a:endParaRPr lang="en-US" sz="1900"/>
          </a:p>
        </p:txBody>
      </p:sp>
      <p:sp>
        <p:nvSpPr>
          <p:cNvPr id="15" name="b3-g"/>
          <p:cNvSpPr txBox="1"/>
          <p:nvPr/>
        </p:nvSpPr>
        <p:spPr>
          <a:xfrm>
            <a:off x="5257800" y="3200400"/>
            <a:ext cx="15494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000">
                <a:solidFill>
                  <a:srgbClr val="8C8585"/>
                </a:solidFill>
                <a:latin typeface="MiSans"/>
                <a:ea typeface="MiSans"/>
              </a:rPr>
              <a:t>能不能省心省力</a:t>
            </a:r>
            <a:endParaRPr lang="en-US" sz="1000"/>
          </a:p>
        </p:txBody>
      </p:sp>
      <p:sp>
        <p:nvSpPr>
          <p:cNvPr id="16" name="b4"/>
          <p:cNvSpPr/>
          <p:nvPr/>
        </p:nvSpPr>
        <p:spPr>
          <a:xfrm>
            <a:off x="7213600" y="2540000"/>
            <a:ext cx="1905000" cy="1524000"/>
          </a:xfrm>
          <a:prstGeom prst="rect">
            <a:avLst/>
          </a:prstGeom>
          <a:solidFill>
            <a:srgbClr val="F6F6F6"/>
          </a:solidFill>
          <a:ln>
            <a:noFill/>
          </a:ln>
        </p:spPr>
      </p:sp>
      <p:sp>
        <p:nvSpPr>
          <p:cNvPr id="17" name="b4-k"/>
          <p:cNvSpPr txBox="1"/>
          <p:nvPr/>
        </p:nvSpPr>
        <p:spPr>
          <a:xfrm>
            <a:off x="7391400" y="2768600"/>
            <a:ext cx="15494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900" b="1">
                <a:solidFill>
                  <a:srgbClr val="1C0B0B"/>
                </a:solidFill>
                <a:latin typeface="MiSans"/>
                <a:ea typeface="MiSans"/>
              </a:rPr>
              <a:t>风险</a:t>
            </a:r>
            <a:endParaRPr lang="en-US" sz="1900"/>
          </a:p>
        </p:txBody>
      </p:sp>
      <p:sp>
        <p:nvSpPr>
          <p:cNvPr id="18" name="b4-g"/>
          <p:cNvSpPr txBox="1"/>
          <p:nvPr/>
        </p:nvSpPr>
        <p:spPr>
          <a:xfrm>
            <a:off x="7391400" y="3200400"/>
            <a:ext cx="15494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000">
                <a:solidFill>
                  <a:srgbClr val="8C8585"/>
                </a:solidFill>
                <a:latin typeface="MiSans"/>
                <a:ea typeface="MiSans"/>
              </a:rPr>
              <a:t>会不会出问题</a:t>
            </a:r>
            <a:endParaRPr lang="en-US" sz="1000"/>
          </a:p>
        </p:txBody>
      </p:sp>
      <p:sp>
        <p:nvSpPr>
          <p:cNvPr id="19" name="b5"/>
          <p:cNvSpPr/>
          <p:nvPr/>
        </p:nvSpPr>
        <p:spPr>
          <a:xfrm>
            <a:off x="9347200" y="2540000"/>
            <a:ext cx="1905000" cy="1524000"/>
          </a:xfrm>
          <a:prstGeom prst="rect">
            <a:avLst/>
          </a:prstGeom>
          <a:solidFill>
            <a:srgbClr val="F6F6F6"/>
          </a:solidFill>
          <a:ln>
            <a:noFill/>
          </a:ln>
        </p:spPr>
      </p:sp>
      <p:sp>
        <p:nvSpPr>
          <p:cNvPr id="20" name="b5-k"/>
          <p:cNvSpPr txBox="1"/>
          <p:nvPr/>
        </p:nvSpPr>
        <p:spPr>
          <a:xfrm>
            <a:off x="9525000" y="2768600"/>
            <a:ext cx="15494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900" b="1">
                <a:solidFill>
                  <a:srgbClr val="1C0B0B"/>
                </a:solidFill>
                <a:latin typeface="MiSans"/>
                <a:ea typeface="MiSans"/>
              </a:rPr>
              <a:t>现金流</a:t>
            </a:r>
            <a:endParaRPr lang="en-US" sz="1900"/>
          </a:p>
        </p:txBody>
      </p:sp>
      <p:sp>
        <p:nvSpPr>
          <p:cNvPr id="21" name="b5-g"/>
          <p:cNvSpPr txBox="1"/>
          <p:nvPr/>
        </p:nvSpPr>
        <p:spPr>
          <a:xfrm>
            <a:off x="9525000" y="3200400"/>
            <a:ext cx="15494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000">
                <a:solidFill>
                  <a:srgbClr val="8C8585"/>
                </a:solidFill>
                <a:latin typeface="MiSans"/>
                <a:ea typeface="MiSans"/>
              </a:rPr>
              <a:t>资金安不安全</a:t>
            </a:r>
            <a:endParaRPr lang="en-US" sz="1000"/>
          </a:p>
        </p:txBody>
      </p:sp>
      <p:sp>
        <p:nvSpPr>
          <p:cNvPr id="22" name="pink-bar"/>
          <p:cNvSpPr/>
          <p:nvPr/>
        </p:nvSpPr>
        <p:spPr>
          <a:xfrm>
            <a:off x="812800" y="4699000"/>
            <a:ext cx="10566400" cy="660400"/>
          </a:xfrm>
          <a:prstGeom prst="rect">
            <a:avLst/>
          </a:prstGeom>
          <a:solidFill>
            <a:srgbClr val="FFF1F1"/>
          </a:solidFill>
          <a:ln>
            <a:noFill/>
          </a:ln>
        </p:spPr>
      </p:sp>
      <p:sp>
        <p:nvSpPr>
          <p:cNvPr id="23" name="pink-text"/>
          <p:cNvSpPr txBox="1"/>
          <p:nvPr/>
        </p:nvSpPr>
        <p:spPr>
          <a:xfrm>
            <a:off x="1066800" y="4699000"/>
            <a:ext cx="10160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1400">
                <a:solidFill>
                  <a:srgbClr val="1C0B0B"/>
                </a:solidFill>
                <a:latin typeface="MiSans"/>
                <a:ea typeface="MiSans"/>
              </a:rPr>
              <a:t>学会站在老板的角度沟通——说</a:t>
            </a:r>
            <a:r>
              <a:rPr lang="en-US" sz="1400" b="1">
                <a:solidFill>
                  <a:srgbClr val="FF4D4D"/>
                </a:solidFill>
                <a:latin typeface="MiSans"/>
                <a:ea typeface="MiSans"/>
              </a:rPr>
              <a:t>利润、增长、风险</a:t>
            </a:r>
            <a:r>
              <a:rPr lang="en-US" sz="1400">
                <a:solidFill>
                  <a:srgbClr val="1C0B0B"/>
                </a:solidFill>
                <a:latin typeface="MiSans"/>
                <a:ea typeface="MiSans"/>
              </a:rPr>
              <a:t>，而不只是产品价格。</a:t>
            </a:r>
            <a:endParaRPr lang="en-US" sz="1400"/>
          </a:p>
        </p:txBody>
      </p:sp>
      <p:sp>
        <p:nvSpPr>
          <p:cNvPr id="24" name="bottom-note"/>
          <p:cNvSpPr txBox="1"/>
          <p:nvPr/>
        </p:nvSpPr>
        <p:spPr>
          <a:xfrm>
            <a:off x="812800" y="5689600"/>
            <a:ext cx="105664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150">
                <a:solidFill>
                  <a:srgbClr val="8C8585"/>
                </a:solidFill>
                <a:latin typeface="MiSans"/>
                <a:ea typeface="MiSans"/>
              </a:rPr>
              <a:t>和采购谈价格，和老板谈经营。</a:t>
            </a:r>
            <a:endParaRPr lang="en-US" sz="1150"/>
          </a:p>
        </p:txBody>
      </p:sp>
      <p:sp>
        <p:nvSpPr>
          <p:cNvPr id="25" name="footer-line"/>
          <p:cNvSpPr/>
          <p:nvPr/>
        </p:nvSpPr>
        <p:spPr>
          <a:xfrm>
            <a:off x="812800" y="6400800"/>
            <a:ext cx="10566400" cy="12700"/>
          </a:xfrm>
          <a:prstGeom prst="rect">
            <a:avLst/>
          </a:prstGeom>
          <a:solidFill>
            <a:srgbClr val="E7E6E6"/>
          </a:solidFill>
          <a:ln>
            <a:noFill/>
          </a:ln>
        </p:spPr>
      </p:sp>
      <p:sp>
        <p:nvSpPr>
          <p:cNvPr id="26" name="footer-left"/>
          <p:cNvSpPr txBox="1"/>
          <p:nvPr/>
        </p:nvSpPr>
        <p:spPr>
          <a:xfrm>
            <a:off x="812800" y="65024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900">
                <a:solidFill>
                  <a:srgbClr val="B5AFAF"/>
                </a:solidFill>
                <a:latin typeface="MiSans"/>
                <a:ea typeface="MiSans"/>
              </a:rPr>
              <a:t>第三课 · 客户经营 ｜ 企业商学院</a:t>
            </a:r>
            <a:endParaRPr lang="en-US" sz="900"/>
          </a:p>
        </p:txBody>
      </p:sp>
      <p:sp>
        <p:nvSpPr>
          <p:cNvPr id="27" name="footer-page"/>
          <p:cNvSpPr txBox="1"/>
          <p:nvPr/>
        </p:nvSpPr>
        <p:spPr>
          <a:xfrm>
            <a:off x="10109200" y="65024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20000"/>
              </a:lnSpc>
            </a:pPr>
            <a:r>
              <a:rPr lang="en-US" sz="900">
                <a:solidFill>
                  <a:srgbClr val="B5AFAF"/>
                </a:solidFill>
                <a:latin typeface="MiSans"/>
                <a:ea typeface="MiSans"/>
              </a:rPr>
              <a:t>17</a:t>
            </a:r>
            <a:endParaRPr lang="en-US" sz="900"/>
          </a:p>
        </p:txBody>
      </p:sp>
    </p:spTree>
  </p:cSld>
  <p:clrMapOvr>
    <a:masterClrMapping/>
  </p:clrMapOvr>
  <p:transition spd="fast" advClick="1">
    <p:checker dir="horz"/>
  </p:transition>
</p:sld>
</file>

<file path=ppt/slides/slide18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508000"/>
            <a:ext cx="762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000" spc="300" kern="0">
                <a:solidFill>
                  <a:srgbClr val="8C8585"/>
                </a:solidFill>
                <a:latin typeface="MiSans"/>
                <a:ea typeface="MiSans"/>
              </a:rPr>
              <a:t>客户成长</a:t>
            </a:r>
            <a:endParaRPr lang="en-US" sz="1000"/>
          </a:p>
        </p:txBody>
      </p:sp>
      <p:sp>
        <p:nvSpPr>
          <p:cNvPr id="3" name="title"/>
          <p:cNvSpPr txBox="1"/>
          <p:nvPr/>
        </p:nvSpPr>
        <p:spPr>
          <a:xfrm>
            <a:off x="812800" y="762000"/>
            <a:ext cx="10160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2600" b="1">
                <a:solidFill>
                  <a:srgbClr val="1C0B0B"/>
                </a:solidFill>
                <a:latin typeface="MiSans"/>
                <a:ea typeface="MiSans"/>
              </a:rPr>
              <a:t>帮助客户成长</a:t>
            </a:r>
            <a:endParaRPr lang="en-US" sz="2600"/>
          </a:p>
        </p:txBody>
      </p:sp>
      <p:sp>
        <p:nvSpPr>
          <p:cNvPr id="4" name="caption"/>
          <p:cNvSpPr txBox="1"/>
          <p:nvPr/>
        </p:nvSpPr>
        <p:spPr>
          <a:xfrm>
            <a:off x="812800" y="1295400"/>
            <a:ext cx="1016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200">
                <a:solidFill>
                  <a:srgbClr val="8C8585"/>
                </a:solidFill>
                <a:latin typeface="MiSans"/>
                <a:ea typeface="MiSans"/>
              </a:rPr>
              <a:t>真正的客户经营，不是等客户下单，而是帮客户成功</a:t>
            </a:r>
            <a:endParaRPr lang="en-US" sz="1200"/>
          </a:p>
        </p:txBody>
      </p:sp>
      <p:sp>
        <p:nvSpPr>
          <p:cNvPr id="5" name="title-line"/>
          <p:cNvSpPr/>
          <p:nvPr/>
        </p:nvSpPr>
        <p:spPr>
          <a:xfrm>
            <a:off x="812800" y="1676400"/>
            <a:ext cx="10566400" cy="12700"/>
          </a:xfrm>
          <a:prstGeom prst="rect">
            <a:avLst/>
          </a:prstGeom>
          <a:solidFill>
            <a:srgbClr val="E7E6E6"/>
          </a:solidFill>
          <a:ln>
            <a:noFill/>
          </a:ln>
        </p:spPr>
      </p:sp>
      <p:sp>
        <p:nvSpPr>
          <p:cNvPr id="6" name="a1"/>
          <p:cNvSpPr/>
          <p:nvPr/>
        </p:nvSpPr>
        <p:spPr>
          <a:xfrm>
            <a:off x="812800" y="2095500"/>
            <a:ext cx="5156200" cy="1270000"/>
          </a:xfrm>
          <a:prstGeom prst="rect">
            <a:avLst/>
          </a:prstGeom>
          <a:solidFill>
            <a:srgbClr val="F6F6F6"/>
          </a:solidFill>
          <a:ln>
            <a:noFill/>
          </a:ln>
        </p:spPr>
      </p:sp>
      <p:sp>
        <p:nvSpPr>
          <p:cNvPr id="7" name="a1-t"/>
          <p:cNvSpPr txBox="1"/>
          <p:nvPr/>
        </p:nvSpPr>
        <p:spPr>
          <a:xfrm>
            <a:off x="1066800" y="2324100"/>
            <a:ext cx="3810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700" b="1">
                <a:solidFill>
                  <a:srgbClr val="1C0B0B"/>
                </a:solidFill>
                <a:latin typeface="MiSans"/>
                <a:ea typeface="MiSans"/>
              </a:rPr>
              <a:t>找到新品</a:t>
            </a:r>
            <a:endParaRPr lang="en-US" sz="1700"/>
          </a:p>
        </p:txBody>
      </p:sp>
      <p:sp>
        <p:nvSpPr>
          <p:cNvPr id="8" name="a1-g"/>
          <p:cNvSpPr txBox="1"/>
          <p:nvPr/>
        </p:nvSpPr>
        <p:spPr>
          <a:xfrm>
            <a:off x="1066800" y="2730500"/>
            <a:ext cx="46482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150">
                <a:solidFill>
                  <a:srgbClr val="8C8585"/>
                </a:solidFill>
                <a:latin typeface="MiSans"/>
                <a:ea typeface="MiSans"/>
              </a:rPr>
              <a:t>用你的品类眼光，帮客户发现下一个爆款</a:t>
            </a:r>
            <a:endParaRPr lang="en-US" sz="1150"/>
          </a:p>
        </p:txBody>
      </p:sp>
      <p:sp>
        <p:nvSpPr>
          <p:cNvPr id="9" name="a2"/>
          <p:cNvSpPr/>
          <p:nvPr/>
        </p:nvSpPr>
        <p:spPr>
          <a:xfrm>
            <a:off x="6223000" y="2095500"/>
            <a:ext cx="5156200" cy="1270000"/>
          </a:xfrm>
          <a:prstGeom prst="rect">
            <a:avLst/>
          </a:prstGeom>
          <a:solidFill>
            <a:srgbClr val="F6F6F6"/>
          </a:solidFill>
          <a:ln>
            <a:noFill/>
          </a:ln>
        </p:spPr>
      </p:sp>
      <p:sp>
        <p:nvSpPr>
          <p:cNvPr id="10" name="a2-t"/>
          <p:cNvSpPr txBox="1"/>
          <p:nvPr/>
        </p:nvSpPr>
        <p:spPr>
          <a:xfrm>
            <a:off x="6477000" y="2324100"/>
            <a:ext cx="3810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700" b="1">
                <a:solidFill>
                  <a:srgbClr val="1C0B0B"/>
                </a:solidFill>
                <a:latin typeface="MiSans"/>
                <a:ea typeface="MiSans"/>
              </a:rPr>
              <a:t>降低成本</a:t>
            </a:r>
            <a:endParaRPr lang="en-US" sz="1700"/>
          </a:p>
        </p:txBody>
      </p:sp>
      <p:sp>
        <p:nvSpPr>
          <p:cNvPr id="11" name="a2-g"/>
          <p:cNvSpPr txBox="1"/>
          <p:nvPr/>
        </p:nvSpPr>
        <p:spPr>
          <a:xfrm>
            <a:off x="6477000" y="2730500"/>
            <a:ext cx="46482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150">
                <a:solidFill>
                  <a:srgbClr val="8C8585"/>
                </a:solidFill>
                <a:latin typeface="MiSans"/>
                <a:ea typeface="MiSans"/>
              </a:rPr>
              <a:t>从交付、库存、账期里，挤出利润</a:t>
            </a:r>
            <a:endParaRPr lang="en-US" sz="1150"/>
          </a:p>
        </p:txBody>
      </p:sp>
      <p:sp>
        <p:nvSpPr>
          <p:cNvPr id="12" name="a3"/>
          <p:cNvSpPr/>
          <p:nvPr/>
        </p:nvSpPr>
        <p:spPr>
          <a:xfrm>
            <a:off x="812800" y="3619500"/>
            <a:ext cx="5156200" cy="1270000"/>
          </a:xfrm>
          <a:prstGeom prst="rect">
            <a:avLst/>
          </a:prstGeom>
          <a:solidFill>
            <a:srgbClr val="F6F6F6"/>
          </a:solidFill>
          <a:ln>
            <a:noFill/>
          </a:ln>
        </p:spPr>
      </p:sp>
      <p:sp>
        <p:nvSpPr>
          <p:cNvPr id="13" name="a3-t"/>
          <p:cNvSpPr txBox="1"/>
          <p:nvPr/>
        </p:nvSpPr>
        <p:spPr>
          <a:xfrm>
            <a:off x="1066800" y="3848100"/>
            <a:ext cx="3810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700" b="1">
                <a:solidFill>
                  <a:srgbClr val="1C0B0B"/>
                </a:solidFill>
                <a:latin typeface="MiSans"/>
                <a:ea typeface="MiSans"/>
              </a:rPr>
              <a:t>提高竞争力</a:t>
            </a:r>
            <a:endParaRPr lang="en-US" sz="1700"/>
          </a:p>
        </p:txBody>
      </p:sp>
      <p:sp>
        <p:nvSpPr>
          <p:cNvPr id="14" name="a3-g"/>
          <p:cNvSpPr txBox="1"/>
          <p:nvPr/>
        </p:nvSpPr>
        <p:spPr>
          <a:xfrm>
            <a:off x="1066800" y="4254500"/>
            <a:ext cx="46482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150">
                <a:solidFill>
                  <a:srgbClr val="8C8585"/>
                </a:solidFill>
                <a:latin typeface="MiSans"/>
                <a:ea typeface="MiSans"/>
              </a:rPr>
              <a:t>让客户在他的市场里，变得更强</a:t>
            </a:r>
            <a:endParaRPr lang="en-US" sz="1150"/>
          </a:p>
        </p:txBody>
      </p:sp>
      <p:sp>
        <p:nvSpPr>
          <p:cNvPr id="15" name="a4"/>
          <p:cNvSpPr/>
          <p:nvPr/>
        </p:nvSpPr>
        <p:spPr>
          <a:xfrm>
            <a:off x="6223000" y="3619500"/>
            <a:ext cx="5156200" cy="1270000"/>
          </a:xfrm>
          <a:prstGeom prst="rect">
            <a:avLst/>
          </a:prstGeom>
          <a:solidFill>
            <a:srgbClr val="F6F6F6"/>
          </a:solidFill>
          <a:ln>
            <a:noFill/>
          </a:ln>
        </p:spPr>
      </p:sp>
      <p:sp>
        <p:nvSpPr>
          <p:cNvPr id="16" name="a4-t"/>
          <p:cNvSpPr txBox="1"/>
          <p:nvPr/>
        </p:nvSpPr>
        <p:spPr>
          <a:xfrm>
            <a:off x="6477000" y="3848100"/>
            <a:ext cx="3810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700" b="1">
                <a:solidFill>
                  <a:srgbClr val="1C0B0B"/>
                </a:solidFill>
                <a:latin typeface="MiSans"/>
                <a:ea typeface="MiSans"/>
              </a:rPr>
              <a:t>优化供应链</a:t>
            </a:r>
            <a:endParaRPr lang="en-US" sz="1700"/>
          </a:p>
        </p:txBody>
      </p:sp>
      <p:sp>
        <p:nvSpPr>
          <p:cNvPr id="17" name="a4-g"/>
          <p:cNvSpPr txBox="1"/>
          <p:nvPr/>
        </p:nvSpPr>
        <p:spPr>
          <a:xfrm>
            <a:off x="6477000" y="4254500"/>
            <a:ext cx="46482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150">
                <a:solidFill>
                  <a:srgbClr val="8C8585"/>
                </a:solidFill>
                <a:latin typeface="MiSans"/>
                <a:ea typeface="MiSans"/>
              </a:rPr>
              <a:t>让客户的后端，跑得又快又稳</a:t>
            </a:r>
            <a:endParaRPr lang="en-US" sz="1150"/>
          </a:p>
        </p:txBody>
      </p:sp>
      <p:sp>
        <p:nvSpPr>
          <p:cNvPr id="18" name="result-card"/>
          <p:cNvSpPr/>
          <p:nvPr/>
        </p:nvSpPr>
        <p:spPr>
          <a:xfrm>
            <a:off x="812800" y="5270500"/>
            <a:ext cx="10566400" cy="762000"/>
          </a:xfrm>
          <a:prstGeom prst="rect">
            <a:avLst/>
          </a:prstGeom>
          <a:solidFill>
            <a:srgbClr val="FF4D4D"/>
          </a:solidFill>
          <a:ln>
            <a:noFill/>
          </a:ln>
        </p:spPr>
      </p:sp>
      <p:sp>
        <p:nvSpPr>
          <p:cNvPr id="19" name="result-main"/>
          <p:cNvSpPr txBox="1"/>
          <p:nvPr/>
        </p:nvSpPr>
        <p:spPr>
          <a:xfrm>
            <a:off x="1066800" y="5270500"/>
            <a:ext cx="6604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1900" b="1">
                <a:solidFill>
                  <a:srgbClr val="FFFFFF"/>
                </a:solidFill>
                <a:latin typeface="MiSans"/>
                <a:ea typeface="MiSans"/>
              </a:rPr>
              <a:t>客户越成功，你的订单越稳定。</a:t>
            </a:r>
            <a:endParaRPr lang="en-US" sz="1900"/>
          </a:p>
        </p:txBody>
      </p:sp>
      <p:sp>
        <p:nvSpPr>
          <p:cNvPr id="20" name="result-sub"/>
          <p:cNvSpPr txBox="1"/>
          <p:nvPr/>
        </p:nvSpPr>
        <p:spPr>
          <a:xfrm>
            <a:off x="7874000" y="5270500"/>
            <a:ext cx="3302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FFFFFF"/>
                </a:solidFill>
                <a:latin typeface="MiSans"/>
                <a:ea typeface="MiSans"/>
              </a:rPr>
              <a:t>客户的增长，就是你的增长</a:t>
            </a:r>
            <a:endParaRPr lang="en-US" sz="1100"/>
          </a:p>
        </p:txBody>
      </p:sp>
      <p:sp>
        <p:nvSpPr>
          <p:cNvPr id="21" name="footer-line"/>
          <p:cNvSpPr/>
          <p:nvPr/>
        </p:nvSpPr>
        <p:spPr>
          <a:xfrm>
            <a:off x="812800" y="6400800"/>
            <a:ext cx="10566400" cy="12700"/>
          </a:xfrm>
          <a:prstGeom prst="rect">
            <a:avLst/>
          </a:prstGeom>
          <a:solidFill>
            <a:srgbClr val="E7E6E6"/>
          </a:solidFill>
          <a:ln>
            <a:noFill/>
          </a:ln>
        </p:spPr>
      </p:sp>
      <p:sp>
        <p:nvSpPr>
          <p:cNvPr id="22" name="footer-left"/>
          <p:cNvSpPr txBox="1"/>
          <p:nvPr/>
        </p:nvSpPr>
        <p:spPr>
          <a:xfrm>
            <a:off x="812800" y="65024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900">
                <a:solidFill>
                  <a:srgbClr val="B5AFAF"/>
                </a:solidFill>
                <a:latin typeface="MiSans"/>
                <a:ea typeface="MiSans"/>
              </a:rPr>
              <a:t>第三课 · 客户经营 ｜ 企业商学院</a:t>
            </a:r>
            <a:endParaRPr lang="en-US" sz="900"/>
          </a:p>
        </p:txBody>
      </p:sp>
      <p:sp>
        <p:nvSpPr>
          <p:cNvPr id="23" name="footer-page"/>
          <p:cNvSpPr txBox="1"/>
          <p:nvPr/>
        </p:nvSpPr>
        <p:spPr>
          <a:xfrm>
            <a:off x="10109200" y="65024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20000"/>
              </a:lnSpc>
            </a:pPr>
            <a:r>
              <a:rPr lang="en-US" sz="900">
                <a:solidFill>
                  <a:srgbClr val="B5AFAF"/>
                </a:solidFill>
                <a:latin typeface="MiSans"/>
                <a:ea typeface="MiSans"/>
              </a:rPr>
              <a:t>18</a:t>
            </a:r>
            <a:endParaRPr lang="en-US" sz="900"/>
          </a:p>
        </p:txBody>
      </p:sp>
    </p:spTree>
  </p:cSld>
  <p:clrMapOvr>
    <a:masterClrMapping/>
  </p:clrMapOvr>
  <p:transition spd="fast" advClick="1">
    <p:checker dir="horz"/>
  </p:transition>
</p:sld>
</file>

<file path=ppt/slides/slide19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508000"/>
            <a:ext cx="762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000" spc="300" kern="0">
                <a:solidFill>
                  <a:srgbClr val="8C8585"/>
                </a:solidFill>
                <a:latin typeface="MiSans"/>
                <a:ea typeface="MiSans"/>
              </a:rPr>
              <a:t>资产思维</a:t>
            </a:r>
            <a:endParaRPr lang="en-US" sz="1000"/>
          </a:p>
        </p:txBody>
      </p:sp>
      <p:sp>
        <p:nvSpPr>
          <p:cNvPr id="3" name="title"/>
          <p:cNvSpPr txBox="1"/>
          <p:nvPr/>
        </p:nvSpPr>
        <p:spPr>
          <a:xfrm>
            <a:off x="812800" y="762000"/>
            <a:ext cx="10160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2600" b="1">
                <a:solidFill>
                  <a:srgbClr val="1C0B0B"/>
                </a:solidFill>
                <a:latin typeface="MiSans"/>
                <a:ea typeface="MiSans"/>
              </a:rPr>
              <a:t>客户资产思维</a:t>
            </a:r>
            <a:endParaRPr lang="en-US" sz="2600"/>
          </a:p>
        </p:txBody>
      </p:sp>
      <p:sp>
        <p:nvSpPr>
          <p:cNvPr id="4" name="caption"/>
          <p:cNvSpPr txBox="1"/>
          <p:nvPr/>
        </p:nvSpPr>
        <p:spPr>
          <a:xfrm>
            <a:off x="812800" y="1295400"/>
            <a:ext cx="1016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200">
                <a:solidFill>
                  <a:srgbClr val="8C8585"/>
                </a:solidFill>
                <a:latin typeface="MiSans"/>
                <a:ea typeface="MiSans"/>
              </a:rPr>
              <a:t>不要拥有1000个客户，要拥有20个A类客户</a:t>
            </a:r>
            <a:endParaRPr lang="en-US" sz="1200"/>
          </a:p>
        </p:txBody>
      </p:sp>
      <p:sp>
        <p:nvSpPr>
          <p:cNvPr id="5" name="title-line"/>
          <p:cNvSpPr/>
          <p:nvPr/>
        </p:nvSpPr>
        <p:spPr>
          <a:xfrm>
            <a:off x="812800" y="1676400"/>
            <a:ext cx="10566400" cy="12700"/>
          </a:xfrm>
          <a:prstGeom prst="rect">
            <a:avLst/>
          </a:prstGeom>
          <a:solidFill>
            <a:srgbClr val="E7E6E6"/>
          </a:solidFill>
          <a:ln>
            <a:noFill/>
          </a:ln>
        </p:spPr>
      </p:sp>
      <p:sp>
        <p:nvSpPr>
          <p:cNvPr id="6" name="gray-block"/>
          <p:cNvSpPr/>
          <p:nvPr/>
        </p:nvSpPr>
        <p:spPr>
          <a:xfrm>
            <a:off x="812800" y="2032000"/>
            <a:ext cx="3302000" cy="1879600"/>
          </a:xfrm>
          <a:prstGeom prst="rect">
            <a:avLst/>
          </a:prstGeom>
          <a:solidFill>
            <a:srgbClr val="F6F6F6"/>
          </a:solidFill>
          <a:ln>
            <a:noFill/>
          </a:ln>
        </p:spPr>
      </p:sp>
      <p:sp>
        <p:nvSpPr>
          <p:cNvPr id="7" name="gray-num"/>
          <p:cNvSpPr txBox="1"/>
          <p:nvPr/>
        </p:nvSpPr>
        <p:spPr>
          <a:xfrm>
            <a:off x="1066800" y="2235200"/>
            <a:ext cx="2794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4400" b="1">
                <a:solidFill>
                  <a:srgbClr val="B5AFAF"/>
                </a:solidFill>
                <a:latin typeface="MiSans"/>
                <a:ea typeface="MiSans"/>
              </a:rPr>
              <a:t>1000</a:t>
            </a:r>
            <a:endParaRPr lang="en-US" sz="4400"/>
          </a:p>
        </p:txBody>
      </p:sp>
      <p:sp>
        <p:nvSpPr>
          <p:cNvPr id="8" name="gray-unit"/>
          <p:cNvSpPr txBox="1"/>
          <p:nvPr/>
        </p:nvSpPr>
        <p:spPr>
          <a:xfrm>
            <a:off x="1066800" y="3022600"/>
            <a:ext cx="2794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300">
                <a:solidFill>
                  <a:srgbClr val="8C8585"/>
                </a:solidFill>
                <a:latin typeface="MiSans"/>
                <a:ea typeface="MiSans"/>
              </a:rPr>
              <a:t>个普通客户</a:t>
            </a:r>
            <a:endParaRPr lang="en-US" sz="1300"/>
          </a:p>
        </p:txBody>
      </p:sp>
      <p:sp>
        <p:nvSpPr>
          <p:cNvPr id="9" name="gray-sub"/>
          <p:cNvSpPr txBox="1"/>
          <p:nvPr/>
        </p:nvSpPr>
        <p:spPr>
          <a:xfrm>
            <a:off x="1066800" y="3352800"/>
            <a:ext cx="2794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050">
                <a:solidFill>
                  <a:srgbClr val="8C8585"/>
                </a:solidFill>
                <a:latin typeface="MiSans"/>
                <a:ea typeface="MiSans"/>
              </a:rPr>
              <a:t>看似庞大，利润稀薄</a:t>
            </a:r>
            <a:endParaRPr lang="en-US" sz="1050"/>
          </a:p>
        </p:txBody>
      </p:sp>
      <p:sp>
        <p:nvSpPr>
          <p:cNvPr id="10" name="vs-text"/>
          <p:cNvSpPr txBox="1"/>
          <p:nvPr/>
        </p:nvSpPr>
        <p:spPr>
          <a:xfrm>
            <a:off x="4267200" y="2717800"/>
            <a:ext cx="7112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2000" b="1">
                <a:solidFill>
                  <a:srgbClr val="C1C1C1"/>
                </a:solidFill>
                <a:latin typeface="MiSans"/>
                <a:ea typeface="MiSans"/>
              </a:rPr>
              <a:t>VS</a:t>
            </a:r>
            <a:endParaRPr lang="en-US" sz="2000"/>
          </a:p>
        </p:txBody>
      </p:sp>
      <p:sp>
        <p:nvSpPr>
          <p:cNvPr id="11" name="red-block"/>
          <p:cNvSpPr/>
          <p:nvPr/>
        </p:nvSpPr>
        <p:spPr>
          <a:xfrm>
            <a:off x="5334000" y="2032000"/>
            <a:ext cx="6045200" cy="1879600"/>
          </a:xfrm>
          <a:prstGeom prst="rect">
            <a:avLst/>
          </a:prstGeom>
          <a:solidFill>
            <a:srgbClr val="FF4D4D"/>
          </a:solidFill>
          <a:ln>
            <a:noFill/>
          </a:ln>
        </p:spPr>
      </p:sp>
      <p:sp>
        <p:nvSpPr>
          <p:cNvPr id="12" name="red-num"/>
          <p:cNvSpPr txBox="1"/>
          <p:nvPr/>
        </p:nvSpPr>
        <p:spPr>
          <a:xfrm>
            <a:off x="5638800" y="2184400"/>
            <a:ext cx="1651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4800" b="1">
                <a:solidFill>
                  <a:srgbClr val="FFFFFF"/>
                </a:solidFill>
                <a:latin typeface="MiSans"/>
                <a:ea typeface="MiSans"/>
              </a:rPr>
              <a:t>20</a:t>
            </a:r>
            <a:endParaRPr lang="en-US" sz="4800"/>
          </a:p>
        </p:txBody>
      </p:sp>
      <p:sp>
        <p:nvSpPr>
          <p:cNvPr id="13" name="red-unit"/>
          <p:cNvSpPr txBox="1"/>
          <p:nvPr/>
        </p:nvSpPr>
        <p:spPr>
          <a:xfrm>
            <a:off x="7340600" y="2514600"/>
            <a:ext cx="2032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500">
                <a:solidFill>
                  <a:srgbClr val="FFFFFF"/>
                </a:solidFill>
                <a:latin typeface="MiSans"/>
                <a:ea typeface="MiSans"/>
              </a:rPr>
              <a:t>个A类客户</a:t>
            </a:r>
            <a:endParaRPr lang="en-US" sz="1500"/>
          </a:p>
        </p:txBody>
      </p:sp>
      <p:sp>
        <p:nvSpPr>
          <p:cNvPr id="14" name="red-sub"/>
          <p:cNvSpPr txBox="1"/>
          <p:nvPr/>
        </p:nvSpPr>
        <p:spPr>
          <a:xfrm>
            <a:off x="5638800" y="3200400"/>
            <a:ext cx="5334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300">
                <a:solidFill>
                  <a:srgbClr val="FFFFFF"/>
                </a:solidFill>
                <a:latin typeface="MiSans"/>
                <a:ea typeface="MiSans"/>
              </a:rPr>
              <a:t>可能创造 80% 的利润</a:t>
            </a:r>
            <a:endParaRPr lang="en-US" sz="1300"/>
          </a:p>
        </p:txBody>
      </p:sp>
      <p:sp>
        <p:nvSpPr>
          <p:cNvPr id="15" name="bar-gray"/>
          <p:cNvSpPr/>
          <p:nvPr/>
        </p:nvSpPr>
        <p:spPr>
          <a:xfrm>
            <a:off x="812800" y="4470400"/>
            <a:ext cx="2108200" cy="330200"/>
          </a:xfrm>
          <a:prstGeom prst="rect">
            <a:avLst/>
          </a:prstGeom>
          <a:solidFill>
            <a:srgbClr val="D9D6D6"/>
          </a:solidFill>
          <a:ln>
            <a:noFill/>
          </a:ln>
        </p:spPr>
      </p:sp>
      <p:sp>
        <p:nvSpPr>
          <p:cNvPr id="16" name="bar-gray-t"/>
          <p:cNvSpPr txBox="1"/>
          <p:nvPr/>
        </p:nvSpPr>
        <p:spPr>
          <a:xfrm>
            <a:off x="812800" y="4470400"/>
            <a:ext cx="21082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000">
                <a:solidFill>
                  <a:srgbClr val="454545"/>
                </a:solidFill>
                <a:latin typeface="MiSans"/>
                <a:ea typeface="MiSans"/>
              </a:rPr>
              <a:t>客户数量 20%</a:t>
            </a:r>
            <a:endParaRPr lang="en-US" sz="1000"/>
          </a:p>
        </p:txBody>
      </p:sp>
      <p:sp>
        <p:nvSpPr>
          <p:cNvPr id="17" name="bar-red"/>
          <p:cNvSpPr/>
          <p:nvPr/>
        </p:nvSpPr>
        <p:spPr>
          <a:xfrm>
            <a:off x="2921000" y="4470400"/>
            <a:ext cx="8458200" cy="330200"/>
          </a:xfrm>
          <a:prstGeom prst="rect">
            <a:avLst/>
          </a:prstGeom>
          <a:solidFill>
            <a:srgbClr val="FF4D4D"/>
          </a:solidFill>
          <a:ln>
            <a:noFill/>
          </a:ln>
        </p:spPr>
      </p:sp>
      <p:sp>
        <p:nvSpPr>
          <p:cNvPr id="18" name="bar-red-t"/>
          <p:cNvSpPr txBox="1"/>
          <p:nvPr/>
        </p:nvSpPr>
        <p:spPr>
          <a:xfrm>
            <a:off x="2921000" y="4470400"/>
            <a:ext cx="84582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000">
                <a:solidFill>
                  <a:srgbClr val="FFFFFF"/>
                </a:solidFill>
                <a:latin typeface="MiSans"/>
                <a:ea typeface="MiSans"/>
              </a:rPr>
              <a:t>利润贡献 80%</a:t>
            </a:r>
            <a:endParaRPr lang="en-US" sz="1000"/>
          </a:p>
        </p:txBody>
      </p:sp>
      <p:sp>
        <p:nvSpPr>
          <p:cNvPr id="19" name="bar-caption"/>
          <p:cNvSpPr txBox="1"/>
          <p:nvPr/>
        </p:nvSpPr>
        <p:spPr>
          <a:xfrm>
            <a:off x="812800" y="49276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950">
                <a:solidFill>
                  <a:srgbClr val="8C8585"/>
                </a:solidFill>
                <a:latin typeface="MiSans"/>
                <a:ea typeface="MiSans"/>
              </a:rPr>
              <a:t>示意：少数A类客户，贡献大部分利润（二八原理）</a:t>
            </a:r>
            <a:endParaRPr lang="en-US" sz="950"/>
          </a:p>
        </p:txBody>
      </p:sp>
      <p:sp>
        <p:nvSpPr>
          <p:cNvPr id="20" name="bottom-main"/>
          <p:cNvSpPr txBox="1"/>
          <p:nvPr/>
        </p:nvSpPr>
        <p:spPr>
          <a:xfrm>
            <a:off x="812800" y="5461000"/>
            <a:ext cx="105664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350" b="1">
                <a:solidFill>
                  <a:srgbClr val="1C0B0B"/>
                </a:solidFill>
                <a:latin typeface="MiSans"/>
                <a:ea typeface="MiSans"/>
              </a:rPr>
              <a:t>真正经营的，是客户资产，不是客户数量。</a:t>
            </a:r>
            <a:endParaRPr lang="en-US" sz="1350"/>
          </a:p>
        </p:txBody>
      </p:sp>
      <p:sp>
        <p:nvSpPr>
          <p:cNvPr id="21" name="bottom-sub"/>
          <p:cNvSpPr txBox="1"/>
          <p:nvPr/>
        </p:nvSpPr>
        <p:spPr>
          <a:xfrm>
            <a:off x="812800" y="5816600"/>
            <a:ext cx="105664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100">
                <a:solidFill>
                  <a:srgbClr val="8C8585"/>
                </a:solidFill>
                <a:latin typeface="MiSans"/>
                <a:ea typeface="MiSans"/>
              </a:rPr>
              <a:t>从“打猎式”开发客户，转向“农耕式”经营客户。</a:t>
            </a:r>
            <a:endParaRPr lang="en-US" sz="1100"/>
          </a:p>
        </p:txBody>
      </p:sp>
      <p:sp>
        <p:nvSpPr>
          <p:cNvPr id="22" name="footer-line"/>
          <p:cNvSpPr/>
          <p:nvPr/>
        </p:nvSpPr>
        <p:spPr>
          <a:xfrm>
            <a:off x="812800" y="6400800"/>
            <a:ext cx="10566400" cy="12700"/>
          </a:xfrm>
          <a:prstGeom prst="rect">
            <a:avLst/>
          </a:prstGeom>
          <a:solidFill>
            <a:srgbClr val="E7E6E6"/>
          </a:solidFill>
          <a:ln>
            <a:noFill/>
          </a:ln>
        </p:spPr>
      </p:sp>
      <p:sp>
        <p:nvSpPr>
          <p:cNvPr id="23" name="footer-left"/>
          <p:cNvSpPr txBox="1"/>
          <p:nvPr/>
        </p:nvSpPr>
        <p:spPr>
          <a:xfrm>
            <a:off x="812800" y="65024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900">
                <a:solidFill>
                  <a:srgbClr val="B5AFAF"/>
                </a:solidFill>
                <a:latin typeface="MiSans"/>
                <a:ea typeface="MiSans"/>
              </a:rPr>
              <a:t>第三课 · 客户经营 ｜ 企业商学院</a:t>
            </a:r>
            <a:endParaRPr lang="en-US" sz="900"/>
          </a:p>
        </p:txBody>
      </p:sp>
      <p:sp>
        <p:nvSpPr>
          <p:cNvPr id="24" name="footer-page"/>
          <p:cNvSpPr txBox="1"/>
          <p:nvPr/>
        </p:nvSpPr>
        <p:spPr>
          <a:xfrm>
            <a:off x="10109200" y="65024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20000"/>
              </a:lnSpc>
            </a:pPr>
            <a:r>
              <a:rPr lang="en-US" sz="900">
                <a:solidFill>
                  <a:srgbClr val="B5AFAF"/>
                </a:solidFill>
                <a:latin typeface="MiSans"/>
                <a:ea typeface="MiSans"/>
              </a:rPr>
              <a:t>19</a:t>
            </a:r>
            <a:endParaRPr lang="en-US" sz="900"/>
          </a:p>
        </p:txBody>
      </p:sp>
    </p:spTree>
  </p:cSld>
  <p:clrMapOvr>
    <a:masterClrMapping/>
  </p:clrMapOvr>
  <p:transition spd="fast" advClick="1">
    <p:checker dir="horz"/>
  </p:transition>
</p:sld>
</file>

<file path=ppt/slides/slide20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508000"/>
            <a:ext cx="762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000" spc="300" kern="0">
                <a:solidFill>
                  <a:srgbClr val="8C8585"/>
                </a:solidFill>
                <a:latin typeface="MiSans"/>
                <a:ea typeface="MiSans"/>
              </a:rPr>
              <a:t>生命周期</a:t>
            </a:r>
            <a:endParaRPr lang="en-US" sz="1000"/>
          </a:p>
        </p:txBody>
      </p:sp>
      <p:sp>
        <p:nvSpPr>
          <p:cNvPr id="3" name="title"/>
          <p:cNvSpPr txBox="1"/>
          <p:nvPr/>
        </p:nvSpPr>
        <p:spPr>
          <a:xfrm>
            <a:off x="812800" y="762000"/>
            <a:ext cx="10160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2600" b="1">
                <a:solidFill>
                  <a:srgbClr val="1C0B0B"/>
                </a:solidFill>
                <a:latin typeface="MiSans"/>
                <a:ea typeface="MiSans"/>
              </a:rPr>
              <a:t>客户生命周期</a:t>
            </a:r>
            <a:endParaRPr lang="en-US" sz="2600"/>
          </a:p>
        </p:txBody>
      </p:sp>
      <p:sp>
        <p:nvSpPr>
          <p:cNvPr id="4" name="caption"/>
          <p:cNvSpPr txBox="1"/>
          <p:nvPr/>
        </p:nvSpPr>
        <p:spPr>
          <a:xfrm>
            <a:off x="812800" y="1295400"/>
            <a:ext cx="1016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200">
                <a:solidFill>
                  <a:srgbClr val="8C8585"/>
                </a:solidFill>
                <a:latin typeface="MiSans"/>
                <a:ea typeface="MiSans"/>
              </a:rPr>
              <a:t>从第一次认识，到长期伙伴——每一步，都需要不同策略</a:t>
            </a:r>
            <a:endParaRPr lang="en-US" sz="1200"/>
          </a:p>
        </p:txBody>
      </p:sp>
      <p:sp>
        <p:nvSpPr>
          <p:cNvPr id="5" name="title-line"/>
          <p:cNvSpPr/>
          <p:nvPr/>
        </p:nvSpPr>
        <p:spPr>
          <a:xfrm>
            <a:off x="812800" y="1676400"/>
            <a:ext cx="10566400" cy="12700"/>
          </a:xfrm>
          <a:prstGeom prst="rect">
            <a:avLst/>
          </a:prstGeom>
          <a:solidFill>
            <a:srgbClr val="E7E6E6"/>
          </a:solidFill>
          <a:ln>
            <a:noFill/>
          </a:ln>
        </p:spPr>
      </p:sp>
      <p:sp>
        <p:nvSpPr>
          <p:cNvPr id="6" name="st1"/>
          <p:cNvSpPr/>
          <p:nvPr/>
        </p:nvSpPr>
        <p:spPr>
          <a:xfrm>
            <a:off x="812800" y="2159000"/>
            <a:ext cx="1778000" cy="609600"/>
          </a:xfrm>
          <a:prstGeom prst="homePlate">
            <a:avLst>
              <a:gd name="adj" fmla="val 30000"/>
            </a:avLst>
          </a:prstGeom>
          <a:solidFill>
            <a:srgbClr val="EDEBEB"/>
          </a:solidFill>
          <a:ln>
            <a:noFill/>
          </a:ln>
        </p:spPr>
      </p:sp>
      <p:sp>
        <p:nvSpPr>
          <p:cNvPr id="7" name="st1-t"/>
          <p:cNvSpPr txBox="1"/>
          <p:nvPr/>
        </p:nvSpPr>
        <p:spPr>
          <a:xfrm>
            <a:off x="812800" y="2159000"/>
            <a:ext cx="16256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200" b="1">
                <a:solidFill>
                  <a:srgbClr val="1C0B0B"/>
                </a:solidFill>
                <a:latin typeface="MiSans"/>
                <a:ea typeface="MiSans"/>
              </a:rPr>
              <a:t>第一次认识</a:t>
            </a:r>
            <a:endParaRPr lang="en-US" sz="1200"/>
          </a:p>
        </p:txBody>
      </p:sp>
      <p:sp>
        <p:nvSpPr>
          <p:cNvPr id="8" name="st2"/>
          <p:cNvSpPr/>
          <p:nvPr/>
        </p:nvSpPr>
        <p:spPr>
          <a:xfrm>
            <a:off x="2578100" y="2159000"/>
            <a:ext cx="1778000" cy="609600"/>
          </a:xfrm>
          <a:prstGeom prst="homePlate">
            <a:avLst>
              <a:gd name="adj" fmla="val 30000"/>
            </a:avLst>
          </a:prstGeom>
          <a:solidFill>
            <a:srgbClr val="E7E4E4"/>
          </a:solidFill>
          <a:ln>
            <a:noFill/>
          </a:ln>
        </p:spPr>
      </p:sp>
      <p:sp>
        <p:nvSpPr>
          <p:cNvPr id="9" name="st2-t"/>
          <p:cNvSpPr txBox="1"/>
          <p:nvPr/>
        </p:nvSpPr>
        <p:spPr>
          <a:xfrm>
            <a:off x="2578100" y="2159000"/>
            <a:ext cx="16256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200" b="1">
                <a:solidFill>
                  <a:srgbClr val="1C0B0B"/>
                </a:solidFill>
                <a:latin typeface="MiSans"/>
                <a:ea typeface="MiSans"/>
              </a:rPr>
              <a:t>第一次成交</a:t>
            </a:r>
            <a:endParaRPr lang="en-US" sz="1200"/>
          </a:p>
        </p:txBody>
      </p:sp>
      <p:sp>
        <p:nvSpPr>
          <p:cNvPr id="10" name="st3"/>
          <p:cNvSpPr/>
          <p:nvPr/>
        </p:nvSpPr>
        <p:spPr>
          <a:xfrm>
            <a:off x="4343400" y="2159000"/>
            <a:ext cx="1778000" cy="609600"/>
          </a:xfrm>
          <a:prstGeom prst="homePlate">
            <a:avLst>
              <a:gd name="adj" fmla="val 30000"/>
            </a:avLst>
          </a:prstGeom>
          <a:solidFill>
            <a:srgbClr val="E1DDDD"/>
          </a:solidFill>
          <a:ln>
            <a:noFill/>
          </a:ln>
        </p:spPr>
      </p:sp>
      <p:sp>
        <p:nvSpPr>
          <p:cNvPr id="11" name="st3-t"/>
          <p:cNvSpPr txBox="1"/>
          <p:nvPr/>
        </p:nvSpPr>
        <p:spPr>
          <a:xfrm>
            <a:off x="4343400" y="2159000"/>
            <a:ext cx="16256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200" b="1">
                <a:solidFill>
                  <a:srgbClr val="1C0B0B"/>
                </a:solidFill>
                <a:latin typeface="MiSans"/>
                <a:ea typeface="MiSans"/>
              </a:rPr>
              <a:t>稳定合作</a:t>
            </a:r>
            <a:endParaRPr lang="en-US" sz="1200"/>
          </a:p>
        </p:txBody>
      </p:sp>
      <p:sp>
        <p:nvSpPr>
          <p:cNvPr id="12" name="st4"/>
          <p:cNvSpPr/>
          <p:nvPr/>
        </p:nvSpPr>
        <p:spPr>
          <a:xfrm>
            <a:off x="6108700" y="2159000"/>
            <a:ext cx="1778000" cy="609600"/>
          </a:xfrm>
          <a:prstGeom prst="homePlate">
            <a:avLst>
              <a:gd name="adj" fmla="val 30000"/>
            </a:avLst>
          </a:prstGeom>
          <a:solidFill>
            <a:srgbClr val="DBD6D6"/>
          </a:solidFill>
          <a:ln>
            <a:noFill/>
          </a:ln>
        </p:spPr>
      </p:sp>
      <p:sp>
        <p:nvSpPr>
          <p:cNvPr id="13" name="st4-t"/>
          <p:cNvSpPr txBox="1"/>
          <p:nvPr/>
        </p:nvSpPr>
        <p:spPr>
          <a:xfrm>
            <a:off x="6108700" y="2159000"/>
            <a:ext cx="16256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200" b="1">
                <a:solidFill>
                  <a:srgbClr val="1C0B0B"/>
                </a:solidFill>
                <a:latin typeface="MiSans"/>
                <a:ea typeface="MiSans"/>
              </a:rPr>
              <a:t>供应链合作</a:t>
            </a:r>
            <a:endParaRPr lang="en-US" sz="1200"/>
          </a:p>
        </p:txBody>
      </p:sp>
      <p:sp>
        <p:nvSpPr>
          <p:cNvPr id="14" name="st5"/>
          <p:cNvSpPr/>
          <p:nvPr/>
        </p:nvSpPr>
        <p:spPr>
          <a:xfrm>
            <a:off x="7874000" y="2159000"/>
            <a:ext cx="1778000" cy="609600"/>
          </a:xfrm>
          <a:prstGeom prst="homePlate">
            <a:avLst>
              <a:gd name="adj" fmla="val 30000"/>
            </a:avLst>
          </a:prstGeom>
          <a:solidFill>
            <a:srgbClr val="D5CFCF"/>
          </a:solidFill>
          <a:ln>
            <a:noFill/>
          </a:ln>
        </p:spPr>
      </p:sp>
      <p:sp>
        <p:nvSpPr>
          <p:cNvPr id="15" name="st5-t"/>
          <p:cNvSpPr txBox="1"/>
          <p:nvPr/>
        </p:nvSpPr>
        <p:spPr>
          <a:xfrm>
            <a:off x="7874000" y="2159000"/>
            <a:ext cx="16256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200" b="1">
                <a:solidFill>
                  <a:srgbClr val="1C0B0B"/>
                </a:solidFill>
                <a:latin typeface="MiSans"/>
                <a:ea typeface="MiSans"/>
              </a:rPr>
              <a:t>战略合作</a:t>
            </a:r>
            <a:endParaRPr lang="en-US" sz="1200"/>
          </a:p>
        </p:txBody>
      </p:sp>
      <p:sp>
        <p:nvSpPr>
          <p:cNvPr id="16" name="st6"/>
          <p:cNvSpPr/>
          <p:nvPr/>
        </p:nvSpPr>
        <p:spPr>
          <a:xfrm>
            <a:off x="9639300" y="2159000"/>
            <a:ext cx="1778000" cy="609600"/>
          </a:xfrm>
          <a:prstGeom prst="homePlate">
            <a:avLst>
              <a:gd name="adj" fmla="val 30000"/>
            </a:avLst>
          </a:prstGeom>
          <a:solidFill>
            <a:srgbClr val="FF4D4D"/>
          </a:solidFill>
          <a:ln>
            <a:noFill/>
          </a:ln>
        </p:spPr>
      </p:sp>
      <p:sp>
        <p:nvSpPr>
          <p:cNvPr id="17" name="st6-t"/>
          <p:cNvSpPr txBox="1"/>
          <p:nvPr/>
        </p:nvSpPr>
        <p:spPr>
          <a:xfrm>
            <a:off x="9639300" y="2159000"/>
            <a:ext cx="16256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200" b="1">
                <a:solidFill>
                  <a:srgbClr val="FFFFFF"/>
                </a:solidFill>
                <a:latin typeface="MiSans"/>
                <a:ea typeface="MiSans"/>
              </a:rPr>
              <a:t>长期伙伴</a:t>
            </a:r>
            <a:endParaRPr lang="en-US" sz="1200"/>
          </a:p>
        </p:txBody>
      </p:sp>
      <p:sp>
        <p:nvSpPr>
          <p:cNvPr id="18" name="h1"/>
          <p:cNvSpPr txBox="1"/>
          <p:nvPr/>
        </p:nvSpPr>
        <p:spPr>
          <a:xfrm>
            <a:off x="812800" y="2946400"/>
            <a:ext cx="1651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20000"/>
              </a:lnSpc>
            </a:pPr>
            <a:r>
              <a:rPr lang="en-US" sz="950">
                <a:solidFill>
                  <a:srgbClr val="8C8585"/>
                </a:solidFill>
                <a:latin typeface="MiSans"/>
                <a:ea typeface="MiSans"/>
              </a:rPr>
              <a:t>建立认知</a:t>
            </a:r>
            <a:endParaRPr lang="en-US" sz="950"/>
          </a:p>
        </p:txBody>
      </p:sp>
      <p:sp>
        <p:nvSpPr>
          <p:cNvPr id="19" name="h2"/>
          <p:cNvSpPr txBox="1"/>
          <p:nvPr/>
        </p:nvSpPr>
        <p:spPr>
          <a:xfrm>
            <a:off x="2578100" y="2946400"/>
            <a:ext cx="1651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20000"/>
              </a:lnSpc>
            </a:pPr>
            <a:r>
              <a:rPr lang="en-US" sz="950">
                <a:solidFill>
                  <a:srgbClr val="8C8585"/>
                </a:solidFill>
                <a:latin typeface="MiSans"/>
                <a:ea typeface="MiSans"/>
              </a:rPr>
              <a:t>证明可靠</a:t>
            </a:r>
            <a:endParaRPr lang="en-US" sz="950"/>
          </a:p>
        </p:txBody>
      </p:sp>
      <p:sp>
        <p:nvSpPr>
          <p:cNvPr id="20" name="h3"/>
          <p:cNvSpPr txBox="1"/>
          <p:nvPr/>
        </p:nvSpPr>
        <p:spPr>
          <a:xfrm>
            <a:off x="4343400" y="2946400"/>
            <a:ext cx="1651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20000"/>
              </a:lnSpc>
            </a:pPr>
            <a:r>
              <a:rPr lang="en-US" sz="950">
                <a:solidFill>
                  <a:srgbClr val="8C8585"/>
                </a:solidFill>
                <a:latin typeface="MiSans"/>
                <a:ea typeface="MiSans"/>
              </a:rPr>
              <a:t>交付稳定</a:t>
            </a:r>
            <a:endParaRPr lang="en-US" sz="950"/>
          </a:p>
        </p:txBody>
      </p:sp>
      <p:sp>
        <p:nvSpPr>
          <p:cNvPr id="21" name="h4"/>
          <p:cNvSpPr txBox="1"/>
          <p:nvPr/>
        </p:nvSpPr>
        <p:spPr>
          <a:xfrm>
            <a:off x="6108700" y="2946400"/>
            <a:ext cx="1651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20000"/>
              </a:lnSpc>
            </a:pPr>
            <a:r>
              <a:rPr lang="en-US" sz="950">
                <a:solidFill>
                  <a:srgbClr val="8C8585"/>
                </a:solidFill>
                <a:latin typeface="MiSans"/>
                <a:ea typeface="MiSans"/>
              </a:rPr>
              <a:t>深度绑定</a:t>
            </a:r>
            <a:endParaRPr lang="en-US" sz="950"/>
          </a:p>
        </p:txBody>
      </p:sp>
      <p:sp>
        <p:nvSpPr>
          <p:cNvPr id="22" name="h5"/>
          <p:cNvSpPr txBox="1"/>
          <p:nvPr/>
        </p:nvSpPr>
        <p:spPr>
          <a:xfrm>
            <a:off x="7874000" y="2946400"/>
            <a:ext cx="1651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20000"/>
              </a:lnSpc>
            </a:pPr>
            <a:r>
              <a:rPr lang="en-US" sz="950">
                <a:solidFill>
                  <a:srgbClr val="8C8585"/>
                </a:solidFill>
                <a:latin typeface="MiSans"/>
                <a:ea typeface="MiSans"/>
              </a:rPr>
              <a:t>共同规划</a:t>
            </a:r>
            <a:endParaRPr lang="en-US" sz="950"/>
          </a:p>
        </p:txBody>
      </p:sp>
      <p:sp>
        <p:nvSpPr>
          <p:cNvPr id="23" name="h6"/>
          <p:cNvSpPr txBox="1"/>
          <p:nvPr/>
        </p:nvSpPr>
        <p:spPr>
          <a:xfrm>
            <a:off x="9639300" y="2946400"/>
            <a:ext cx="1651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20000"/>
              </a:lnSpc>
            </a:pPr>
            <a:r>
              <a:rPr lang="en-US" sz="950">
                <a:solidFill>
                  <a:srgbClr val="8C8585"/>
                </a:solidFill>
                <a:latin typeface="MiSans"/>
                <a:ea typeface="MiSans"/>
              </a:rPr>
              <a:t>利益共同体</a:t>
            </a:r>
            <a:endParaRPr lang="en-US" sz="950"/>
          </a:p>
        </p:txBody>
      </p:sp>
      <p:sp>
        <p:nvSpPr>
          <p:cNvPr id="24" name="mid-line"/>
          <p:cNvSpPr/>
          <p:nvPr/>
        </p:nvSpPr>
        <p:spPr>
          <a:xfrm>
            <a:off x="812800" y="3403600"/>
            <a:ext cx="10566400" cy="12700"/>
          </a:xfrm>
          <a:prstGeom prst="rect">
            <a:avLst/>
          </a:prstGeom>
          <a:solidFill>
            <a:srgbClr val="E7E6E6"/>
          </a:solidFill>
          <a:ln>
            <a:noFill/>
          </a:ln>
        </p:spPr>
      </p:sp>
      <p:sp>
        <p:nvSpPr>
          <p:cNvPr id="25" name="ex-label"/>
          <p:cNvSpPr txBox="1"/>
          <p:nvPr/>
        </p:nvSpPr>
        <p:spPr>
          <a:xfrm>
            <a:off x="812800" y="36576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100" spc="200" kern="0">
                <a:solidFill>
                  <a:srgbClr val="8C8585"/>
                </a:solidFill>
                <a:latin typeface="MiSans"/>
                <a:ea typeface="MiSans"/>
              </a:rPr>
              <a:t>不同阶段的策略示例</a:t>
            </a:r>
            <a:endParaRPr lang="en-US" sz="1100"/>
          </a:p>
        </p:txBody>
      </p:sp>
      <p:sp>
        <p:nvSpPr>
          <p:cNvPr id="26" name="ex1"/>
          <p:cNvSpPr txBox="1"/>
          <p:nvPr/>
        </p:nvSpPr>
        <p:spPr>
          <a:xfrm>
            <a:off x="812800" y="4038600"/>
            <a:ext cx="9652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250">
                <a:solidFill>
                  <a:srgbClr val="FF4D4D"/>
                </a:solidFill>
                <a:latin typeface="MiSans"/>
                <a:ea typeface="MiSans"/>
              </a:rPr>
              <a:t>—</a:t>
            </a:r>
            <a:r>
              <a:rPr lang="en-US" sz="1250">
                <a:solidFill>
                  <a:srgbClr val="454545"/>
                </a:solidFill>
                <a:latin typeface="MiSans"/>
                <a:ea typeface="MiSans"/>
              </a:rPr>
              <a:t>　刚认识：重点是建立专业认知，而不是急着报价。</a:t>
            </a:r>
            <a:endParaRPr lang="en-US" sz="1250"/>
          </a:p>
        </p:txBody>
      </p:sp>
      <p:sp>
        <p:nvSpPr>
          <p:cNvPr id="27" name="ex2"/>
          <p:cNvSpPr txBox="1"/>
          <p:nvPr/>
        </p:nvSpPr>
        <p:spPr>
          <a:xfrm>
            <a:off x="812800" y="4521200"/>
            <a:ext cx="9652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250">
                <a:solidFill>
                  <a:srgbClr val="FF4D4D"/>
                </a:solidFill>
                <a:latin typeface="MiSans"/>
                <a:ea typeface="MiSans"/>
              </a:rPr>
              <a:t>—</a:t>
            </a:r>
            <a:r>
              <a:rPr lang="en-US" sz="1250">
                <a:solidFill>
                  <a:srgbClr val="454545"/>
                </a:solidFill>
                <a:latin typeface="MiSans"/>
                <a:ea typeface="MiSans"/>
              </a:rPr>
              <a:t>　稳定合作期：重点是交付稳定，并主动提出扩品。</a:t>
            </a:r>
            <a:endParaRPr lang="en-US" sz="1250"/>
          </a:p>
        </p:txBody>
      </p:sp>
      <p:sp>
        <p:nvSpPr>
          <p:cNvPr id="28" name="ex3"/>
          <p:cNvSpPr txBox="1"/>
          <p:nvPr/>
        </p:nvSpPr>
        <p:spPr>
          <a:xfrm>
            <a:off x="812800" y="5003800"/>
            <a:ext cx="9652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250">
                <a:solidFill>
                  <a:srgbClr val="FF4D4D"/>
                </a:solidFill>
                <a:latin typeface="MiSans"/>
                <a:ea typeface="MiSans"/>
              </a:rPr>
              <a:t>—</a:t>
            </a:r>
            <a:r>
              <a:rPr lang="en-US" sz="1250">
                <a:solidFill>
                  <a:srgbClr val="454545"/>
                </a:solidFill>
                <a:latin typeface="MiSans"/>
                <a:ea typeface="MiSans"/>
              </a:rPr>
              <a:t>　战略合作期：重点是共同规划，绑定长期利益。</a:t>
            </a:r>
            <a:endParaRPr lang="en-US" sz="1250"/>
          </a:p>
        </p:txBody>
      </p:sp>
      <p:sp>
        <p:nvSpPr>
          <p:cNvPr id="29" name="bottom-note"/>
          <p:cNvSpPr txBox="1"/>
          <p:nvPr/>
        </p:nvSpPr>
        <p:spPr>
          <a:xfrm>
            <a:off x="812800" y="5689600"/>
            <a:ext cx="105664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200">
                <a:solidFill>
                  <a:srgbClr val="8C8585"/>
                </a:solidFill>
                <a:latin typeface="MiSans"/>
                <a:ea typeface="MiSans"/>
              </a:rPr>
              <a:t>不要用同一套动作，对待不同阶段的客户。</a:t>
            </a:r>
            <a:endParaRPr lang="en-US" sz="1200"/>
          </a:p>
        </p:txBody>
      </p:sp>
      <p:sp>
        <p:nvSpPr>
          <p:cNvPr id="30" name="footer-line"/>
          <p:cNvSpPr/>
          <p:nvPr/>
        </p:nvSpPr>
        <p:spPr>
          <a:xfrm>
            <a:off x="812800" y="6400800"/>
            <a:ext cx="10566400" cy="12700"/>
          </a:xfrm>
          <a:prstGeom prst="rect">
            <a:avLst/>
          </a:prstGeom>
          <a:solidFill>
            <a:srgbClr val="E7E6E6"/>
          </a:solidFill>
          <a:ln>
            <a:noFill/>
          </a:ln>
        </p:spPr>
      </p:sp>
      <p:sp>
        <p:nvSpPr>
          <p:cNvPr id="31" name="footer-left"/>
          <p:cNvSpPr txBox="1"/>
          <p:nvPr/>
        </p:nvSpPr>
        <p:spPr>
          <a:xfrm>
            <a:off x="812800" y="65024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900">
                <a:solidFill>
                  <a:srgbClr val="B5AFAF"/>
                </a:solidFill>
                <a:latin typeface="MiSans"/>
                <a:ea typeface="MiSans"/>
              </a:rPr>
              <a:t>第三课 · 客户经营 ｜ 企业商学院</a:t>
            </a:r>
            <a:endParaRPr lang="en-US" sz="900"/>
          </a:p>
        </p:txBody>
      </p:sp>
      <p:sp>
        <p:nvSpPr>
          <p:cNvPr id="32" name="footer-page"/>
          <p:cNvSpPr txBox="1"/>
          <p:nvPr/>
        </p:nvSpPr>
        <p:spPr>
          <a:xfrm>
            <a:off x="10109200" y="65024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20000"/>
              </a:lnSpc>
            </a:pPr>
            <a:r>
              <a:rPr lang="en-US" sz="900">
                <a:solidFill>
                  <a:srgbClr val="B5AFAF"/>
                </a:solidFill>
                <a:latin typeface="MiSans"/>
                <a:ea typeface="MiSans"/>
              </a:rPr>
              <a:t>20</a:t>
            </a:r>
            <a:endParaRPr lang="en-US" sz="900"/>
          </a:p>
        </p:txBody>
      </p:sp>
    </p:spTree>
  </p:cSld>
  <p:clrMapOvr>
    <a:masterClrMapping/>
  </p:clrMapOvr>
  <p:transition spd="fast" advClick="1">
    <p:checker dir="horz"/>
  </p:transition>
</p:sld>
</file>

<file path=ppt/slides/slide21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508000"/>
            <a:ext cx="762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000" spc="300" kern="0">
                <a:solidFill>
                  <a:srgbClr val="8C8585"/>
                </a:solidFill>
                <a:latin typeface="MiSans"/>
                <a:ea typeface="MiSans"/>
              </a:rPr>
              <a:t>风险预警</a:t>
            </a:r>
            <a:endParaRPr lang="en-US" sz="1000"/>
          </a:p>
        </p:txBody>
      </p:sp>
      <p:sp>
        <p:nvSpPr>
          <p:cNvPr id="3" name="title"/>
          <p:cNvSpPr txBox="1"/>
          <p:nvPr/>
        </p:nvSpPr>
        <p:spPr>
          <a:xfrm>
            <a:off x="812800" y="762000"/>
            <a:ext cx="10160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2600" b="1">
                <a:solidFill>
                  <a:srgbClr val="1C0B0B"/>
                </a:solidFill>
                <a:latin typeface="MiSans"/>
                <a:ea typeface="MiSans"/>
              </a:rPr>
              <a:t>客户风险预警</a:t>
            </a:r>
            <a:endParaRPr lang="en-US" sz="2600"/>
          </a:p>
        </p:txBody>
      </p:sp>
      <p:sp>
        <p:nvSpPr>
          <p:cNvPr id="4" name="caption"/>
          <p:cNvSpPr txBox="1"/>
          <p:nvPr/>
        </p:nvSpPr>
        <p:spPr>
          <a:xfrm>
            <a:off x="812800" y="1295400"/>
            <a:ext cx="1016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200">
                <a:solidFill>
                  <a:srgbClr val="8C8585"/>
                </a:solidFill>
                <a:latin typeface="MiSans"/>
                <a:ea typeface="MiSans"/>
              </a:rPr>
              <a:t>这些信号出现时，就该警惕了</a:t>
            </a:r>
            <a:endParaRPr lang="en-US" sz="1200"/>
          </a:p>
        </p:txBody>
      </p:sp>
      <p:sp>
        <p:nvSpPr>
          <p:cNvPr id="5" name="title-line"/>
          <p:cNvSpPr/>
          <p:nvPr/>
        </p:nvSpPr>
        <p:spPr>
          <a:xfrm>
            <a:off x="812800" y="1676400"/>
            <a:ext cx="10566400" cy="12700"/>
          </a:xfrm>
          <a:prstGeom prst="rect">
            <a:avLst/>
          </a:prstGeom>
          <a:solidFill>
            <a:srgbClr val="E7E6E6"/>
          </a:solidFill>
          <a:ln>
            <a:noFill/>
          </a:ln>
        </p:spPr>
      </p:sp>
      <p:sp>
        <p:nvSpPr>
          <p:cNvPr id="6" name="d1"/>
          <p:cNvSpPr/>
          <p:nvPr/>
        </p:nvSpPr>
        <p:spPr>
          <a:xfrm>
            <a:off x="812800" y="2247900"/>
            <a:ext cx="101600" cy="101600"/>
          </a:xfrm>
          <a:prstGeom prst="ellipse">
            <a:avLst/>
          </a:prstGeom>
          <a:solidFill>
            <a:srgbClr val="FF4D4D"/>
          </a:solidFill>
          <a:ln>
            <a:noFill/>
          </a:ln>
        </p:spPr>
      </p:sp>
      <p:sp>
        <p:nvSpPr>
          <p:cNvPr id="7" name="s1"/>
          <p:cNvSpPr txBox="1"/>
          <p:nvPr/>
        </p:nvSpPr>
        <p:spPr>
          <a:xfrm>
            <a:off x="1092200" y="2159000"/>
            <a:ext cx="2921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400" b="1">
                <a:solidFill>
                  <a:srgbClr val="1C0B0B"/>
                </a:solidFill>
                <a:latin typeface="MiSans"/>
                <a:ea typeface="MiSans"/>
              </a:rPr>
              <a:t>订单持续减少</a:t>
            </a:r>
            <a:endParaRPr lang="en-US" sz="1400"/>
          </a:p>
        </p:txBody>
      </p:sp>
      <p:sp>
        <p:nvSpPr>
          <p:cNvPr id="8" name="m1"/>
          <p:cNvSpPr txBox="1"/>
          <p:nvPr/>
        </p:nvSpPr>
        <p:spPr>
          <a:xfrm>
            <a:off x="4191000" y="2159000"/>
            <a:ext cx="7112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1200">
                <a:solidFill>
                  <a:srgbClr val="8C8585"/>
                </a:solidFill>
                <a:latin typeface="MiSans"/>
                <a:ea typeface="MiSans"/>
              </a:rPr>
              <a:t>份额，正在被竞争对手吃掉</a:t>
            </a:r>
            <a:endParaRPr lang="en-US" sz="1200"/>
          </a:p>
        </p:txBody>
      </p:sp>
      <p:sp>
        <p:nvSpPr>
          <p:cNvPr id="9" name="l1"/>
          <p:cNvSpPr/>
          <p:nvPr/>
        </p:nvSpPr>
        <p:spPr>
          <a:xfrm>
            <a:off x="812800" y="2616200"/>
            <a:ext cx="10566400" cy="12700"/>
          </a:xfrm>
          <a:prstGeom prst="rect">
            <a:avLst/>
          </a:prstGeom>
          <a:solidFill>
            <a:srgbClr val="E7E6E6"/>
          </a:solidFill>
          <a:ln>
            <a:noFill/>
          </a:ln>
        </p:spPr>
      </p:sp>
      <p:sp>
        <p:nvSpPr>
          <p:cNvPr id="10" name="d2"/>
          <p:cNvSpPr/>
          <p:nvPr/>
        </p:nvSpPr>
        <p:spPr>
          <a:xfrm>
            <a:off x="812800" y="2832100"/>
            <a:ext cx="101600" cy="101600"/>
          </a:xfrm>
          <a:prstGeom prst="ellipse">
            <a:avLst/>
          </a:prstGeom>
          <a:solidFill>
            <a:srgbClr val="FF4D4D"/>
          </a:solidFill>
          <a:ln>
            <a:noFill/>
          </a:ln>
        </p:spPr>
      </p:sp>
      <p:sp>
        <p:nvSpPr>
          <p:cNvPr id="11" name="s2"/>
          <p:cNvSpPr txBox="1"/>
          <p:nvPr/>
        </p:nvSpPr>
        <p:spPr>
          <a:xfrm>
            <a:off x="1092200" y="2743200"/>
            <a:ext cx="2921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400" b="1">
                <a:solidFill>
                  <a:srgbClr val="1C0B0B"/>
                </a:solidFill>
                <a:latin typeface="MiSans"/>
                <a:ea typeface="MiSans"/>
              </a:rPr>
              <a:t>老板状态变化</a:t>
            </a:r>
            <a:endParaRPr lang="en-US" sz="1400"/>
          </a:p>
        </p:txBody>
      </p:sp>
      <p:sp>
        <p:nvSpPr>
          <p:cNvPr id="12" name="m2"/>
          <p:cNvSpPr txBox="1"/>
          <p:nvPr/>
        </p:nvSpPr>
        <p:spPr>
          <a:xfrm>
            <a:off x="4191000" y="2743200"/>
            <a:ext cx="7112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1200">
                <a:solidFill>
                  <a:srgbClr val="8C8585"/>
                </a:solidFill>
                <a:latin typeface="MiSans"/>
                <a:ea typeface="MiSans"/>
              </a:rPr>
              <a:t>经营重心转移，或企业遇到困难</a:t>
            </a:r>
            <a:endParaRPr lang="en-US" sz="1200"/>
          </a:p>
        </p:txBody>
      </p:sp>
      <p:sp>
        <p:nvSpPr>
          <p:cNvPr id="13" name="l2"/>
          <p:cNvSpPr/>
          <p:nvPr/>
        </p:nvSpPr>
        <p:spPr>
          <a:xfrm>
            <a:off x="812800" y="3200400"/>
            <a:ext cx="10566400" cy="12700"/>
          </a:xfrm>
          <a:prstGeom prst="rect">
            <a:avLst/>
          </a:prstGeom>
          <a:solidFill>
            <a:srgbClr val="E7E6E6"/>
          </a:solidFill>
          <a:ln>
            <a:noFill/>
          </a:ln>
        </p:spPr>
      </p:sp>
      <p:sp>
        <p:nvSpPr>
          <p:cNvPr id="14" name="d3"/>
          <p:cNvSpPr/>
          <p:nvPr/>
        </p:nvSpPr>
        <p:spPr>
          <a:xfrm>
            <a:off x="812800" y="3416300"/>
            <a:ext cx="101600" cy="101600"/>
          </a:xfrm>
          <a:prstGeom prst="ellipse">
            <a:avLst/>
          </a:prstGeom>
          <a:solidFill>
            <a:srgbClr val="FF4D4D"/>
          </a:solidFill>
          <a:ln>
            <a:noFill/>
          </a:ln>
        </p:spPr>
      </p:sp>
      <p:sp>
        <p:nvSpPr>
          <p:cNvPr id="15" name="s3"/>
          <p:cNvSpPr txBox="1"/>
          <p:nvPr/>
        </p:nvSpPr>
        <p:spPr>
          <a:xfrm>
            <a:off x="1092200" y="3327400"/>
            <a:ext cx="2921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400" b="1">
                <a:solidFill>
                  <a:srgbClr val="1C0B0B"/>
                </a:solidFill>
                <a:latin typeface="MiSans"/>
                <a:ea typeface="MiSans"/>
              </a:rPr>
              <a:t>开始拖欠货款</a:t>
            </a:r>
            <a:endParaRPr lang="en-US" sz="1400"/>
          </a:p>
        </p:txBody>
      </p:sp>
      <p:sp>
        <p:nvSpPr>
          <p:cNvPr id="16" name="m3"/>
          <p:cNvSpPr txBox="1"/>
          <p:nvPr/>
        </p:nvSpPr>
        <p:spPr>
          <a:xfrm>
            <a:off x="4191000" y="3327400"/>
            <a:ext cx="7112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1200">
                <a:solidFill>
                  <a:srgbClr val="8C8585"/>
                </a:solidFill>
                <a:latin typeface="MiSans"/>
                <a:ea typeface="MiSans"/>
              </a:rPr>
              <a:t>现金流恶化，坏账风险上升</a:t>
            </a:r>
            <a:endParaRPr lang="en-US" sz="1200"/>
          </a:p>
        </p:txBody>
      </p:sp>
      <p:sp>
        <p:nvSpPr>
          <p:cNvPr id="17" name="l3"/>
          <p:cNvSpPr/>
          <p:nvPr/>
        </p:nvSpPr>
        <p:spPr>
          <a:xfrm>
            <a:off x="812800" y="3784600"/>
            <a:ext cx="10566400" cy="12700"/>
          </a:xfrm>
          <a:prstGeom prst="rect">
            <a:avLst/>
          </a:prstGeom>
          <a:solidFill>
            <a:srgbClr val="E7E6E6"/>
          </a:solidFill>
          <a:ln>
            <a:noFill/>
          </a:ln>
        </p:spPr>
      </p:sp>
      <p:sp>
        <p:nvSpPr>
          <p:cNvPr id="18" name="d4"/>
          <p:cNvSpPr/>
          <p:nvPr/>
        </p:nvSpPr>
        <p:spPr>
          <a:xfrm>
            <a:off x="812800" y="4000500"/>
            <a:ext cx="101600" cy="101600"/>
          </a:xfrm>
          <a:prstGeom prst="ellipse">
            <a:avLst/>
          </a:prstGeom>
          <a:solidFill>
            <a:srgbClr val="FF4D4D"/>
          </a:solidFill>
          <a:ln>
            <a:noFill/>
          </a:ln>
        </p:spPr>
      </p:sp>
      <p:sp>
        <p:nvSpPr>
          <p:cNvPr id="19" name="s4"/>
          <p:cNvSpPr txBox="1"/>
          <p:nvPr/>
        </p:nvSpPr>
        <p:spPr>
          <a:xfrm>
            <a:off x="1092200" y="3911600"/>
            <a:ext cx="2921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400" b="1">
                <a:solidFill>
                  <a:srgbClr val="1C0B0B"/>
                </a:solidFill>
                <a:latin typeface="MiSans"/>
                <a:ea typeface="MiSans"/>
              </a:rPr>
              <a:t>价格越压越低</a:t>
            </a:r>
            <a:endParaRPr lang="en-US" sz="1400"/>
          </a:p>
        </p:txBody>
      </p:sp>
      <p:sp>
        <p:nvSpPr>
          <p:cNvPr id="20" name="m4"/>
          <p:cNvSpPr txBox="1"/>
          <p:nvPr/>
        </p:nvSpPr>
        <p:spPr>
          <a:xfrm>
            <a:off x="4191000" y="3911600"/>
            <a:ext cx="7112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1200">
                <a:solidFill>
                  <a:srgbClr val="8C8585"/>
                </a:solidFill>
                <a:latin typeface="MiSans"/>
                <a:ea typeface="MiSans"/>
              </a:rPr>
              <a:t>客户利润变薄，或把你当备胎</a:t>
            </a:r>
            <a:endParaRPr lang="en-US" sz="1200"/>
          </a:p>
        </p:txBody>
      </p:sp>
      <p:sp>
        <p:nvSpPr>
          <p:cNvPr id="21" name="l4"/>
          <p:cNvSpPr/>
          <p:nvPr/>
        </p:nvSpPr>
        <p:spPr>
          <a:xfrm>
            <a:off x="812800" y="4368800"/>
            <a:ext cx="10566400" cy="12700"/>
          </a:xfrm>
          <a:prstGeom prst="rect">
            <a:avLst/>
          </a:prstGeom>
          <a:solidFill>
            <a:srgbClr val="E7E6E6"/>
          </a:solidFill>
          <a:ln>
            <a:noFill/>
          </a:ln>
        </p:spPr>
      </p:sp>
      <p:sp>
        <p:nvSpPr>
          <p:cNvPr id="22" name="d5"/>
          <p:cNvSpPr/>
          <p:nvPr/>
        </p:nvSpPr>
        <p:spPr>
          <a:xfrm>
            <a:off x="812800" y="4584700"/>
            <a:ext cx="101600" cy="101600"/>
          </a:xfrm>
          <a:prstGeom prst="ellipse">
            <a:avLst/>
          </a:prstGeom>
          <a:solidFill>
            <a:srgbClr val="FF4D4D"/>
          </a:solidFill>
          <a:ln>
            <a:noFill/>
          </a:ln>
        </p:spPr>
      </p:sp>
      <p:sp>
        <p:nvSpPr>
          <p:cNvPr id="23" name="s5"/>
          <p:cNvSpPr txBox="1"/>
          <p:nvPr/>
        </p:nvSpPr>
        <p:spPr>
          <a:xfrm>
            <a:off x="1092200" y="4495800"/>
            <a:ext cx="2921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400" b="1">
                <a:solidFill>
                  <a:srgbClr val="1C0B0B"/>
                </a:solidFill>
                <a:latin typeface="MiSans"/>
                <a:ea typeface="MiSans"/>
              </a:rPr>
              <a:t>新品越来越少</a:t>
            </a:r>
            <a:endParaRPr lang="en-US" sz="1400"/>
          </a:p>
        </p:txBody>
      </p:sp>
      <p:sp>
        <p:nvSpPr>
          <p:cNvPr id="24" name="m5"/>
          <p:cNvSpPr txBox="1"/>
          <p:nvPr/>
        </p:nvSpPr>
        <p:spPr>
          <a:xfrm>
            <a:off x="4191000" y="4495800"/>
            <a:ext cx="7112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1200">
                <a:solidFill>
                  <a:srgbClr val="8C8585"/>
                </a:solidFill>
                <a:latin typeface="MiSans"/>
                <a:ea typeface="MiSans"/>
              </a:rPr>
              <a:t>增长停滞，未来空间收窄</a:t>
            </a:r>
            <a:endParaRPr lang="en-US" sz="1200"/>
          </a:p>
        </p:txBody>
      </p:sp>
      <p:sp>
        <p:nvSpPr>
          <p:cNvPr id="25" name="l5"/>
          <p:cNvSpPr/>
          <p:nvPr/>
        </p:nvSpPr>
        <p:spPr>
          <a:xfrm>
            <a:off x="812800" y="4953000"/>
            <a:ext cx="10566400" cy="12700"/>
          </a:xfrm>
          <a:prstGeom prst="rect">
            <a:avLst/>
          </a:prstGeom>
          <a:solidFill>
            <a:srgbClr val="E7E6E6"/>
          </a:solidFill>
          <a:ln>
            <a:noFill/>
          </a:ln>
        </p:spPr>
      </p:sp>
      <p:sp>
        <p:nvSpPr>
          <p:cNvPr id="26" name="d6"/>
          <p:cNvSpPr/>
          <p:nvPr/>
        </p:nvSpPr>
        <p:spPr>
          <a:xfrm>
            <a:off x="812800" y="5168900"/>
            <a:ext cx="101600" cy="101600"/>
          </a:xfrm>
          <a:prstGeom prst="ellipse">
            <a:avLst/>
          </a:prstGeom>
          <a:solidFill>
            <a:srgbClr val="FF4D4D"/>
          </a:solidFill>
          <a:ln>
            <a:noFill/>
          </a:ln>
        </p:spPr>
      </p:sp>
      <p:sp>
        <p:nvSpPr>
          <p:cNvPr id="27" name="s6"/>
          <p:cNvSpPr txBox="1"/>
          <p:nvPr/>
        </p:nvSpPr>
        <p:spPr>
          <a:xfrm>
            <a:off x="1092200" y="5080000"/>
            <a:ext cx="2921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400" b="1">
                <a:solidFill>
                  <a:srgbClr val="1C0B0B"/>
                </a:solidFill>
                <a:latin typeface="MiSans"/>
                <a:ea typeface="MiSans"/>
              </a:rPr>
              <a:t>团队频繁离职</a:t>
            </a:r>
            <a:endParaRPr lang="en-US" sz="1400"/>
          </a:p>
        </p:txBody>
      </p:sp>
      <p:sp>
        <p:nvSpPr>
          <p:cNvPr id="28" name="m6"/>
          <p:cNvSpPr txBox="1"/>
          <p:nvPr/>
        </p:nvSpPr>
        <p:spPr>
          <a:xfrm>
            <a:off x="4191000" y="5080000"/>
            <a:ext cx="7112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1200">
                <a:solidFill>
                  <a:srgbClr val="8C8585"/>
                </a:solidFill>
                <a:latin typeface="MiSans"/>
                <a:ea typeface="MiSans"/>
              </a:rPr>
              <a:t>组织不稳，合作连续性存疑</a:t>
            </a:r>
            <a:endParaRPr lang="en-US" sz="1200"/>
          </a:p>
        </p:txBody>
      </p:sp>
      <p:sp>
        <p:nvSpPr>
          <p:cNvPr id="29" name="l6"/>
          <p:cNvSpPr/>
          <p:nvPr/>
        </p:nvSpPr>
        <p:spPr>
          <a:xfrm>
            <a:off x="812800" y="5537200"/>
            <a:ext cx="10566400" cy="12700"/>
          </a:xfrm>
          <a:prstGeom prst="rect">
            <a:avLst/>
          </a:prstGeom>
          <a:solidFill>
            <a:srgbClr val="E7E6E6"/>
          </a:solidFill>
          <a:ln>
            <a:noFill/>
          </a:ln>
        </p:spPr>
      </p:sp>
      <p:sp>
        <p:nvSpPr>
          <p:cNvPr id="30" name="bottom-note"/>
          <p:cNvSpPr txBox="1"/>
          <p:nvPr/>
        </p:nvSpPr>
        <p:spPr>
          <a:xfrm>
            <a:off x="812800" y="5918200"/>
            <a:ext cx="105664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150">
                <a:solidFill>
                  <a:srgbClr val="8C8585"/>
                </a:solidFill>
                <a:latin typeface="MiSans"/>
                <a:ea typeface="MiSans"/>
              </a:rPr>
              <a:t>信号不等于结论，但值得一次深度拜访——风险，永远比机会先到。</a:t>
            </a:r>
            <a:endParaRPr lang="en-US" sz="1150"/>
          </a:p>
        </p:txBody>
      </p:sp>
      <p:sp>
        <p:nvSpPr>
          <p:cNvPr id="31" name="footer-line"/>
          <p:cNvSpPr/>
          <p:nvPr/>
        </p:nvSpPr>
        <p:spPr>
          <a:xfrm>
            <a:off x="812800" y="6400800"/>
            <a:ext cx="10566400" cy="12700"/>
          </a:xfrm>
          <a:prstGeom prst="rect">
            <a:avLst/>
          </a:prstGeom>
          <a:solidFill>
            <a:srgbClr val="E7E6E6"/>
          </a:solidFill>
          <a:ln>
            <a:noFill/>
          </a:ln>
        </p:spPr>
      </p:sp>
      <p:sp>
        <p:nvSpPr>
          <p:cNvPr id="32" name="footer-left"/>
          <p:cNvSpPr txBox="1"/>
          <p:nvPr/>
        </p:nvSpPr>
        <p:spPr>
          <a:xfrm>
            <a:off x="812800" y="65024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900">
                <a:solidFill>
                  <a:srgbClr val="B5AFAF"/>
                </a:solidFill>
                <a:latin typeface="MiSans"/>
                <a:ea typeface="MiSans"/>
              </a:rPr>
              <a:t>第三课 · 客户经营 ｜ 企业商学院</a:t>
            </a:r>
            <a:endParaRPr lang="en-US" sz="900"/>
          </a:p>
        </p:txBody>
      </p:sp>
      <p:sp>
        <p:nvSpPr>
          <p:cNvPr id="33" name="footer-page"/>
          <p:cNvSpPr txBox="1"/>
          <p:nvPr/>
        </p:nvSpPr>
        <p:spPr>
          <a:xfrm>
            <a:off x="10109200" y="65024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20000"/>
              </a:lnSpc>
            </a:pPr>
            <a:r>
              <a:rPr lang="en-US" sz="900">
                <a:solidFill>
                  <a:srgbClr val="B5AFAF"/>
                </a:solidFill>
                <a:latin typeface="MiSans"/>
                <a:ea typeface="MiSans"/>
              </a:rPr>
              <a:t>21</a:t>
            </a:r>
            <a:endParaRPr lang="en-US" sz="900"/>
          </a:p>
        </p:txBody>
      </p:sp>
    </p:spTree>
  </p:cSld>
  <p:clrMapOvr>
    <a:masterClrMapping/>
  </p:clrMapOvr>
  <p:transition spd="fast" advClick="1">
    <p:checker dir="horz"/>
  </p:transition>
</p:sld>
</file>

<file path=ppt/slides/slide22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508000"/>
            <a:ext cx="762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000" spc="300" kern="0">
                <a:solidFill>
                  <a:srgbClr val="8C8585"/>
                </a:solidFill>
                <a:latin typeface="MiSans"/>
                <a:ea typeface="MiSans"/>
              </a:rPr>
              <a:t>经营指标</a:t>
            </a:r>
            <a:endParaRPr lang="en-US" sz="1000"/>
          </a:p>
        </p:txBody>
      </p:sp>
      <p:sp>
        <p:nvSpPr>
          <p:cNvPr id="3" name="title"/>
          <p:cNvSpPr txBox="1"/>
          <p:nvPr/>
        </p:nvSpPr>
        <p:spPr>
          <a:xfrm>
            <a:off x="812800" y="762000"/>
            <a:ext cx="10160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2600" b="1">
                <a:solidFill>
                  <a:srgbClr val="1C0B0B"/>
                </a:solidFill>
                <a:latin typeface="MiSans"/>
                <a:ea typeface="MiSans"/>
              </a:rPr>
              <a:t>客户经营指标</a:t>
            </a:r>
            <a:endParaRPr lang="en-US" sz="2600"/>
          </a:p>
        </p:txBody>
      </p:sp>
      <p:sp>
        <p:nvSpPr>
          <p:cNvPr id="4" name="caption"/>
          <p:cNvSpPr txBox="1"/>
          <p:nvPr/>
        </p:nvSpPr>
        <p:spPr>
          <a:xfrm>
            <a:off x="812800" y="1295400"/>
            <a:ext cx="1016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200">
                <a:solidFill>
                  <a:srgbClr val="8C8585"/>
                </a:solidFill>
                <a:latin typeface="MiSans"/>
                <a:ea typeface="MiSans"/>
              </a:rPr>
              <a:t>不要只统计销售额——过程指标，决定结果指标</a:t>
            </a:r>
            <a:endParaRPr lang="en-US" sz="1200"/>
          </a:p>
        </p:txBody>
      </p:sp>
      <p:sp>
        <p:nvSpPr>
          <p:cNvPr id="5" name="title-line"/>
          <p:cNvSpPr/>
          <p:nvPr/>
        </p:nvSpPr>
        <p:spPr>
          <a:xfrm>
            <a:off x="812800" y="1676400"/>
            <a:ext cx="10566400" cy="12700"/>
          </a:xfrm>
          <a:prstGeom prst="rect">
            <a:avLst/>
          </a:prstGeom>
          <a:solidFill>
            <a:srgbClr val="E7E6E6"/>
          </a:solidFill>
          <a:ln>
            <a:noFill/>
          </a:ln>
        </p:spPr>
      </p:sp>
      <p:sp>
        <p:nvSpPr>
          <p:cNvPr id="6" name="k1"/>
          <p:cNvSpPr/>
          <p:nvPr/>
        </p:nvSpPr>
        <p:spPr>
          <a:xfrm>
            <a:off x="812800" y="2095500"/>
            <a:ext cx="2527300" cy="1079500"/>
          </a:xfrm>
          <a:prstGeom prst="rect">
            <a:avLst/>
          </a:prstGeom>
          <a:solidFill>
            <a:srgbClr val="F6F6F6"/>
          </a:solidFill>
          <a:ln>
            <a:noFill/>
          </a:ln>
        </p:spPr>
      </p:sp>
      <p:sp>
        <p:nvSpPr>
          <p:cNvPr id="7" name="k1-t"/>
          <p:cNvSpPr txBox="1"/>
          <p:nvPr/>
        </p:nvSpPr>
        <p:spPr>
          <a:xfrm>
            <a:off x="990600" y="2273300"/>
            <a:ext cx="21717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350" b="1">
                <a:solidFill>
                  <a:srgbClr val="1C0B0B"/>
                </a:solidFill>
                <a:latin typeface="MiSans"/>
                <a:ea typeface="MiSans"/>
              </a:rPr>
              <a:t>A类客户数量</a:t>
            </a:r>
            <a:endParaRPr lang="en-US" sz="1350"/>
          </a:p>
        </p:txBody>
      </p:sp>
      <p:sp>
        <p:nvSpPr>
          <p:cNvPr id="8" name="k1-g"/>
          <p:cNvSpPr txBox="1"/>
          <p:nvPr/>
        </p:nvSpPr>
        <p:spPr>
          <a:xfrm>
            <a:off x="990600" y="2603500"/>
            <a:ext cx="21717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950">
                <a:solidFill>
                  <a:srgbClr val="8C8585"/>
                </a:solidFill>
                <a:latin typeface="MiSans"/>
                <a:ea typeface="MiSans"/>
              </a:rPr>
              <a:t>资产的数量</a:t>
            </a:r>
            <a:endParaRPr lang="en-US" sz="950"/>
          </a:p>
        </p:txBody>
      </p:sp>
      <p:sp>
        <p:nvSpPr>
          <p:cNvPr id="9" name="k2"/>
          <p:cNvSpPr/>
          <p:nvPr/>
        </p:nvSpPr>
        <p:spPr>
          <a:xfrm>
            <a:off x="3492500" y="2095500"/>
            <a:ext cx="2527300" cy="1079500"/>
          </a:xfrm>
          <a:prstGeom prst="rect">
            <a:avLst/>
          </a:prstGeom>
          <a:solidFill>
            <a:srgbClr val="F6F6F6"/>
          </a:solidFill>
          <a:ln>
            <a:noFill/>
          </a:ln>
        </p:spPr>
      </p:sp>
      <p:sp>
        <p:nvSpPr>
          <p:cNvPr id="10" name="k2-t"/>
          <p:cNvSpPr txBox="1"/>
          <p:nvPr/>
        </p:nvSpPr>
        <p:spPr>
          <a:xfrm>
            <a:off x="3670300" y="2273300"/>
            <a:ext cx="21717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350" b="1">
                <a:solidFill>
                  <a:srgbClr val="1C0B0B"/>
                </a:solidFill>
                <a:latin typeface="MiSans"/>
                <a:ea typeface="MiSans"/>
              </a:rPr>
              <a:t>拜访次数</a:t>
            </a:r>
            <a:endParaRPr lang="en-US" sz="1350"/>
          </a:p>
        </p:txBody>
      </p:sp>
      <p:sp>
        <p:nvSpPr>
          <p:cNvPr id="11" name="k2-g"/>
          <p:cNvSpPr txBox="1"/>
          <p:nvPr/>
        </p:nvSpPr>
        <p:spPr>
          <a:xfrm>
            <a:off x="3670300" y="2603500"/>
            <a:ext cx="21717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950">
                <a:solidFill>
                  <a:srgbClr val="8C8585"/>
                </a:solidFill>
                <a:latin typeface="MiSans"/>
                <a:ea typeface="MiSans"/>
              </a:rPr>
              <a:t>经营的频率</a:t>
            </a:r>
            <a:endParaRPr lang="en-US" sz="950"/>
          </a:p>
        </p:txBody>
      </p:sp>
      <p:sp>
        <p:nvSpPr>
          <p:cNvPr id="12" name="k3"/>
          <p:cNvSpPr/>
          <p:nvPr/>
        </p:nvSpPr>
        <p:spPr>
          <a:xfrm>
            <a:off x="6172200" y="2095500"/>
            <a:ext cx="2527300" cy="1079500"/>
          </a:xfrm>
          <a:prstGeom prst="rect">
            <a:avLst/>
          </a:prstGeom>
          <a:solidFill>
            <a:srgbClr val="F6F6F6"/>
          </a:solidFill>
          <a:ln>
            <a:noFill/>
          </a:ln>
        </p:spPr>
      </p:sp>
      <p:sp>
        <p:nvSpPr>
          <p:cNvPr id="13" name="k3-t"/>
          <p:cNvSpPr txBox="1"/>
          <p:nvPr/>
        </p:nvSpPr>
        <p:spPr>
          <a:xfrm>
            <a:off x="6350000" y="2273300"/>
            <a:ext cx="21717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350" b="1">
                <a:solidFill>
                  <a:srgbClr val="1C0B0B"/>
                </a:solidFill>
                <a:latin typeface="MiSans"/>
                <a:ea typeface="MiSans"/>
              </a:rPr>
              <a:t>老板见面次数</a:t>
            </a:r>
            <a:endParaRPr lang="en-US" sz="1350"/>
          </a:p>
        </p:txBody>
      </p:sp>
      <p:sp>
        <p:nvSpPr>
          <p:cNvPr id="14" name="k3-g"/>
          <p:cNvSpPr txBox="1"/>
          <p:nvPr/>
        </p:nvSpPr>
        <p:spPr>
          <a:xfrm>
            <a:off x="6350000" y="2603500"/>
            <a:ext cx="21717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950">
                <a:solidFill>
                  <a:srgbClr val="8C8585"/>
                </a:solidFill>
                <a:latin typeface="MiSans"/>
                <a:ea typeface="MiSans"/>
              </a:rPr>
              <a:t>关系的深度</a:t>
            </a:r>
            <a:endParaRPr lang="en-US" sz="950"/>
          </a:p>
        </p:txBody>
      </p:sp>
      <p:sp>
        <p:nvSpPr>
          <p:cNvPr id="15" name="k4"/>
          <p:cNvSpPr/>
          <p:nvPr/>
        </p:nvSpPr>
        <p:spPr>
          <a:xfrm>
            <a:off x="8851900" y="2095500"/>
            <a:ext cx="2527300" cy="1079500"/>
          </a:xfrm>
          <a:prstGeom prst="rect">
            <a:avLst/>
          </a:prstGeom>
          <a:solidFill>
            <a:srgbClr val="F6F6F6"/>
          </a:solidFill>
          <a:ln>
            <a:noFill/>
          </a:ln>
        </p:spPr>
      </p:sp>
      <p:sp>
        <p:nvSpPr>
          <p:cNvPr id="16" name="k4-t"/>
          <p:cNvSpPr txBox="1"/>
          <p:nvPr/>
        </p:nvSpPr>
        <p:spPr>
          <a:xfrm>
            <a:off x="9029700" y="2273300"/>
            <a:ext cx="21717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350" b="1">
                <a:solidFill>
                  <a:srgbClr val="1C0B0B"/>
                </a:solidFill>
                <a:latin typeface="MiSans"/>
                <a:ea typeface="MiSans"/>
              </a:rPr>
              <a:t>新增产品数</a:t>
            </a:r>
            <a:endParaRPr lang="en-US" sz="1350"/>
          </a:p>
        </p:txBody>
      </p:sp>
      <p:sp>
        <p:nvSpPr>
          <p:cNvPr id="17" name="k4-g"/>
          <p:cNvSpPr txBox="1"/>
          <p:nvPr/>
        </p:nvSpPr>
        <p:spPr>
          <a:xfrm>
            <a:off x="9029700" y="2603500"/>
            <a:ext cx="21717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950">
                <a:solidFill>
                  <a:srgbClr val="8C8585"/>
                </a:solidFill>
                <a:latin typeface="MiSans"/>
                <a:ea typeface="MiSans"/>
              </a:rPr>
              <a:t>渗透的速度</a:t>
            </a:r>
            <a:endParaRPr lang="en-US" sz="950"/>
          </a:p>
        </p:txBody>
      </p:sp>
      <p:sp>
        <p:nvSpPr>
          <p:cNvPr id="18" name="k5"/>
          <p:cNvSpPr/>
          <p:nvPr/>
        </p:nvSpPr>
        <p:spPr>
          <a:xfrm>
            <a:off x="812800" y="3276600"/>
            <a:ext cx="2527300" cy="1079500"/>
          </a:xfrm>
          <a:prstGeom prst="rect">
            <a:avLst/>
          </a:prstGeom>
          <a:solidFill>
            <a:srgbClr val="FF4D4D"/>
          </a:solidFill>
          <a:ln>
            <a:noFill/>
          </a:ln>
        </p:spPr>
      </p:sp>
      <p:sp>
        <p:nvSpPr>
          <p:cNvPr id="19" name="k5-t"/>
          <p:cNvSpPr txBox="1"/>
          <p:nvPr/>
        </p:nvSpPr>
        <p:spPr>
          <a:xfrm>
            <a:off x="990600" y="3454400"/>
            <a:ext cx="21717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350" b="1">
                <a:solidFill>
                  <a:srgbClr val="FFFFFF"/>
                </a:solidFill>
                <a:latin typeface="MiSans"/>
                <a:ea typeface="MiSans"/>
              </a:rPr>
              <a:t>客户利润</a:t>
            </a:r>
            <a:endParaRPr lang="en-US" sz="1350"/>
          </a:p>
        </p:txBody>
      </p:sp>
      <p:sp>
        <p:nvSpPr>
          <p:cNvPr id="20" name="k5-g"/>
          <p:cNvSpPr txBox="1"/>
          <p:nvPr/>
        </p:nvSpPr>
        <p:spPr>
          <a:xfrm>
            <a:off x="990600" y="3784600"/>
            <a:ext cx="21717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950">
                <a:solidFill>
                  <a:srgbClr val="FFFFFF"/>
                </a:solidFill>
                <a:latin typeface="MiSans"/>
                <a:ea typeface="MiSans"/>
              </a:rPr>
              <a:t>资产的质量</a:t>
            </a:r>
            <a:endParaRPr lang="en-US" sz="950"/>
          </a:p>
        </p:txBody>
      </p:sp>
      <p:sp>
        <p:nvSpPr>
          <p:cNvPr id="21" name="k6"/>
          <p:cNvSpPr/>
          <p:nvPr/>
        </p:nvSpPr>
        <p:spPr>
          <a:xfrm>
            <a:off x="3492500" y="3276600"/>
            <a:ext cx="2527300" cy="1079500"/>
          </a:xfrm>
          <a:prstGeom prst="rect">
            <a:avLst/>
          </a:prstGeom>
          <a:solidFill>
            <a:srgbClr val="F6F6F6"/>
          </a:solidFill>
          <a:ln>
            <a:noFill/>
          </a:ln>
        </p:spPr>
      </p:sp>
      <p:sp>
        <p:nvSpPr>
          <p:cNvPr id="22" name="k6-t"/>
          <p:cNvSpPr txBox="1"/>
          <p:nvPr/>
        </p:nvSpPr>
        <p:spPr>
          <a:xfrm>
            <a:off x="3670300" y="3454400"/>
            <a:ext cx="21717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350" b="1">
                <a:solidFill>
                  <a:srgbClr val="1C0B0B"/>
                </a:solidFill>
                <a:latin typeface="MiSans"/>
                <a:ea typeface="MiSans"/>
              </a:rPr>
              <a:t>客户生命周期</a:t>
            </a:r>
            <a:endParaRPr lang="en-US" sz="1350"/>
          </a:p>
        </p:txBody>
      </p:sp>
      <p:sp>
        <p:nvSpPr>
          <p:cNvPr id="23" name="k6-g"/>
          <p:cNvSpPr txBox="1"/>
          <p:nvPr/>
        </p:nvSpPr>
        <p:spPr>
          <a:xfrm>
            <a:off x="3670300" y="3784600"/>
            <a:ext cx="21717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950">
                <a:solidFill>
                  <a:srgbClr val="8C8585"/>
                </a:solidFill>
                <a:latin typeface="MiSans"/>
                <a:ea typeface="MiSans"/>
              </a:rPr>
              <a:t>合作的长度</a:t>
            </a:r>
            <a:endParaRPr lang="en-US" sz="950"/>
          </a:p>
        </p:txBody>
      </p:sp>
      <p:sp>
        <p:nvSpPr>
          <p:cNvPr id="24" name="k7"/>
          <p:cNvSpPr/>
          <p:nvPr/>
        </p:nvSpPr>
        <p:spPr>
          <a:xfrm>
            <a:off x="6172200" y="3276600"/>
            <a:ext cx="2527300" cy="1079500"/>
          </a:xfrm>
          <a:prstGeom prst="rect">
            <a:avLst/>
          </a:prstGeom>
          <a:solidFill>
            <a:srgbClr val="F6F6F6"/>
          </a:solidFill>
          <a:ln>
            <a:noFill/>
          </a:ln>
        </p:spPr>
      </p:sp>
      <p:sp>
        <p:nvSpPr>
          <p:cNvPr id="25" name="k7-t"/>
          <p:cNvSpPr txBox="1"/>
          <p:nvPr/>
        </p:nvSpPr>
        <p:spPr>
          <a:xfrm>
            <a:off x="6350000" y="3454400"/>
            <a:ext cx="21717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350" b="1">
                <a:solidFill>
                  <a:srgbClr val="1C0B0B"/>
                </a:solidFill>
                <a:latin typeface="MiSans"/>
                <a:ea typeface="MiSans"/>
              </a:rPr>
              <a:t>供应链覆盖率</a:t>
            </a:r>
            <a:endParaRPr lang="en-US" sz="1350"/>
          </a:p>
        </p:txBody>
      </p:sp>
      <p:sp>
        <p:nvSpPr>
          <p:cNvPr id="26" name="k7-g"/>
          <p:cNvSpPr txBox="1"/>
          <p:nvPr/>
        </p:nvSpPr>
        <p:spPr>
          <a:xfrm>
            <a:off x="6350000" y="3784600"/>
            <a:ext cx="21717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950">
                <a:solidFill>
                  <a:srgbClr val="8C8585"/>
                </a:solidFill>
                <a:latin typeface="MiSans"/>
                <a:ea typeface="MiSans"/>
              </a:rPr>
              <a:t>绑定的程度</a:t>
            </a:r>
            <a:endParaRPr lang="en-US" sz="950"/>
          </a:p>
        </p:txBody>
      </p:sp>
      <p:sp>
        <p:nvSpPr>
          <p:cNvPr id="27" name="k8"/>
          <p:cNvSpPr/>
          <p:nvPr/>
        </p:nvSpPr>
        <p:spPr>
          <a:xfrm>
            <a:off x="8851900" y="3276600"/>
            <a:ext cx="2527300" cy="1079500"/>
          </a:xfrm>
          <a:prstGeom prst="rect">
            <a:avLst/>
          </a:prstGeom>
          <a:solidFill>
            <a:srgbClr val="FFFFFF"/>
          </a:solidFill>
          <a:ln w="12700">
            <a:solidFill>
              <a:srgbClr val="B5AFAF"/>
            </a:solidFill>
            <a:prstDash val="dash"/>
          </a:ln>
        </p:spPr>
      </p:sp>
      <p:sp>
        <p:nvSpPr>
          <p:cNvPr id="28" name="k8-t"/>
          <p:cNvSpPr txBox="1"/>
          <p:nvPr/>
        </p:nvSpPr>
        <p:spPr>
          <a:xfrm>
            <a:off x="9029700" y="3454400"/>
            <a:ext cx="21717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350" b="1">
                <a:solidFill>
                  <a:srgbClr val="8C8585"/>
                </a:solidFill>
                <a:latin typeface="MiSans"/>
                <a:ea typeface="MiSans"/>
              </a:rPr>
              <a:t>销售额</a:t>
            </a:r>
            <a:endParaRPr lang="en-US" sz="1350"/>
          </a:p>
        </p:txBody>
      </p:sp>
      <p:sp>
        <p:nvSpPr>
          <p:cNvPr id="29" name="k8-g"/>
          <p:cNvSpPr txBox="1"/>
          <p:nvPr/>
        </p:nvSpPr>
        <p:spPr>
          <a:xfrm>
            <a:off x="9029700" y="3784600"/>
            <a:ext cx="21717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950">
                <a:solidFill>
                  <a:srgbClr val="8C8585"/>
                </a:solidFill>
                <a:latin typeface="MiSans"/>
                <a:ea typeface="MiSans"/>
              </a:rPr>
              <a:t>结果指标，经营的副产品</a:t>
            </a:r>
            <a:endParaRPr lang="en-US" sz="950"/>
          </a:p>
        </p:txBody>
      </p:sp>
      <p:sp>
        <p:nvSpPr>
          <p:cNvPr id="30" name="bottom-note"/>
          <p:cNvSpPr txBox="1"/>
          <p:nvPr/>
        </p:nvSpPr>
        <p:spPr>
          <a:xfrm>
            <a:off x="812800" y="4826000"/>
            <a:ext cx="105664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200">
                <a:solidFill>
                  <a:srgbClr val="8C8585"/>
                </a:solidFill>
                <a:latin typeface="MiSans"/>
                <a:ea typeface="MiSans"/>
              </a:rPr>
              <a:t>每周看过程指标，每月看结果指标——让经营可追踪、可复盘、可复制。</a:t>
            </a:r>
            <a:endParaRPr lang="en-US" sz="1200"/>
          </a:p>
        </p:txBody>
      </p:sp>
      <p:sp>
        <p:nvSpPr>
          <p:cNvPr id="31" name="footer-line"/>
          <p:cNvSpPr/>
          <p:nvPr/>
        </p:nvSpPr>
        <p:spPr>
          <a:xfrm>
            <a:off x="812800" y="6400800"/>
            <a:ext cx="10566400" cy="12700"/>
          </a:xfrm>
          <a:prstGeom prst="rect">
            <a:avLst/>
          </a:prstGeom>
          <a:solidFill>
            <a:srgbClr val="E7E6E6"/>
          </a:solidFill>
          <a:ln>
            <a:noFill/>
          </a:ln>
        </p:spPr>
      </p:sp>
      <p:sp>
        <p:nvSpPr>
          <p:cNvPr id="32" name="footer-left"/>
          <p:cNvSpPr txBox="1"/>
          <p:nvPr/>
        </p:nvSpPr>
        <p:spPr>
          <a:xfrm>
            <a:off x="812800" y="65024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900">
                <a:solidFill>
                  <a:srgbClr val="B5AFAF"/>
                </a:solidFill>
                <a:latin typeface="MiSans"/>
                <a:ea typeface="MiSans"/>
              </a:rPr>
              <a:t>第三课 · 客户经营 ｜ 企业商学院</a:t>
            </a:r>
            <a:endParaRPr lang="en-US" sz="900"/>
          </a:p>
        </p:txBody>
      </p:sp>
      <p:sp>
        <p:nvSpPr>
          <p:cNvPr id="33" name="footer-page"/>
          <p:cNvSpPr txBox="1"/>
          <p:nvPr/>
        </p:nvSpPr>
        <p:spPr>
          <a:xfrm>
            <a:off x="10109200" y="65024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20000"/>
              </a:lnSpc>
            </a:pPr>
            <a:r>
              <a:rPr lang="en-US" sz="900">
                <a:solidFill>
                  <a:srgbClr val="B5AFAF"/>
                </a:solidFill>
                <a:latin typeface="MiSans"/>
                <a:ea typeface="MiSans"/>
              </a:rPr>
              <a:t>22</a:t>
            </a:r>
            <a:endParaRPr lang="en-US" sz="900"/>
          </a:p>
        </p:txBody>
      </p:sp>
    </p:spTree>
  </p:cSld>
  <p:clrMapOvr>
    <a:masterClrMapping/>
  </p:clrMapOvr>
  <p:transition spd="fast" advClick="1">
    <p:checker dir="horz"/>
  </p:transition>
</p:sld>
</file>

<file path=ppt/slides/slide23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508000"/>
            <a:ext cx="762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000" spc="300" kern="0">
                <a:solidFill>
                  <a:srgbClr val="8C8585"/>
                </a:solidFill>
                <a:latin typeface="MiSans"/>
                <a:ea typeface="MiSans"/>
              </a:rPr>
              <a:t>身份升级</a:t>
            </a:r>
            <a:endParaRPr lang="en-US" sz="1000"/>
          </a:p>
        </p:txBody>
      </p:sp>
      <p:sp>
        <p:nvSpPr>
          <p:cNvPr id="3" name="title"/>
          <p:cNvSpPr txBox="1"/>
          <p:nvPr/>
        </p:nvSpPr>
        <p:spPr>
          <a:xfrm>
            <a:off x="812800" y="762000"/>
            <a:ext cx="10160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2600" b="1">
                <a:solidFill>
                  <a:srgbClr val="1C0B0B"/>
                </a:solidFill>
                <a:latin typeface="MiSans"/>
                <a:ea typeface="MiSans"/>
              </a:rPr>
              <a:t>销售的新身份</a:t>
            </a:r>
            <a:endParaRPr lang="en-US" sz="2600"/>
          </a:p>
        </p:txBody>
      </p:sp>
      <p:sp>
        <p:nvSpPr>
          <p:cNvPr id="4" name="caption"/>
          <p:cNvSpPr txBox="1"/>
          <p:nvPr/>
        </p:nvSpPr>
        <p:spPr>
          <a:xfrm>
            <a:off x="812800" y="1295400"/>
            <a:ext cx="1016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200">
                <a:solidFill>
                  <a:srgbClr val="8C8585"/>
                </a:solidFill>
                <a:latin typeface="MiSans"/>
                <a:ea typeface="MiSans"/>
              </a:rPr>
              <a:t>身份决定价值，价值决定价格</a:t>
            </a:r>
            <a:endParaRPr lang="en-US" sz="1200"/>
          </a:p>
        </p:txBody>
      </p:sp>
      <p:sp>
        <p:nvSpPr>
          <p:cNvPr id="5" name="title-line"/>
          <p:cNvSpPr/>
          <p:nvPr/>
        </p:nvSpPr>
        <p:spPr>
          <a:xfrm>
            <a:off x="812800" y="1676400"/>
            <a:ext cx="10566400" cy="12700"/>
          </a:xfrm>
          <a:prstGeom prst="rect">
            <a:avLst/>
          </a:prstGeom>
          <a:solidFill>
            <a:srgbClr val="E7E6E6"/>
          </a:solidFill>
          <a:ln>
            <a:noFill/>
          </a:ln>
        </p:spPr>
      </p:sp>
      <p:sp>
        <p:nvSpPr>
          <p:cNvPr id="6" name="e1"/>
          <p:cNvSpPr/>
          <p:nvPr/>
        </p:nvSpPr>
        <p:spPr>
          <a:xfrm>
            <a:off x="812800" y="3937000"/>
            <a:ext cx="3048000" cy="1524000"/>
          </a:xfrm>
          <a:prstGeom prst="rect">
            <a:avLst/>
          </a:prstGeom>
          <a:solidFill>
            <a:srgbClr val="EFEDED"/>
          </a:solidFill>
          <a:ln>
            <a:noFill/>
          </a:ln>
        </p:spPr>
      </p:sp>
      <p:sp>
        <p:nvSpPr>
          <p:cNvPr id="7" name="e1-era"/>
          <p:cNvSpPr txBox="1"/>
          <p:nvPr/>
        </p:nvSpPr>
        <p:spPr>
          <a:xfrm>
            <a:off x="1041400" y="41402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000">
                <a:solidFill>
                  <a:srgbClr val="8C8585"/>
                </a:solidFill>
                <a:latin typeface="MiSans"/>
                <a:ea typeface="MiSans"/>
              </a:rPr>
              <a:t>过去</a:t>
            </a:r>
            <a:endParaRPr lang="en-US" sz="1000"/>
          </a:p>
        </p:txBody>
      </p:sp>
      <p:sp>
        <p:nvSpPr>
          <p:cNvPr id="8" name="e1-name"/>
          <p:cNvSpPr txBox="1"/>
          <p:nvPr/>
        </p:nvSpPr>
        <p:spPr>
          <a:xfrm>
            <a:off x="1041400" y="4394200"/>
            <a:ext cx="25908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900" b="1">
                <a:solidFill>
                  <a:srgbClr val="1C0B0B"/>
                </a:solidFill>
                <a:latin typeface="MiSans"/>
                <a:ea typeface="MiSans"/>
              </a:rPr>
              <a:t>产品销售</a:t>
            </a:r>
            <a:endParaRPr lang="en-US" sz="1900"/>
          </a:p>
        </p:txBody>
      </p:sp>
      <p:sp>
        <p:nvSpPr>
          <p:cNvPr id="9" name="e1-g"/>
          <p:cNvSpPr txBox="1"/>
          <p:nvPr/>
        </p:nvSpPr>
        <p:spPr>
          <a:xfrm>
            <a:off x="1041400" y="4800600"/>
            <a:ext cx="25908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050">
                <a:solidFill>
                  <a:srgbClr val="8C8585"/>
                </a:solidFill>
                <a:latin typeface="MiSans"/>
                <a:ea typeface="MiSans"/>
              </a:rPr>
              <a:t>卖产品，拼价格</a:t>
            </a:r>
            <a:endParaRPr lang="en-US" sz="1050"/>
          </a:p>
        </p:txBody>
      </p:sp>
      <p:sp>
        <p:nvSpPr>
          <p:cNvPr id="10" name="e2"/>
          <p:cNvSpPr/>
          <p:nvPr/>
        </p:nvSpPr>
        <p:spPr>
          <a:xfrm>
            <a:off x="4572000" y="3302000"/>
            <a:ext cx="3048000" cy="2159000"/>
          </a:xfrm>
          <a:prstGeom prst="rect">
            <a:avLst/>
          </a:prstGeom>
          <a:solidFill>
            <a:srgbClr val="DDD9D9"/>
          </a:solidFill>
          <a:ln>
            <a:noFill/>
          </a:ln>
        </p:spPr>
      </p:sp>
      <p:sp>
        <p:nvSpPr>
          <p:cNvPr id="11" name="e2-era"/>
          <p:cNvSpPr txBox="1"/>
          <p:nvPr/>
        </p:nvSpPr>
        <p:spPr>
          <a:xfrm>
            <a:off x="4800600" y="35052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000">
                <a:solidFill>
                  <a:srgbClr val="8C8585"/>
                </a:solidFill>
                <a:latin typeface="MiSans"/>
                <a:ea typeface="MiSans"/>
              </a:rPr>
              <a:t>现在</a:t>
            </a:r>
            <a:endParaRPr lang="en-US" sz="1000"/>
          </a:p>
        </p:txBody>
      </p:sp>
      <p:sp>
        <p:nvSpPr>
          <p:cNvPr id="12" name="e2-name"/>
          <p:cNvSpPr txBox="1"/>
          <p:nvPr/>
        </p:nvSpPr>
        <p:spPr>
          <a:xfrm>
            <a:off x="4800600" y="3759200"/>
            <a:ext cx="25908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900" b="1">
                <a:solidFill>
                  <a:srgbClr val="1C0B0B"/>
                </a:solidFill>
                <a:latin typeface="MiSans"/>
                <a:ea typeface="MiSans"/>
              </a:rPr>
              <a:t>供应链顾问</a:t>
            </a:r>
            <a:endParaRPr lang="en-US" sz="1900"/>
          </a:p>
        </p:txBody>
      </p:sp>
      <p:sp>
        <p:nvSpPr>
          <p:cNvPr id="13" name="e2-g"/>
          <p:cNvSpPr txBox="1"/>
          <p:nvPr/>
        </p:nvSpPr>
        <p:spPr>
          <a:xfrm>
            <a:off x="4800600" y="4165600"/>
            <a:ext cx="25908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050">
                <a:solidFill>
                  <a:srgbClr val="8C8585"/>
                </a:solidFill>
                <a:latin typeface="MiSans"/>
                <a:ea typeface="MiSans"/>
              </a:rPr>
              <a:t>卖方案，拼专业</a:t>
            </a:r>
            <a:endParaRPr lang="en-US" sz="1050"/>
          </a:p>
        </p:txBody>
      </p:sp>
      <p:sp>
        <p:nvSpPr>
          <p:cNvPr id="14" name="e3"/>
          <p:cNvSpPr/>
          <p:nvPr/>
        </p:nvSpPr>
        <p:spPr>
          <a:xfrm>
            <a:off x="8331200" y="2667000"/>
            <a:ext cx="3048000" cy="2794000"/>
          </a:xfrm>
          <a:prstGeom prst="rect">
            <a:avLst/>
          </a:prstGeom>
          <a:solidFill>
            <a:srgbClr val="FF4D4D"/>
          </a:solidFill>
          <a:ln>
            <a:noFill/>
          </a:ln>
        </p:spPr>
      </p:sp>
      <p:sp>
        <p:nvSpPr>
          <p:cNvPr id="15" name="e3-era"/>
          <p:cNvSpPr txBox="1"/>
          <p:nvPr/>
        </p:nvSpPr>
        <p:spPr>
          <a:xfrm>
            <a:off x="8559800" y="28702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000">
                <a:solidFill>
                  <a:srgbClr val="FFFFFF"/>
                </a:solidFill>
                <a:latin typeface="MiSans"/>
                <a:ea typeface="MiSans"/>
              </a:rPr>
              <a:t>未来</a:t>
            </a:r>
            <a:endParaRPr lang="en-US" sz="1000"/>
          </a:p>
        </p:txBody>
      </p:sp>
      <p:sp>
        <p:nvSpPr>
          <p:cNvPr id="16" name="e3-name"/>
          <p:cNvSpPr txBox="1"/>
          <p:nvPr/>
        </p:nvSpPr>
        <p:spPr>
          <a:xfrm>
            <a:off x="8559800" y="3124200"/>
            <a:ext cx="25908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900" b="1">
                <a:solidFill>
                  <a:srgbClr val="FFFFFF"/>
                </a:solidFill>
                <a:latin typeface="MiSans"/>
                <a:ea typeface="MiSans"/>
              </a:rPr>
              <a:t>客户增长顾问</a:t>
            </a:r>
            <a:endParaRPr lang="en-US" sz="1900"/>
          </a:p>
        </p:txBody>
      </p:sp>
      <p:sp>
        <p:nvSpPr>
          <p:cNvPr id="17" name="e3-g"/>
          <p:cNvSpPr txBox="1"/>
          <p:nvPr/>
        </p:nvSpPr>
        <p:spPr>
          <a:xfrm>
            <a:off x="8559800" y="3530600"/>
            <a:ext cx="25908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050">
                <a:solidFill>
                  <a:srgbClr val="FFFFFF"/>
                </a:solidFill>
                <a:latin typeface="MiSans"/>
                <a:ea typeface="MiSans"/>
              </a:rPr>
              <a:t>卖增长，拼价值</a:t>
            </a:r>
            <a:endParaRPr lang="en-US" sz="1050"/>
          </a:p>
        </p:txBody>
      </p:sp>
      <p:sp>
        <p:nvSpPr>
          <p:cNvPr id="18" name="bottom-note"/>
          <p:cNvSpPr txBox="1"/>
          <p:nvPr/>
        </p:nvSpPr>
        <p:spPr>
          <a:xfrm>
            <a:off x="812800" y="5740400"/>
            <a:ext cx="105664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250">
                <a:solidFill>
                  <a:srgbClr val="8C8585"/>
                </a:solidFill>
                <a:latin typeface="MiSans"/>
                <a:ea typeface="MiSans"/>
              </a:rPr>
              <a:t>身份决定价值——客户为什么样的身份，付什么样的价格。</a:t>
            </a:r>
            <a:endParaRPr lang="en-US" sz="1250"/>
          </a:p>
        </p:txBody>
      </p:sp>
      <p:sp>
        <p:nvSpPr>
          <p:cNvPr id="19" name="footer-line"/>
          <p:cNvSpPr/>
          <p:nvPr/>
        </p:nvSpPr>
        <p:spPr>
          <a:xfrm>
            <a:off x="812800" y="6400800"/>
            <a:ext cx="10566400" cy="12700"/>
          </a:xfrm>
          <a:prstGeom prst="rect">
            <a:avLst/>
          </a:prstGeom>
          <a:solidFill>
            <a:srgbClr val="E7E6E6"/>
          </a:solidFill>
          <a:ln>
            <a:noFill/>
          </a:ln>
        </p:spPr>
      </p:sp>
      <p:sp>
        <p:nvSpPr>
          <p:cNvPr id="20" name="footer-left"/>
          <p:cNvSpPr txBox="1"/>
          <p:nvPr/>
        </p:nvSpPr>
        <p:spPr>
          <a:xfrm>
            <a:off x="812800" y="65024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900">
                <a:solidFill>
                  <a:srgbClr val="B5AFAF"/>
                </a:solidFill>
                <a:latin typeface="MiSans"/>
                <a:ea typeface="MiSans"/>
              </a:rPr>
              <a:t>第三课 · 客户经营 ｜ 企业商学院</a:t>
            </a:r>
            <a:endParaRPr lang="en-US" sz="900"/>
          </a:p>
        </p:txBody>
      </p:sp>
      <p:sp>
        <p:nvSpPr>
          <p:cNvPr id="21" name="footer-page"/>
          <p:cNvSpPr txBox="1"/>
          <p:nvPr/>
        </p:nvSpPr>
        <p:spPr>
          <a:xfrm>
            <a:off x="10109200" y="65024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20000"/>
              </a:lnSpc>
            </a:pPr>
            <a:r>
              <a:rPr lang="en-US" sz="900">
                <a:solidFill>
                  <a:srgbClr val="B5AFAF"/>
                </a:solidFill>
                <a:latin typeface="MiSans"/>
                <a:ea typeface="MiSans"/>
              </a:rPr>
              <a:t>23</a:t>
            </a:r>
            <a:endParaRPr lang="en-US" sz="900"/>
          </a:p>
        </p:txBody>
      </p:sp>
    </p:spTree>
  </p:cSld>
  <p:clrMapOvr>
    <a:masterClrMapping/>
  </p:clrMapOvr>
  <p:transition spd="fast" advClick="1">
    <p:checker dir="horz"/>
  </p:transition>
</p:sld>
</file>

<file path=ppt/slides/slide24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508000"/>
            <a:ext cx="762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000" spc="300" kern="0">
                <a:solidFill>
                  <a:srgbClr val="8C8585"/>
                </a:solidFill>
                <a:latin typeface="MiSans"/>
                <a:ea typeface="MiSans"/>
              </a:rPr>
              <a:t>增长系统</a:t>
            </a:r>
            <a:endParaRPr lang="en-US" sz="1000"/>
          </a:p>
        </p:txBody>
      </p:sp>
      <p:sp>
        <p:nvSpPr>
          <p:cNvPr id="3" name="title"/>
          <p:cNvSpPr txBox="1"/>
          <p:nvPr/>
        </p:nvSpPr>
        <p:spPr>
          <a:xfrm>
            <a:off x="812800" y="762000"/>
            <a:ext cx="10160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2600" b="1">
                <a:solidFill>
                  <a:srgbClr val="1C0B0B"/>
                </a:solidFill>
                <a:latin typeface="MiSans"/>
                <a:ea typeface="MiSans"/>
              </a:rPr>
              <a:t>客户增长系统：六步走</a:t>
            </a:r>
            <a:endParaRPr lang="en-US" sz="2600"/>
          </a:p>
        </p:txBody>
      </p:sp>
      <p:sp>
        <p:nvSpPr>
          <p:cNvPr id="4" name="caption"/>
          <p:cNvSpPr txBox="1"/>
          <p:nvPr/>
        </p:nvSpPr>
        <p:spPr>
          <a:xfrm>
            <a:off x="812800" y="1295400"/>
            <a:ext cx="1016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200">
                <a:solidFill>
                  <a:srgbClr val="8C8585"/>
                </a:solidFill>
                <a:latin typeface="MiSans"/>
                <a:ea typeface="MiSans"/>
              </a:rPr>
              <a:t>从找到A类客户，到成为客户的长期伙伴</a:t>
            </a:r>
            <a:endParaRPr lang="en-US" sz="1200"/>
          </a:p>
        </p:txBody>
      </p:sp>
      <p:sp>
        <p:nvSpPr>
          <p:cNvPr id="5" name="title-line"/>
          <p:cNvSpPr/>
          <p:nvPr/>
        </p:nvSpPr>
        <p:spPr>
          <a:xfrm>
            <a:off x="812800" y="1676400"/>
            <a:ext cx="10566400" cy="12700"/>
          </a:xfrm>
          <a:prstGeom prst="rect">
            <a:avLst/>
          </a:prstGeom>
          <a:solidFill>
            <a:srgbClr val="E7E6E6"/>
          </a:solidFill>
          <a:ln>
            <a:noFill/>
          </a:ln>
        </p:spPr>
      </p:sp>
      <p:sp>
        <p:nvSpPr>
          <p:cNvPr id="6" name="c1"/>
          <p:cNvSpPr/>
          <p:nvPr/>
        </p:nvSpPr>
        <p:spPr>
          <a:xfrm>
            <a:off x="812800" y="2095500"/>
            <a:ext cx="3352800" cy="1778000"/>
          </a:xfrm>
          <a:prstGeom prst="rect">
            <a:avLst/>
          </a:prstGeom>
          <a:solidFill>
            <a:srgbClr val="FF4D4D"/>
          </a:solidFill>
          <a:ln>
            <a:noFill/>
          </a:ln>
        </p:spPr>
      </p:sp>
      <p:sp>
        <p:nvSpPr>
          <p:cNvPr id="7" name="c1-n"/>
          <p:cNvSpPr txBox="1"/>
          <p:nvPr/>
        </p:nvSpPr>
        <p:spPr>
          <a:xfrm>
            <a:off x="1041400" y="2273300"/>
            <a:ext cx="762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800" b="1">
                <a:solidFill>
                  <a:srgbClr val="FFFFFF"/>
                </a:solidFill>
                <a:latin typeface="MiSans"/>
                <a:ea typeface="MiSans"/>
              </a:rPr>
              <a:t>01</a:t>
            </a:r>
            <a:endParaRPr lang="en-US" sz="1800"/>
          </a:p>
        </p:txBody>
      </p:sp>
      <p:sp>
        <p:nvSpPr>
          <p:cNvPr id="8" name="c1-t"/>
          <p:cNvSpPr txBox="1"/>
          <p:nvPr/>
        </p:nvSpPr>
        <p:spPr>
          <a:xfrm>
            <a:off x="1041400" y="2628900"/>
            <a:ext cx="28956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600" b="1">
                <a:solidFill>
                  <a:srgbClr val="FFFFFF"/>
                </a:solidFill>
                <a:latin typeface="MiSans"/>
                <a:ea typeface="MiSans"/>
              </a:rPr>
              <a:t>找到A类客户</a:t>
            </a:r>
            <a:endParaRPr lang="en-US" sz="1600"/>
          </a:p>
        </p:txBody>
      </p:sp>
      <p:sp>
        <p:nvSpPr>
          <p:cNvPr id="9" name="c1-g"/>
          <p:cNvSpPr txBox="1"/>
          <p:nvPr/>
        </p:nvSpPr>
        <p:spPr>
          <a:xfrm>
            <a:off x="1041400" y="3009900"/>
            <a:ext cx="28956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050">
                <a:solidFill>
                  <a:srgbClr val="FFFFFF"/>
                </a:solidFill>
                <a:latin typeface="MiSans"/>
                <a:ea typeface="MiSans"/>
              </a:rPr>
              <a:t>用7项标准，筛出未来价值最高的客户</a:t>
            </a:r>
            <a:endParaRPr lang="en-US" sz="1050"/>
          </a:p>
        </p:txBody>
      </p:sp>
      <p:sp>
        <p:nvSpPr>
          <p:cNvPr id="10" name="c2"/>
          <p:cNvSpPr/>
          <p:nvPr/>
        </p:nvSpPr>
        <p:spPr>
          <a:xfrm>
            <a:off x="4419600" y="2095500"/>
            <a:ext cx="3352800" cy="1778000"/>
          </a:xfrm>
          <a:prstGeom prst="rect">
            <a:avLst/>
          </a:prstGeom>
          <a:solidFill>
            <a:srgbClr val="F6F6F6"/>
          </a:solidFill>
          <a:ln>
            <a:noFill/>
          </a:ln>
        </p:spPr>
      </p:sp>
      <p:sp>
        <p:nvSpPr>
          <p:cNvPr id="11" name="c2-n"/>
          <p:cNvSpPr txBox="1"/>
          <p:nvPr/>
        </p:nvSpPr>
        <p:spPr>
          <a:xfrm>
            <a:off x="4648200" y="2273300"/>
            <a:ext cx="762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800" b="1">
                <a:solidFill>
                  <a:srgbClr val="B5AFAF"/>
                </a:solidFill>
                <a:latin typeface="MiSans"/>
                <a:ea typeface="MiSans"/>
              </a:rPr>
              <a:t>02</a:t>
            </a:r>
            <a:endParaRPr lang="en-US" sz="1800"/>
          </a:p>
        </p:txBody>
      </p:sp>
      <p:sp>
        <p:nvSpPr>
          <p:cNvPr id="12" name="c2-t"/>
          <p:cNvSpPr txBox="1"/>
          <p:nvPr/>
        </p:nvSpPr>
        <p:spPr>
          <a:xfrm>
            <a:off x="4648200" y="2628900"/>
            <a:ext cx="28956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600" b="1">
                <a:solidFill>
                  <a:srgbClr val="1C0B0B"/>
                </a:solidFill>
                <a:latin typeface="MiSans"/>
                <a:ea typeface="MiSans"/>
              </a:rPr>
              <a:t>建立客户画像</a:t>
            </a:r>
            <a:endParaRPr lang="en-US" sz="1600"/>
          </a:p>
        </p:txBody>
      </p:sp>
      <p:sp>
        <p:nvSpPr>
          <p:cNvPr id="13" name="c2-g"/>
          <p:cNvSpPr txBox="1"/>
          <p:nvPr/>
        </p:nvSpPr>
        <p:spPr>
          <a:xfrm>
            <a:off x="4648200" y="3009900"/>
            <a:ext cx="28956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050">
                <a:solidFill>
                  <a:srgbClr val="8C8585"/>
                </a:solidFill>
                <a:latin typeface="MiSans"/>
                <a:ea typeface="MiSans"/>
              </a:rPr>
              <a:t>10个维度，做到比客户更懂客户</a:t>
            </a:r>
            <a:endParaRPr lang="en-US" sz="1050"/>
          </a:p>
        </p:txBody>
      </p:sp>
      <p:sp>
        <p:nvSpPr>
          <p:cNvPr id="14" name="c3"/>
          <p:cNvSpPr/>
          <p:nvPr/>
        </p:nvSpPr>
        <p:spPr>
          <a:xfrm>
            <a:off x="8026400" y="2095500"/>
            <a:ext cx="3352800" cy="1778000"/>
          </a:xfrm>
          <a:prstGeom prst="rect">
            <a:avLst/>
          </a:prstGeom>
          <a:solidFill>
            <a:srgbClr val="F6F6F6"/>
          </a:solidFill>
          <a:ln>
            <a:noFill/>
          </a:ln>
        </p:spPr>
      </p:sp>
      <p:sp>
        <p:nvSpPr>
          <p:cNvPr id="15" name="c3-n"/>
          <p:cNvSpPr txBox="1"/>
          <p:nvPr/>
        </p:nvSpPr>
        <p:spPr>
          <a:xfrm>
            <a:off x="8255000" y="2273300"/>
            <a:ext cx="762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800" b="1">
                <a:solidFill>
                  <a:srgbClr val="B5AFAF"/>
                </a:solidFill>
                <a:latin typeface="MiSans"/>
                <a:ea typeface="MiSans"/>
              </a:rPr>
              <a:t>03</a:t>
            </a:r>
            <a:endParaRPr lang="en-US" sz="1800"/>
          </a:p>
        </p:txBody>
      </p:sp>
      <p:sp>
        <p:nvSpPr>
          <p:cNvPr id="16" name="c3-t"/>
          <p:cNvSpPr txBox="1"/>
          <p:nvPr/>
        </p:nvSpPr>
        <p:spPr>
          <a:xfrm>
            <a:off x="8255000" y="2628900"/>
            <a:ext cx="28956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600" b="1">
                <a:solidFill>
                  <a:srgbClr val="1C0B0B"/>
                </a:solidFill>
                <a:latin typeface="MiSans"/>
                <a:ea typeface="MiSans"/>
              </a:rPr>
              <a:t>建立经营节奏</a:t>
            </a:r>
            <a:endParaRPr lang="en-US" sz="1600"/>
          </a:p>
        </p:txBody>
      </p:sp>
      <p:sp>
        <p:nvSpPr>
          <p:cNvPr id="17" name="c3-g"/>
          <p:cNvSpPr txBox="1"/>
          <p:nvPr/>
        </p:nvSpPr>
        <p:spPr>
          <a:xfrm>
            <a:off x="8255000" y="3009900"/>
            <a:ext cx="28956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050">
                <a:solidFill>
                  <a:srgbClr val="8C8585"/>
                </a:solidFill>
                <a:latin typeface="MiSans"/>
                <a:ea typeface="MiSans"/>
              </a:rPr>
              <a:t>周、月、季、半年、年，动作固定化</a:t>
            </a:r>
            <a:endParaRPr lang="en-US" sz="1050"/>
          </a:p>
        </p:txBody>
      </p:sp>
      <p:sp>
        <p:nvSpPr>
          <p:cNvPr id="18" name="c4"/>
          <p:cNvSpPr/>
          <p:nvPr/>
        </p:nvSpPr>
        <p:spPr>
          <a:xfrm>
            <a:off x="812800" y="4127500"/>
            <a:ext cx="3352800" cy="1778000"/>
          </a:xfrm>
          <a:prstGeom prst="rect">
            <a:avLst/>
          </a:prstGeom>
          <a:solidFill>
            <a:srgbClr val="F6F6F6"/>
          </a:solidFill>
          <a:ln>
            <a:noFill/>
          </a:ln>
        </p:spPr>
      </p:sp>
      <p:sp>
        <p:nvSpPr>
          <p:cNvPr id="19" name="c4-n"/>
          <p:cNvSpPr txBox="1"/>
          <p:nvPr/>
        </p:nvSpPr>
        <p:spPr>
          <a:xfrm>
            <a:off x="1041400" y="4305300"/>
            <a:ext cx="762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800" b="1">
                <a:solidFill>
                  <a:srgbClr val="B5AFAF"/>
                </a:solidFill>
                <a:latin typeface="MiSans"/>
                <a:ea typeface="MiSans"/>
              </a:rPr>
              <a:t>04</a:t>
            </a:r>
            <a:endParaRPr lang="en-US" sz="1800"/>
          </a:p>
        </p:txBody>
      </p:sp>
      <p:sp>
        <p:nvSpPr>
          <p:cNvPr id="20" name="c4-t"/>
          <p:cNvSpPr txBox="1"/>
          <p:nvPr/>
        </p:nvSpPr>
        <p:spPr>
          <a:xfrm>
            <a:off x="1041400" y="4660900"/>
            <a:ext cx="28956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600" b="1">
                <a:solidFill>
                  <a:srgbClr val="1C0B0B"/>
                </a:solidFill>
                <a:latin typeface="MiSans"/>
                <a:ea typeface="MiSans"/>
              </a:rPr>
              <a:t>持续创造价值</a:t>
            </a:r>
            <a:endParaRPr lang="en-US" sz="1600"/>
          </a:p>
        </p:txBody>
      </p:sp>
      <p:sp>
        <p:nvSpPr>
          <p:cNvPr id="21" name="c4-g"/>
          <p:cNvSpPr txBox="1"/>
          <p:nvPr/>
        </p:nvSpPr>
        <p:spPr>
          <a:xfrm>
            <a:off x="1041400" y="5041900"/>
            <a:ext cx="28956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050">
                <a:solidFill>
                  <a:srgbClr val="8C8585"/>
                </a:solidFill>
                <a:latin typeface="MiSans"/>
                <a:ea typeface="MiSans"/>
              </a:rPr>
              <a:t>每一次见面，都带来新的价值</a:t>
            </a:r>
            <a:endParaRPr lang="en-US" sz="1050"/>
          </a:p>
        </p:txBody>
      </p:sp>
      <p:sp>
        <p:nvSpPr>
          <p:cNvPr id="22" name="c5"/>
          <p:cNvSpPr/>
          <p:nvPr/>
        </p:nvSpPr>
        <p:spPr>
          <a:xfrm>
            <a:off x="4419600" y="4127500"/>
            <a:ext cx="3352800" cy="1778000"/>
          </a:xfrm>
          <a:prstGeom prst="rect">
            <a:avLst/>
          </a:prstGeom>
          <a:solidFill>
            <a:srgbClr val="F6F6F6"/>
          </a:solidFill>
          <a:ln>
            <a:noFill/>
          </a:ln>
        </p:spPr>
      </p:sp>
      <p:sp>
        <p:nvSpPr>
          <p:cNvPr id="23" name="c5-n"/>
          <p:cNvSpPr txBox="1"/>
          <p:nvPr/>
        </p:nvSpPr>
        <p:spPr>
          <a:xfrm>
            <a:off x="4648200" y="4305300"/>
            <a:ext cx="762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800" b="1">
                <a:solidFill>
                  <a:srgbClr val="B5AFAF"/>
                </a:solidFill>
                <a:latin typeface="MiSans"/>
                <a:ea typeface="MiSans"/>
              </a:rPr>
              <a:t>05</a:t>
            </a:r>
            <a:endParaRPr lang="en-US" sz="1800"/>
          </a:p>
        </p:txBody>
      </p:sp>
      <p:sp>
        <p:nvSpPr>
          <p:cNvPr id="24" name="c5-t"/>
          <p:cNvSpPr txBox="1"/>
          <p:nvPr/>
        </p:nvSpPr>
        <p:spPr>
          <a:xfrm>
            <a:off x="4648200" y="4660900"/>
            <a:ext cx="28956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600" b="1">
                <a:solidFill>
                  <a:srgbClr val="1C0B0B"/>
                </a:solidFill>
                <a:latin typeface="MiSans"/>
                <a:ea typeface="MiSans"/>
              </a:rPr>
              <a:t>不断扩大产品合作</a:t>
            </a:r>
            <a:endParaRPr lang="en-US" sz="1600"/>
          </a:p>
        </p:txBody>
      </p:sp>
      <p:sp>
        <p:nvSpPr>
          <p:cNvPr id="25" name="c5-g"/>
          <p:cNvSpPr txBox="1"/>
          <p:nvPr/>
        </p:nvSpPr>
        <p:spPr>
          <a:xfrm>
            <a:off x="4648200" y="5041900"/>
            <a:ext cx="28956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050">
                <a:solidFill>
                  <a:srgbClr val="8C8585"/>
                </a:solidFill>
                <a:latin typeface="MiSans"/>
                <a:ea typeface="MiSans"/>
              </a:rPr>
              <a:t>从单一产品，走向多品类渗透</a:t>
            </a:r>
            <a:endParaRPr lang="en-US" sz="1050"/>
          </a:p>
        </p:txBody>
      </p:sp>
      <p:sp>
        <p:nvSpPr>
          <p:cNvPr id="26" name="c6"/>
          <p:cNvSpPr/>
          <p:nvPr/>
        </p:nvSpPr>
        <p:spPr>
          <a:xfrm>
            <a:off x="8026400" y="4127500"/>
            <a:ext cx="3352800" cy="1778000"/>
          </a:xfrm>
          <a:prstGeom prst="rect">
            <a:avLst/>
          </a:prstGeom>
          <a:solidFill>
            <a:srgbClr val="F6F6F6"/>
          </a:solidFill>
          <a:ln>
            <a:noFill/>
          </a:ln>
        </p:spPr>
      </p:sp>
      <p:sp>
        <p:nvSpPr>
          <p:cNvPr id="27" name="c6-n"/>
          <p:cNvSpPr txBox="1"/>
          <p:nvPr/>
        </p:nvSpPr>
        <p:spPr>
          <a:xfrm>
            <a:off x="8255000" y="4305300"/>
            <a:ext cx="762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800" b="1">
                <a:solidFill>
                  <a:srgbClr val="B5AFAF"/>
                </a:solidFill>
                <a:latin typeface="MiSans"/>
                <a:ea typeface="MiSans"/>
              </a:rPr>
              <a:t>06</a:t>
            </a:r>
            <a:endParaRPr lang="en-US" sz="1800"/>
          </a:p>
        </p:txBody>
      </p:sp>
      <p:sp>
        <p:nvSpPr>
          <p:cNvPr id="28" name="c6-t"/>
          <p:cNvSpPr txBox="1"/>
          <p:nvPr/>
        </p:nvSpPr>
        <p:spPr>
          <a:xfrm>
            <a:off x="8255000" y="4660900"/>
            <a:ext cx="28956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600" b="1">
                <a:solidFill>
                  <a:srgbClr val="1C0B0B"/>
                </a:solidFill>
                <a:latin typeface="MiSans"/>
                <a:ea typeface="MiSans"/>
              </a:rPr>
              <a:t>成为客户长期伙伴</a:t>
            </a:r>
            <a:endParaRPr lang="en-US" sz="1600"/>
          </a:p>
        </p:txBody>
      </p:sp>
      <p:sp>
        <p:nvSpPr>
          <p:cNvPr id="29" name="c6-g"/>
          <p:cNvSpPr txBox="1"/>
          <p:nvPr/>
        </p:nvSpPr>
        <p:spPr>
          <a:xfrm>
            <a:off x="8255000" y="5041900"/>
            <a:ext cx="28956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050">
                <a:solidFill>
                  <a:srgbClr val="8C8585"/>
                </a:solidFill>
                <a:latin typeface="MiSans"/>
                <a:ea typeface="MiSans"/>
              </a:rPr>
              <a:t>进入战略层，绑定十年合作</a:t>
            </a:r>
            <a:endParaRPr lang="en-US" sz="1050"/>
          </a:p>
        </p:txBody>
      </p:sp>
      <p:sp>
        <p:nvSpPr>
          <p:cNvPr id="30" name="bottom-note"/>
          <p:cNvSpPr txBox="1"/>
          <p:nvPr/>
        </p:nvSpPr>
        <p:spPr>
          <a:xfrm>
            <a:off x="812800" y="6096000"/>
            <a:ext cx="105664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150">
                <a:solidFill>
                  <a:srgbClr val="8C8585"/>
                </a:solidFill>
                <a:latin typeface="MiSans"/>
                <a:ea typeface="MiSans"/>
              </a:rPr>
              <a:t>系统重于勤奋：把六步跑成习惯，增长自然发生。</a:t>
            </a:r>
            <a:endParaRPr lang="en-US" sz="1150"/>
          </a:p>
        </p:txBody>
      </p:sp>
      <p:sp>
        <p:nvSpPr>
          <p:cNvPr id="31" name="footer-line"/>
          <p:cNvSpPr/>
          <p:nvPr/>
        </p:nvSpPr>
        <p:spPr>
          <a:xfrm>
            <a:off x="812800" y="6400800"/>
            <a:ext cx="10566400" cy="12700"/>
          </a:xfrm>
          <a:prstGeom prst="rect">
            <a:avLst/>
          </a:prstGeom>
          <a:solidFill>
            <a:srgbClr val="E7E6E6"/>
          </a:solidFill>
          <a:ln>
            <a:noFill/>
          </a:ln>
        </p:spPr>
      </p:sp>
      <p:sp>
        <p:nvSpPr>
          <p:cNvPr id="32" name="footer-left"/>
          <p:cNvSpPr txBox="1"/>
          <p:nvPr/>
        </p:nvSpPr>
        <p:spPr>
          <a:xfrm>
            <a:off x="812800" y="65024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900">
                <a:solidFill>
                  <a:srgbClr val="B5AFAF"/>
                </a:solidFill>
                <a:latin typeface="MiSans"/>
                <a:ea typeface="MiSans"/>
              </a:rPr>
              <a:t>第三课 · 客户经营 ｜ 企业商学院</a:t>
            </a:r>
            <a:endParaRPr lang="en-US" sz="900"/>
          </a:p>
        </p:txBody>
      </p:sp>
      <p:sp>
        <p:nvSpPr>
          <p:cNvPr id="33" name="footer-page"/>
          <p:cNvSpPr txBox="1"/>
          <p:nvPr/>
        </p:nvSpPr>
        <p:spPr>
          <a:xfrm>
            <a:off x="10109200" y="65024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20000"/>
              </a:lnSpc>
            </a:pPr>
            <a:r>
              <a:rPr lang="en-US" sz="900">
                <a:solidFill>
                  <a:srgbClr val="B5AFAF"/>
                </a:solidFill>
                <a:latin typeface="MiSans"/>
                <a:ea typeface="MiSans"/>
              </a:rPr>
              <a:t>24</a:t>
            </a:r>
            <a:endParaRPr lang="en-US" sz="900"/>
          </a:p>
        </p:txBody>
      </p:sp>
    </p:spTree>
  </p:cSld>
  <p:clrMapOvr>
    <a:masterClrMapping/>
  </p:clrMapOvr>
  <p:transition spd="fast" advClick="1">
    <p:checker dir="horz"/>
  </p:transition>
</p:sld>
</file>

<file path=ppt/slides/slide25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1207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termark"/>
          <p:cNvSpPr txBox="1"/>
          <p:nvPr/>
        </p:nvSpPr>
        <p:spPr>
          <a:xfrm>
            <a:off x="6604000" y="635000"/>
            <a:ext cx="4826000" cy="152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200" b="1">
                <a:solidFill>
                  <a:srgbClr val="24100E"/>
                </a:solidFill>
                <a:latin typeface="MiSans"/>
                <a:ea typeface="MiSans"/>
              </a:rPr>
              <a:t>CLOS</a:t>
            </a:r>
            <a:endParaRPr lang="en-US" sz="9200"/>
          </a:p>
        </p:txBody>
      </p:sp>
      <p:sp>
        <p:nvSpPr>
          <p:cNvPr id="3" name="kicker"/>
          <p:cNvSpPr txBox="1"/>
          <p:nvPr/>
        </p:nvSpPr>
        <p:spPr>
          <a:xfrm>
            <a:off x="812800" y="6096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000" spc="300" kern="0">
                <a:solidFill>
                  <a:srgbClr val="FF4D4D"/>
                </a:solidFill>
                <a:latin typeface="MiSans"/>
                <a:ea typeface="MiSans"/>
              </a:rPr>
              <a:t>原创模型 · SIGNATURE MODEL</a:t>
            </a:r>
            <a:endParaRPr lang="en-US" sz="1000"/>
          </a:p>
        </p:txBody>
      </p:sp>
      <p:sp>
        <p:nvSpPr>
          <p:cNvPr id="4" name="title"/>
          <p:cNvSpPr txBox="1"/>
          <p:nvPr/>
        </p:nvSpPr>
        <p:spPr>
          <a:xfrm>
            <a:off x="812800" y="965200"/>
            <a:ext cx="7874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800" b="1">
                <a:solidFill>
                  <a:srgbClr val="FFFFFF"/>
                </a:solidFill>
                <a:latin typeface="MiSans"/>
                <a:ea typeface="MiSans"/>
              </a:rPr>
              <a:t>CLOS 客户资产经营模型</a:t>
            </a:r>
            <a:endParaRPr lang="en-US" sz="2800"/>
          </a:p>
        </p:txBody>
      </p:sp>
      <p:sp>
        <p:nvSpPr>
          <p:cNvPr id="5" name="eng"/>
          <p:cNvSpPr txBox="1"/>
          <p:nvPr/>
        </p:nvSpPr>
        <p:spPr>
          <a:xfrm>
            <a:off x="812800" y="1549400"/>
            <a:ext cx="7874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150">
                <a:solidFill>
                  <a:srgbClr val="A08E8E"/>
                </a:solidFill>
                <a:latin typeface="MiSans"/>
                <a:ea typeface="MiSans"/>
              </a:rPr>
              <a:t>Customer Asset Operating Model（CAOM）</a:t>
            </a:r>
            <a:endParaRPr lang="en-US" sz="1150"/>
          </a:p>
        </p:txBody>
      </p:sp>
      <p:sp>
        <p:nvSpPr>
          <p:cNvPr id="6" name="g1"/>
          <p:cNvSpPr/>
          <p:nvPr/>
        </p:nvSpPr>
        <p:spPr>
          <a:xfrm>
            <a:off x="812800" y="2413000"/>
            <a:ext cx="1625600" cy="1397000"/>
          </a:xfrm>
          <a:prstGeom prst="rect">
            <a:avLst/>
          </a:prstGeom>
          <a:solidFill>
            <a:srgbClr val="21100E"/>
          </a:solidFill>
          <a:ln>
            <a:noFill/>
          </a:ln>
        </p:spPr>
      </p:sp>
      <p:sp>
        <p:nvSpPr>
          <p:cNvPr id="7" name="g1-cn"/>
          <p:cNvSpPr txBox="1"/>
          <p:nvPr/>
        </p:nvSpPr>
        <p:spPr>
          <a:xfrm>
            <a:off x="990600" y="2692400"/>
            <a:ext cx="127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600" b="1">
                <a:solidFill>
                  <a:srgbClr val="FFFFFF"/>
                </a:solidFill>
                <a:latin typeface="MiSans"/>
                <a:ea typeface="MiSans"/>
              </a:rPr>
              <a:t>识别</a:t>
            </a:r>
            <a:endParaRPr lang="en-US" sz="1600"/>
          </a:p>
        </p:txBody>
      </p:sp>
      <p:sp>
        <p:nvSpPr>
          <p:cNvPr id="8" name="g1-en"/>
          <p:cNvSpPr txBox="1"/>
          <p:nvPr/>
        </p:nvSpPr>
        <p:spPr>
          <a:xfrm>
            <a:off x="990600" y="30480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950">
                <a:solidFill>
                  <a:srgbClr val="A08E8E"/>
                </a:solidFill>
                <a:latin typeface="MiSans"/>
                <a:ea typeface="MiSans"/>
              </a:rPr>
              <a:t>Identify</a:t>
            </a:r>
            <a:endParaRPr lang="en-US" sz="950"/>
          </a:p>
        </p:txBody>
      </p:sp>
      <p:sp>
        <p:nvSpPr>
          <p:cNvPr id="9" name="g2"/>
          <p:cNvSpPr/>
          <p:nvPr/>
        </p:nvSpPr>
        <p:spPr>
          <a:xfrm>
            <a:off x="2590800" y="2413000"/>
            <a:ext cx="1625600" cy="1397000"/>
          </a:xfrm>
          <a:prstGeom prst="rect">
            <a:avLst/>
          </a:prstGeom>
          <a:solidFill>
            <a:srgbClr val="21100E"/>
          </a:solidFill>
          <a:ln>
            <a:noFill/>
          </a:ln>
        </p:spPr>
      </p:sp>
      <p:sp>
        <p:nvSpPr>
          <p:cNvPr id="10" name="g2-cn"/>
          <p:cNvSpPr txBox="1"/>
          <p:nvPr/>
        </p:nvSpPr>
        <p:spPr>
          <a:xfrm>
            <a:off x="2768600" y="2692400"/>
            <a:ext cx="127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600" b="1">
                <a:solidFill>
                  <a:srgbClr val="FFFFFF"/>
                </a:solidFill>
                <a:latin typeface="MiSans"/>
                <a:ea typeface="MiSans"/>
              </a:rPr>
              <a:t>理解</a:t>
            </a:r>
            <a:endParaRPr lang="en-US" sz="1600"/>
          </a:p>
        </p:txBody>
      </p:sp>
      <p:sp>
        <p:nvSpPr>
          <p:cNvPr id="11" name="g2-en"/>
          <p:cNvSpPr txBox="1"/>
          <p:nvPr/>
        </p:nvSpPr>
        <p:spPr>
          <a:xfrm>
            <a:off x="2768600" y="30480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950">
                <a:solidFill>
                  <a:srgbClr val="A08E8E"/>
                </a:solidFill>
                <a:latin typeface="MiSans"/>
                <a:ea typeface="MiSans"/>
              </a:rPr>
              <a:t>Understand</a:t>
            </a:r>
            <a:endParaRPr lang="en-US" sz="950"/>
          </a:p>
        </p:txBody>
      </p:sp>
      <p:sp>
        <p:nvSpPr>
          <p:cNvPr id="12" name="g3"/>
          <p:cNvSpPr/>
          <p:nvPr/>
        </p:nvSpPr>
        <p:spPr>
          <a:xfrm>
            <a:off x="4368800" y="2413000"/>
            <a:ext cx="1625600" cy="1397000"/>
          </a:xfrm>
          <a:prstGeom prst="rect">
            <a:avLst/>
          </a:prstGeom>
          <a:solidFill>
            <a:srgbClr val="21100E"/>
          </a:solidFill>
          <a:ln>
            <a:noFill/>
          </a:ln>
        </p:spPr>
      </p:sp>
      <p:sp>
        <p:nvSpPr>
          <p:cNvPr id="13" name="g3-cn"/>
          <p:cNvSpPr txBox="1"/>
          <p:nvPr/>
        </p:nvSpPr>
        <p:spPr>
          <a:xfrm>
            <a:off x="4546600" y="2692400"/>
            <a:ext cx="127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600" b="1">
                <a:solidFill>
                  <a:srgbClr val="FFFFFF"/>
                </a:solidFill>
                <a:latin typeface="MiSans"/>
                <a:ea typeface="MiSans"/>
              </a:rPr>
              <a:t>信任</a:t>
            </a:r>
            <a:endParaRPr lang="en-US" sz="1600"/>
          </a:p>
        </p:txBody>
      </p:sp>
      <p:sp>
        <p:nvSpPr>
          <p:cNvPr id="14" name="g3-en"/>
          <p:cNvSpPr txBox="1"/>
          <p:nvPr/>
        </p:nvSpPr>
        <p:spPr>
          <a:xfrm>
            <a:off x="4546600" y="30480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950">
                <a:solidFill>
                  <a:srgbClr val="A08E8E"/>
                </a:solidFill>
                <a:latin typeface="MiSans"/>
                <a:ea typeface="MiSans"/>
              </a:rPr>
              <a:t>Trust</a:t>
            </a:r>
            <a:endParaRPr lang="en-US" sz="950"/>
          </a:p>
        </p:txBody>
      </p:sp>
      <p:sp>
        <p:nvSpPr>
          <p:cNvPr id="15" name="g4"/>
          <p:cNvSpPr/>
          <p:nvPr/>
        </p:nvSpPr>
        <p:spPr>
          <a:xfrm>
            <a:off x="6146800" y="2413000"/>
            <a:ext cx="1625600" cy="1397000"/>
          </a:xfrm>
          <a:prstGeom prst="rect">
            <a:avLst/>
          </a:prstGeom>
          <a:solidFill>
            <a:srgbClr val="21100E"/>
          </a:solidFill>
          <a:ln>
            <a:noFill/>
          </a:ln>
        </p:spPr>
      </p:sp>
      <p:sp>
        <p:nvSpPr>
          <p:cNvPr id="16" name="g4-cn"/>
          <p:cNvSpPr txBox="1"/>
          <p:nvPr/>
        </p:nvSpPr>
        <p:spPr>
          <a:xfrm>
            <a:off x="6324600" y="2692400"/>
            <a:ext cx="127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600" b="1">
                <a:solidFill>
                  <a:srgbClr val="FFFFFF"/>
                </a:solidFill>
                <a:latin typeface="MiSans"/>
                <a:ea typeface="MiSans"/>
              </a:rPr>
              <a:t>渗透</a:t>
            </a:r>
            <a:endParaRPr lang="en-US" sz="1600"/>
          </a:p>
        </p:txBody>
      </p:sp>
      <p:sp>
        <p:nvSpPr>
          <p:cNvPr id="17" name="g4-en"/>
          <p:cNvSpPr txBox="1"/>
          <p:nvPr/>
        </p:nvSpPr>
        <p:spPr>
          <a:xfrm>
            <a:off x="6324600" y="30480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950">
                <a:solidFill>
                  <a:srgbClr val="A08E8E"/>
                </a:solidFill>
                <a:latin typeface="MiSans"/>
                <a:ea typeface="MiSans"/>
              </a:rPr>
              <a:t>Expand</a:t>
            </a:r>
            <a:endParaRPr lang="en-US" sz="950"/>
          </a:p>
        </p:txBody>
      </p:sp>
      <p:sp>
        <p:nvSpPr>
          <p:cNvPr id="18" name="g5"/>
          <p:cNvSpPr/>
          <p:nvPr/>
        </p:nvSpPr>
        <p:spPr>
          <a:xfrm>
            <a:off x="7924800" y="2413000"/>
            <a:ext cx="1625600" cy="1397000"/>
          </a:xfrm>
          <a:prstGeom prst="rect">
            <a:avLst/>
          </a:prstGeom>
          <a:solidFill>
            <a:srgbClr val="21100E"/>
          </a:solidFill>
          <a:ln>
            <a:noFill/>
          </a:ln>
        </p:spPr>
      </p:sp>
      <p:sp>
        <p:nvSpPr>
          <p:cNvPr id="19" name="g5-cn"/>
          <p:cNvSpPr txBox="1"/>
          <p:nvPr/>
        </p:nvSpPr>
        <p:spPr>
          <a:xfrm>
            <a:off x="8102600" y="2692400"/>
            <a:ext cx="127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600" b="1">
                <a:solidFill>
                  <a:srgbClr val="FFFFFF"/>
                </a:solidFill>
                <a:latin typeface="MiSans"/>
                <a:ea typeface="MiSans"/>
              </a:rPr>
              <a:t>共创</a:t>
            </a:r>
            <a:endParaRPr lang="en-US" sz="1600"/>
          </a:p>
        </p:txBody>
      </p:sp>
      <p:sp>
        <p:nvSpPr>
          <p:cNvPr id="20" name="g5-en"/>
          <p:cNvSpPr txBox="1"/>
          <p:nvPr/>
        </p:nvSpPr>
        <p:spPr>
          <a:xfrm>
            <a:off x="8102600" y="30480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950">
                <a:solidFill>
                  <a:srgbClr val="A08E8E"/>
                </a:solidFill>
                <a:latin typeface="MiSans"/>
                <a:ea typeface="MiSans"/>
              </a:rPr>
              <a:t>Co-create</a:t>
            </a:r>
            <a:endParaRPr lang="en-US" sz="950"/>
          </a:p>
        </p:txBody>
      </p:sp>
      <p:sp>
        <p:nvSpPr>
          <p:cNvPr id="21" name="g6"/>
          <p:cNvSpPr/>
          <p:nvPr/>
        </p:nvSpPr>
        <p:spPr>
          <a:xfrm>
            <a:off x="9702800" y="2413000"/>
            <a:ext cx="1625600" cy="1397000"/>
          </a:xfrm>
          <a:prstGeom prst="rect">
            <a:avLst/>
          </a:prstGeom>
          <a:solidFill>
            <a:srgbClr val="FF4D4D"/>
          </a:solidFill>
          <a:ln>
            <a:noFill/>
          </a:ln>
        </p:spPr>
      </p:sp>
      <p:sp>
        <p:nvSpPr>
          <p:cNvPr id="22" name="g6-cn"/>
          <p:cNvSpPr txBox="1"/>
          <p:nvPr/>
        </p:nvSpPr>
        <p:spPr>
          <a:xfrm>
            <a:off x="9880600" y="2692400"/>
            <a:ext cx="127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600" b="1">
                <a:solidFill>
                  <a:srgbClr val="FFFFFF"/>
                </a:solidFill>
                <a:latin typeface="MiSans"/>
                <a:ea typeface="MiSans"/>
              </a:rPr>
              <a:t>长期增长</a:t>
            </a:r>
            <a:endParaRPr lang="en-US" sz="1600"/>
          </a:p>
        </p:txBody>
      </p:sp>
      <p:sp>
        <p:nvSpPr>
          <p:cNvPr id="23" name="g6-en"/>
          <p:cNvSpPr txBox="1"/>
          <p:nvPr/>
        </p:nvSpPr>
        <p:spPr>
          <a:xfrm>
            <a:off x="9880600" y="30480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950">
                <a:solidFill>
                  <a:srgbClr val="FFFFFF"/>
                </a:solidFill>
                <a:latin typeface="MiSans"/>
                <a:ea typeface="MiSans"/>
              </a:rPr>
              <a:t>Grow</a:t>
            </a:r>
            <a:endParaRPr lang="en-US" sz="950"/>
          </a:p>
        </p:txBody>
      </p:sp>
      <p:sp>
        <p:nvSpPr>
          <p:cNvPr id="24" name="flow-line"/>
          <p:cNvSpPr/>
          <p:nvPr/>
        </p:nvSpPr>
        <p:spPr>
          <a:xfrm>
            <a:off x="812800" y="4191000"/>
            <a:ext cx="10566400" cy="12700"/>
          </a:xfrm>
          <a:prstGeom prst="rect">
            <a:avLst/>
          </a:prstGeom>
          <a:solidFill>
            <a:srgbClr val="2E1A17"/>
          </a:solidFill>
          <a:ln>
            <a:noFill/>
          </a:ln>
        </p:spPr>
      </p:sp>
      <p:sp>
        <p:nvSpPr>
          <p:cNvPr id="25" name="statement"/>
          <p:cNvSpPr txBox="1"/>
          <p:nvPr/>
        </p:nvSpPr>
        <p:spPr>
          <a:xfrm>
            <a:off x="812800" y="4521200"/>
            <a:ext cx="105664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500">
                <a:solidFill>
                  <a:srgbClr val="FFFFFF"/>
                </a:solidFill>
                <a:latin typeface="MiSans"/>
                <a:ea typeface="MiSans"/>
              </a:rPr>
              <a:t>它不是传统CRM——而是把客户，当作</a:t>
            </a:r>
            <a:r>
              <a:rPr lang="en-US" sz="1500" b="1">
                <a:solidFill>
                  <a:srgbClr val="FF4D4D"/>
                </a:solidFill>
                <a:latin typeface="MiSans"/>
                <a:ea typeface="MiSans"/>
              </a:rPr>
              <a:t>长期经营的资产</a:t>
            </a:r>
            <a:r>
              <a:rPr lang="en-US" sz="1500">
                <a:solidFill>
                  <a:srgbClr val="FFFFFF"/>
                </a:solidFill>
                <a:latin typeface="MiSans"/>
                <a:ea typeface="MiSans"/>
              </a:rPr>
              <a:t>。</a:t>
            </a:r>
            <a:endParaRPr lang="en-US" sz="1500"/>
          </a:p>
        </p:txBody>
      </p:sp>
      <p:sp>
        <p:nvSpPr>
          <p:cNvPr id="26" name="loop"/>
          <p:cNvSpPr txBox="1"/>
          <p:nvPr/>
        </p:nvSpPr>
        <p:spPr>
          <a:xfrm>
            <a:off x="812800" y="5029200"/>
            <a:ext cx="105664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100">
                <a:solidFill>
                  <a:srgbClr val="A08E8E"/>
                </a:solidFill>
                <a:latin typeface="MiSans"/>
                <a:ea typeface="MiSans"/>
              </a:rPr>
              <a:t>第一课 经营思维 × 第二课 供应链思维 × 第三课 客户经营 ＝ 企业增长理论的完整闭环</a:t>
            </a:r>
            <a:endParaRPr lang="en-US" sz="1100"/>
          </a:p>
        </p:txBody>
      </p:sp>
      <p:sp>
        <p:nvSpPr>
          <p:cNvPr id="27" name="footer-left"/>
          <p:cNvSpPr txBox="1"/>
          <p:nvPr/>
        </p:nvSpPr>
        <p:spPr>
          <a:xfrm>
            <a:off x="812800" y="65024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900">
                <a:solidFill>
                  <a:srgbClr val="5C4A4A"/>
                </a:solidFill>
                <a:latin typeface="MiSans"/>
                <a:ea typeface="MiSans"/>
              </a:rPr>
              <a:t>第三课 · 客户经营 ｜ 企业商学院</a:t>
            </a:r>
            <a:endParaRPr lang="en-US" sz="900"/>
          </a:p>
        </p:txBody>
      </p:sp>
      <p:sp>
        <p:nvSpPr>
          <p:cNvPr id="28" name="footer-page"/>
          <p:cNvSpPr txBox="1"/>
          <p:nvPr/>
        </p:nvSpPr>
        <p:spPr>
          <a:xfrm>
            <a:off x="10109200" y="65024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20000"/>
              </a:lnSpc>
            </a:pPr>
            <a:r>
              <a:rPr lang="en-US" sz="900">
                <a:solidFill>
                  <a:srgbClr val="5C4A4A"/>
                </a:solidFill>
                <a:latin typeface="MiSans"/>
                <a:ea typeface="MiSans"/>
              </a:rPr>
              <a:t>25</a:t>
            </a:r>
            <a:endParaRPr lang="en-US" sz="900"/>
          </a:p>
        </p:txBody>
      </p:sp>
    </p:spTree>
  </p:cSld>
  <p:clrMapOvr>
    <a:masterClrMapping/>
  </p:clrMapOvr>
  <p:transition spd="fast" advClick="1">
    <p:checker dir="horz"/>
  </p:transition>
</p:sld>
</file>

<file path=ppt/slides/slide26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508000"/>
            <a:ext cx="762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000" spc="300" kern="0">
                <a:solidFill>
                  <a:srgbClr val="8C8585"/>
                </a:solidFill>
                <a:latin typeface="MiSans"/>
                <a:ea typeface="MiSans"/>
              </a:rPr>
              <a:t>核心思想</a:t>
            </a:r>
            <a:endParaRPr lang="en-US" sz="1000"/>
          </a:p>
        </p:txBody>
      </p:sp>
      <p:sp>
        <p:nvSpPr>
          <p:cNvPr id="3" name="title"/>
          <p:cNvSpPr txBox="1"/>
          <p:nvPr/>
        </p:nvSpPr>
        <p:spPr>
          <a:xfrm>
            <a:off x="812800" y="762000"/>
            <a:ext cx="10160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2600" b="1">
                <a:solidFill>
                  <a:srgbClr val="1C0B0B"/>
                </a:solidFill>
                <a:latin typeface="MiSans"/>
                <a:ea typeface="MiSans"/>
              </a:rPr>
              <a:t>本课核心思想</a:t>
            </a:r>
            <a:endParaRPr lang="en-US" sz="2600"/>
          </a:p>
        </p:txBody>
      </p:sp>
      <p:sp>
        <p:nvSpPr>
          <p:cNvPr id="4" name="caption"/>
          <p:cNvSpPr txBox="1"/>
          <p:nvPr/>
        </p:nvSpPr>
        <p:spPr>
          <a:xfrm>
            <a:off x="812800" y="1295400"/>
            <a:ext cx="1016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200">
                <a:solidFill>
                  <a:srgbClr val="8C8585"/>
                </a:solidFill>
                <a:latin typeface="MiSans"/>
                <a:ea typeface="MiSans"/>
              </a:rPr>
              <a:t>三句话，记住整门课</a:t>
            </a:r>
            <a:endParaRPr lang="en-US" sz="1200"/>
          </a:p>
        </p:txBody>
      </p:sp>
      <p:sp>
        <p:nvSpPr>
          <p:cNvPr id="5" name="title-line"/>
          <p:cNvSpPr/>
          <p:nvPr/>
        </p:nvSpPr>
        <p:spPr>
          <a:xfrm>
            <a:off x="812800" y="1676400"/>
            <a:ext cx="10566400" cy="12700"/>
          </a:xfrm>
          <a:prstGeom prst="rect">
            <a:avLst/>
          </a:prstGeom>
          <a:solidFill>
            <a:srgbClr val="E7E6E6"/>
          </a:solidFill>
          <a:ln>
            <a:noFill/>
          </a:ln>
        </p:spPr>
      </p:sp>
      <p:sp>
        <p:nvSpPr>
          <p:cNvPr id="6" name="n1"/>
          <p:cNvSpPr txBox="1"/>
          <p:nvPr/>
        </p:nvSpPr>
        <p:spPr>
          <a:xfrm>
            <a:off x="812800" y="22606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100" b="1">
                <a:solidFill>
                  <a:srgbClr val="B5AFAF"/>
                </a:solidFill>
                <a:latin typeface="MiSans"/>
                <a:ea typeface="MiSans"/>
              </a:rPr>
              <a:t>01</a:t>
            </a:r>
            <a:endParaRPr lang="en-US" sz="1100"/>
          </a:p>
        </p:txBody>
      </p:sp>
      <p:sp>
        <p:nvSpPr>
          <p:cNvPr id="7" name="t1"/>
          <p:cNvSpPr txBox="1"/>
          <p:nvPr/>
        </p:nvSpPr>
        <p:spPr>
          <a:xfrm>
            <a:off x="812800" y="2540000"/>
            <a:ext cx="105664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900">
                <a:solidFill>
                  <a:srgbClr val="8C8585"/>
                </a:solidFill>
                <a:latin typeface="MiSans"/>
                <a:ea typeface="MiSans"/>
              </a:rPr>
              <a:t>不要维护客户，</a:t>
            </a:r>
            <a:r>
              <a:rPr lang="en-US" sz="2700" b="1">
                <a:solidFill>
                  <a:srgbClr val="1C0B0B"/>
                </a:solidFill>
                <a:latin typeface="MiSans"/>
                <a:ea typeface="MiSans"/>
              </a:rPr>
              <a:t>要经营客户。</a:t>
            </a:r>
            <a:endParaRPr lang="en-US" sz="1600"/>
          </a:p>
        </p:txBody>
      </p:sp>
      <p:sp>
        <p:nvSpPr>
          <p:cNvPr id="8" name="l1"/>
          <p:cNvSpPr/>
          <p:nvPr/>
        </p:nvSpPr>
        <p:spPr>
          <a:xfrm>
            <a:off x="812800" y="3327400"/>
            <a:ext cx="10566400" cy="12700"/>
          </a:xfrm>
          <a:prstGeom prst="rect">
            <a:avLst/>
          </a:prstGeom>
          <a:solidFill>
            <a:srgbClr val="E7E6E6"/>
          </a:solidFill>
          <a:ln>
            <a:noFill/>
          </a:ln>
        </p:spPr>
      </p:sp>
      <p:sp>
        <p:nvSpPr>
          <p:cNvPr id="9" name="n2"/>
          <p:cNvSpPr txBox="1"/>
          <p:nvPr/>
        </p:nvSpPr>
        <p:spPr>
          <a:xfrm>
            <a:off x="812800" y="35814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100" b="1">
                <a:solidFill>
                  <a:srgbClr val="B5AFAF"/>
                </a:solidFill>
                <a:latin typeface="MiSans"/>
                <a:ea typeface="MiSans"/>
              </a:rPr>
              <a:t>02</a:t>
            </a:r>
            <a:endParaRPr lang="en-US" sz="1100"/>
          </a:p>
        </p:txBody>
      </p:sp>
      <p:sp>
        <p:nvSpPr>
          <p:cNvPr id="10" name="t2"/>
          <p:cNvSpPr txBox="1"/>
          <p:nvPr/>
        </p:nvSpPr>
        <p:spPr>
          <a:xfrm>
            <a:off x="812800" y="3860800"/>
            <a:ext cx="105664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900">
                <a:solidFill>
                  <a:srgbClr val="8C8585"/>
                </a:solidFill>
                <a:latin typeface="MiSans"/>
                <a:ea typeface="MiSans"/>
              </a:rPr>
              <a:t>不要经营客户，</a:t>
            </a:r>
            <a:r>
              <a:rPr lang="en-US" sz="2700" b="1">
                <a:solidFill>
                  <a:srgbClr val="1C0B0B"/>
                </a:solidFill>
                <a:latin typeface="MiSans"/>
                <a:ea typeface="MiSans"/>
              </a:rPr>
              <a:t>要经营客户未来。</a:t>
            </a:r>
            <a:endParaRPr lang="en-US" sz="1600"/>
          </a:p>
        </p:txBody>
      </p:sp>
      <p:sp>
        <p:nvSpPr>
          <p:cNvPr id="11" name="l2"/>
          <p:cNvSpPr/>
          <p:nvPr/>
        </p:nvSpPr>
        <p:spPr>
          <a:xfrm>
            <a:off x="812800" y="4648200"/>
            <a:ext cx="10566400" cy="12700"/>
          </a:xfrm>
          <a:prstGeom prst="rect">
            <a:avLst/>
          </a:prstGeom>
          <a:solidFill>
            <a:srgbClr val="E7E6E6"/>
          </a:solidFill>
          <a:ln>
            <a:noFill/>
          </a:ln>
        </p:spPr>
      </p:sp>
      <p:sp>
        <p:nvSpPr>
          <p:cNvPr id="12" name="n3"/>
          <p:cNvSpPr txBox="1"/>
          <p:nvPr/>
        </p:nvSpPr>
        <p:spPr>
          <a:xfrm>
            <a:off x="812800" y="49022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100" b="1">
                <a:solidFill>
                  <a:srgbClr val="B5AFAF"/>
                </a:solidFill>
                <a:latin typeface="MiSans"/>
                <a:ea typeface="MiSans"/>
              </a:rPr>
              <a:t>03</a:t>
            </a:r>
            <a:endParaRPr lang="en-US" sz="1100"/>
          </a:p>
        </p:txBody>
      </p:sp>
      <p:sp>
        <p:nvSpPr>
          <p:cNvPr id="13" name="t3"/>
          <p:cNvSpPr txBox="1"/>
          <p:nvPr/>
        </p:nvSpPr>
        <p:spPr>
          <a:xfrm>
            <a:off x="812800" y="5181600"/>
            <a:ext cx="105664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900">
                <a:solidFill>
                  <a:srgbClr val="8C8585"/>
                </a:solidFill>
                <a:latin typeface="MiSans"/>
                <a:ea typeface="MiSans"/>
              </a:rPr>
              <a:t>不要成交订单，</a:t>
            </a:r>
            <a:r>
              <a:rPr lang="en-US" sz="2700" b="1">
                <a:solidFill>
                  <a:srgbClr val="FF4D4D"/>
                </a:solidFill>
                <a:latin typeface="MiSans"/>
                <a:ea typeface="MiSans"/>
              </a:rPr>
              <a:t>要经营长期增长。</a:t>
            </a:r>
            <a:endParaRPr lang="en-US" sz="1600"/>
          </a:p>
        </p:txBody>
      </p:sp>
      <p:sp>
        <p:nvSpPr>
          <p:cNvPr id="14" name="bottom-note"/>
          <p:cNvSpPr txBox="1"/>
          <p:nvPr/>
        </p:nvSpPr>
        <p:spPr>
          <a:xfrm>
            <a:off x="812800" y="5994400"/>
            <a:ext cx="105664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150">
                <a:solidFill>
                  <a:srgbClr val="8C8585"/>
                </a:solidFill>
                <a:latin typeface="MiSans"/>
                <a:ea typeface="MiSans"/>
              </a:rPr>
              <a:t>这，就是客户资产经营——也是整个增长体系的第三块拼图。</a:t>
            </a:r>
            <a:endParaRPr lang="en-US" sz="1150"/>
          </a:p>
        </p:txBody>
      </p:sp>
      <p:sp>
        <p:nvSpPr>
          <p:cNvPr id="15" name="footer-line"/>
          <p:cNvSpPr/>
          <p:nvPr/>
        </p:nvSpPr>
        <p:spPr>
          <a:xfrm>
            <a:off x="812800" y="6400800"/>
            <a:ext cx="10566400" cy="12700"/>
          </a:xfrm>
          <a:prstGeom prst="rect">
            <a:avLst/>
          </a:prstGeom>
          <a:solidFill>
            <a:srgbClr val="E7E6E6"/>
          </a:solidFill>
          <a:ln>
            <a:noFill/>
          </a:ln>
        </p:spPr>
      </p:sp>
      <p:sp>
        <p:nvSpPr>
          <p:cNvPr id="16" name="footer-left"/>
          <p:cNvSpPr txBox="1"/>
          <p:nvPr/>
        </p:nvSpPr>
        <p:spPr>
          <a:xfrm>
            <a:off x="812800" y="65024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900">
                <a:solidFill>
                  <a:srgbClr val="B5AFAF"/>
                </a:solidFill>
                <a:latin typeface="MiSans"/>
                <a:ea typeface="MiSans"/>
              </a:rPr>
              <a:t>第三课 · 客户经营 ｜ 企业商学院</a:t>
            </a:r>
            <a:endParaRPr lang="en-US" sz="900"/>
          </a:p>
        </p:txBody>
      </p:sp>
      <p:sp>
        <p:nvSpPr>
          <p:cNvPr id="17" name="footer-page"/>
          <p:cNvSpPr txBox="1"/>
          <p:nvPr/>
        </p:nvSpPr>
        <p:spPr>
          <a:xfrm>
            <a:off x="10109200" y="65024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20000"/>
              </a:lnSpc>
            </a:pPr>
            <a:r>
              <a:rPr lang="en-US" sz="900">
                <a:solidFill>
                  <a:srgbClr val="B5AFAF"/>
                </a:solidFill>
                <a:latin typeface="MiSans"/>
                <a:ea typeface="MiSans"/>
              </a:rPr>
              <a:t>26</a:t>
            </a:r>
            <a:endParaRPr lang="en-US" sz="900"/>
          </a:p>
        </p:txBody>
      </p:sp>
    </p:spTree>
  </p:cSld>
  <p:clrMapOvr>
    <a:masterClrMapping/>
  </p:clrMapOvr>
  <p:transition spd="fast" advClick="1">
    <p:checker dir="horz"/>
  </p:transition>
</p:sld>
</file>

<file path=ppt/slides/slide27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508000"/>
            <a:ext cx="762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000" spc="300" kern="0">
                <a:solidFill>
                  <a:srgbClr val="8C8585"/>
                </a:solidFill>
                <a:latin typeface="MiSans"/>
                <a:ea typeface="MiSans"/>
              </a:rPr>
              <a:t>课后行动</a:t>
            </a:r>
            <a:endParaRPr lang="en-US" sz="1000"/>
          </a:p>
        </p:txBody>
      </p:sp>
      <p:sp>
        <p:nvSpPr>
          <p:cNvPr id="3" name="title"/>
          <p:cNvSpPr txBox="1"/>
          <p:nvPr/>
        </p:nvSpPr>
        <p:spPr>
          <a:xfrm>
            <a:off x="812800" y="762000"/>
            <a:ext cx="10160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2600" b="1">
                <a:solidFill>
                  <a:srgbClr val="1C0B0B"/>
                </a:solidFill>
                <a:latin typeface="MiSans"/>
                <a:ea typeface="MiSans"/>
              </a:rPr>
              <a:t>课后行动：把方法变成结果</a:t>
            </a:r>
            <a:endParaRPr lang="en-US" sz="2600"/>
          </a:p>
        </p:txBody>
      </p:sp>
      <p:sp>
        <p:nvSpPr>
          <p:cNvPr id="4" name="caption"/>
          <p:cNvSpPr txBox="1"/>
          <p:nvPr/>
        </p:nvSpPr>
        <p:spPr>
          <a:xfrm>
            <a:off x="812800" y="1295400"/>
            <a:ext cx="1016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200">
                <a:solidFill>
                  <a:srgbClr val="8C8585"/>
                </a:solidFill>
                <a:latin typeface="MiSans"/>
                <a:ea typeface="MiSans"/>
              </a:rPr>
              <a:t>六项行动，下次课程开始前完成</a:t>
            </a:r>
            <a:endParaRPr lang="en-US" sz="1200"/>
          </a:p>
        </p:txBody>
      </p:sp>
      <p:sp>
        <p:nvSpPr>
          <p:cNvPr id="5" name="title-line"/>
          <p:cNvSpPr/>
          <p:nvPr/>
        </p:nvSpPr>
        <p:spPr>
          <a:xfrm>
            <a:off x="812800" y="1676400"/>
            <a:ext cx="10566400" cy="12700"/>
          </a:xfrm>
          <a:prstGeom prst="rect">
            <a:avLst/>
          </a:prstGeom>
          <a:solidFill>
            <a:srgbClr val="E7E6E6"/>
          </a:solidFill>
          <a:ln>
            <a:noFill/>
          </a:ln>
        </p:spPr>
      </p:sp>
      <p:sp>
        <p:nvSpPr>
          <p:cNvPr id="6" name="a1"/>
          <p:cNvSpPr/>
          <p:nvPr/>
        </p:nvSpPr>
        <p:spPr>
          <a:xfrm>
            <a:off x="812800" y="2095500"/>
            <a:ext cx="5156200" cy="1041400"/>
          </a:xfrm>
          <a:prstGeom prst="rect">
            <a:avLst/>
          </a:prstGeom>
          <a:solidFill>
            <a:srgbClr val="F6F6F6"/>
          </a:solidFill>
          <a:ln>
            <a:noFill/>
          </a:ln>
        </p:spPr>
      </p:sp>
      <p:sp>
        <p:nvSpPr>
          <p:cNvPr id="7" name="a1-t"/>
          <p:cNvSpPr txBox="1"/>
          <p:nvPr/>
        </p:nvSpPr>
        <p:spPr>
          <a:xfrm>
            <a:off x="1041400" y="2273300"/>
            <a:ext cx="4699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100" b="1">
                <a:solidFill>
                  <a:srgbClr val="B5AFAF"/>
                </a:solidFill>
                <a:latin typeface="MiSans"/>
                <a:ea typeface="MiSans"/>
              </a:rPr>
              <a:t>01　</a:t>
            </a:r>
            <a:r>
              <a:rPr lang="en-US" sz="1400" b="1">
                <a:solidFill>
                  <a:srgbClr val="1C0B0B"/>
                </a:solidFill>
                <a:latin typeface="MiSans"/>
                <a:ea typeface="MiSans"/>
              </a:rPr>
              <a:t>重新筛选手里的A类客户</a:t>
            </a:r>
            <a:endParaRPr lang="en-US" sz="1600"/>
          </a:p>
        </p:txBody>
      </p:sp>
      <p:sp>
        <p:nvSpPr>
          <p:cNvPr id="8" name="a1-g"/>
          <p:cNvSpPr txBox="1"/>
          <p:nvPr/>
        </p:nvSpPr>
        <p:spPr>
          <a:xfrm>
            <a:off x="1041400" y="2628900"/>
            <a:ext cx="4699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050">
                <a:solidFill>
                  <a:srgbClr val="8C8585"/>
                </a:solidFill>
                <a:latin typeface="MiSans"/>
                <a:ea typeface="MiSans"/>
              </a:rPr>
              <a:t>用7项标准，给现有客户重新分级</a:t>
            </a:r>
            <a:endParaRPr lang="en-US" sz="1050"/>
          </a:p>
        </p:txBody>
      </p:sp>
      <p:sp>
        <p:nvSpPr>
          <p:cNvPr id="9" name="a2"/>
          <p:cNvSpPr/>
          <p:nvPr/>
        </p:nvSpPr>
        <p:spPr>
          <a:xfrm>
            <a:off x="6223000" y="2095500"/>
            <a:ext cx="5156200" cy="1041400"/>
          </a:xfrm>
          <a:prstGeom prst="rect">
            <a:avLst/>
          </a:prstGeom>
          <a:solidFill>
            <a:srgbClr val="F6F6F6"/>
          </a:solidFill>
          <a:ln>
            <a:noFill/>
          </a:ln>
        </p:spPr>
      </p:sp>
      <p:sp>
        <p:nvSpPr>
          <p:cNvPr id="10" name="a2-t"/>
          <p:cNvSpPr txBox="1"/>
          <p:nvPr/>
        </p:nvSpPr>
        <p:spPr>
          <a:xfrm>
            <a:off x="6451600" y="2273300"/>
            <a:ext cx="4699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100" b="1">
                <a:solidFill>
                  <a:srgbClr val="B5AFAF"/>
                </a:solidFill>
                <a:latin typeface="MiSans"/>
                <a:ea typeface="MiSans"/>
              </a:rPr>
              <a:t>02　</a:t>
            </a:r>
            <a:r>
              <a:rPr lang="en-US" sz="1400" b="1">
                <a:solidFill>
                  <a:srgbClr val="1C0B0B"/>
                </a:solidFill>
                <a:latin typeface="MiSans"/>
                <a:ea typeface="MiSans"/>
              </a:rPr>
              <a:t>建立完整客户画像</a:t>
            </a:r>
            <a:endParaRPr lang="en-US" sz="1600"/>
          </a:p>
        </p:txBody>
      </p:sp>
      <p:sp>
        <p:nvSpPr>
          <p:cNvPr id="11" name="a2-g"/>
          <p:cNvSpPr txBox="1"/>
          <p:nvPr/>
        </p:nvSpPr>
        <p:spPr>
          <a:xfrm>
            <a:off x="6451600" y="2628900"/>
            <a:ext cx="4699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050">
                <a:solidFill>
                  <a:srgbClr val="8C8585"/>
                </a:solidFill>
                <a:latin typeface="MiSans"/>
                <a:ea typeface="MiSans"/>
              </a:rPr>
              <a:t>每个A类客户，补齐10个维度</a:t>
            </a:r>
            <a:endParaRPr lang="en-US" sz="1050"/>
          </a:p>
        </p:txBody>
      </p:sp>
      <p:sp>
        <p:nvSpPr>
          <p:cNvPr id="12" name="a3"/>
          <p:cNvSpPr/>
          <p:nvPr/>
        </p:nvSpPr>
        <p:spPr>
          <a:xfrm>
            <a:off x="812800" y="3327400"/>
            <a:ext cx="5156200" cy="1041400"/>
          </a:xfrm>
          <a:prstGeom prst="rect">
            <a:avLst/>
          </a:prstGeom>
          <a:solidFill>
            <a:srgbClr val="F6F6F6"/>
          </a:solidFill>
          <a:ln>
            <a:noFill/>
          </a:ln>
        </p:spPr>
      </p:sp>
      <p:sp>
        <p:nvSpPr>
          <p:cNvPr id="13" name="a3-t"/>
          <p:cNvSpPr txBox="1"/>
          <p:nvPr/>
        </p:nvSpPr>
        <p:spPr>
          <a:xfrm>
            <a:off x="1041400" y="3505200"/>
            <a:ext cx="4699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100" b="1">
                <a:solidFill>
                  <a:srgbClr val="B5AFAF"/>
                </a:solidFill>
                <a:latin typeface="MiSans"/>
                <a:ea typeface="MiSans"/>
              </a:rPr>
              <a:t>03　</a:t>
            </a:r>
            <a:r>
              <a:rPr lang="en-US" sz="1400" b="1">
                <a:solidFill>
                  <a:srgbClr val="1C0B0B"/>
                </a:solidFill>
                <a:latin typeface="MiSans"/>
                <a:ea typeface="MiSans"/>
              </a:rPr>
              <a:t>制定未来6个月拜访计划</a:t>
            </a:r>
            <a:endParaRPr lang="en-US" sz="1600"/>
          </a:p>
        </p:txBody>
      </p:sp>
      <p:sp>
        <p:nvSpPr>
          <p:cNvPr id="14" name="a3-g"/>
          <p:cNvSpPr txBox="1"/>
          <p:nvPr/>
        </p:nvSpPr>
        <p:spPr>
          <a:xfrm>
            <a:off x="1041400" y="3860800"/>
            <a:ext cx="4699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050">
                <a:solidFill>
                  <a:srgbClr val="8C8585"/>
                </a:solidFill>
                <a:latin typeface="MiSans"/>
                <a:ea typeface="MiSans"/>
              </a:rPr>
              <a:t>把经营节奏，写进日历</a:t>
            </a:r>
            <a:endParaRPr lang="en-US" sz="1050"/>
          </a:p>
        </p:txBody>
      </p:sp>
      <p:sp>
        <p:nvSpPr>
          <p:cNvPr id="15" name="a4"/>
          <p:cNvSpPr/>
          <p:nvPr/>
        </p:nvSpPr>
        <p:spPr>
          <a:xfrm>
            <a:off x="6223000" y="3327400"/>
            <a:ext cx="5156200" cy="1041400"/>
          </a:xfrm>
          <a:prstGeom prst="rect">
            <a:avLst/>
          </a:prstGeom>
          <a:solidFill>
            <a:srgbClr val="F6F6F6"/>
          </a:solidFill>
          <a:ln>
            <a:noFill/>
          </a:ln>
        </p:spPr>
      </p:sp>
      <p:sp>
        <p:nvSpPr>
          <p:cNvPr id="16" name="a4-t"/>
          <p:cNvSpPr txBox="1"/>
          <p:nvPr/>
        </p:nvSpPr>
        <p:spPr>
          <a:xfrm>
            <a:off x="6451600" y="3505200"/>
            <a:ext cx="4699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100" b="1">
                <a:solidFill>
                  <a:srgbClr val="B5AFAF"/>
                </a:solidFill>
                <a:latin typeface="MiSans"/>
                <a:ea typeface="MiSans"/>
              </a:rPr>
              <a:t>04　</a:t>
            </a:r>
            <a:r>
              <a:rPr lang="en-US" sz="1400" b="1">
                <a:solidFill>
                  <a:srgbClr val="1C0B0B"/>
                </a:solidFill>
                <a:latin typeface="MiSans"/>
                <a:ea typeface="MiSans"/>
              </a:rPr>
              <a:t>找出客户3个增长机会</a:t>
            </a:r>
            <a:endParaRPr lang="en-US" sz="1600"/>
          </a:p>
        </p:txBody>
      </p:sp>
      <p:sp>
        <p:nvSpPr>
          <p:cNvPr id="17" name="a4-g"/>
          <p:cNvSpPr txBox="1"/>
          <p:nvPr/>
        </p:nvSpPr>
        <p:spPr>
          <a:xfrm>
            <a:off x="6451600" y="3860800"/>
            <a:ext cx="4699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050">
                <a:solidFill>
                  <a:srgbClr val="8C8585"/>
                </a:solidFill>
                <a:latin typeface="MiSans"/>
                <a:ea typeface="MiSans"/>
              </a:rPr>
              <a:t>从新品、市场、效率里找</a:t>
            </a:r>
            <a:endParaRPr lang="en-US" sz="1050"/>
          </a:p>
        </p:txBody>
      </p:sp>
      <p:sp>
        <p:nvSpPr>
          <p:cNvPr id="18" name="a5"/>
          <p:cNvSpPr/>
          <p:nvPr/>
        </p:nvSpPr>
        <p:spPr>
          <a:xfrm>
            <a:off x="812800" y="4559300"/>
            <a:ext cx="5156200" cy="1041400"/>
          </a:xfrm>
          <a:prstGeom prst="rect">
            <a:avLst/>
          </a:prstGeom>
          <a:solidFill>
            <a:srgbClr val="F6F6F6"/>
          </a:solidFill>
          <a:ln>
            <a:noFill/>
          </a:ln>
        </p:spPr>
      </p:sp>
      <p:sp>
        <p:nvSpPr>
          <p:cNvPr id="19" name="a5-t"/>
          <p:cNvSpPr txBox="1"/>
          <p:nvPr/>
        </p:nvSpPr>
        <p:spPr>
          <a:xfrm>
            <a:off x="1041400" y="4737100"/>
            <a:ext cx="4699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100" b="1">
                <a:solidFill>
                  <a:srgbClr val="B5AFAF"/>
                </a:solidFill>
                <a:latin typeface="MiSans"/>
                <a:ea typeface="MiSans"/>
              </a:rPr>
              <a:t>05　</a:t>
            </a:r>
            <a:r>
              <a:rPr lang="en-US" sz="1400" b="1">
                <a:solidFill>
                  <a:srgbClr val="1C0B0B"/>
                </a:solidFill>
                <a:latin typeface="MiSans"/>
                <a:ea typeface="MiSans"/>
              </a:rPr>
              <a:t>找出客户2个供应链优化机会</a:t>
            </a:r>
            <a:endParaRPr lang="en-US" sz="1600"/>
          </a:p>
        </p:txBody>
      </p:sp>
      <p:sp>
        <p:nvSpPr>
          <p:cNvPr id="20" name="a5-g"/>
          <p:cNvSpPr txBox="1"/>
          <p:nvPr/>
        </p:nvSpPr>
        <p:spPr>
          <a:xfrm>
            <a:off x="1041400" y="5092700"/>
            <a:ext cx="4699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050">
                <a:solidFill>
                  <a:srgbClr val="8C8585"/>
                </a:solidFill>
                <a:latin typeface="MiSans"/>
                <a:ea typeface="MiSans"/>
              </a:rPr>
              <a:t>从成本、交付、账期里找</a:t>
            </a:r>
            <a:endParaRPr lang="en-US" sz="1050"/>
          </a:p>
        </p:txBody>
      </p:sp>
      <p:sp>
        <p:nvSpPr>
          <p:cNvPr id="21" name="a6"/>
          <p:cNvSpPr/>
          <p:nvPr/>
        </p:nvSpPr>
        <p:spPr>
          <a:xfrm>
            <a:off x="6223000" y="4559300"/>
            <a:ext cx="5156200" cy="1041400"/>
          </a:xfrm>
          <a:prstGeom prst="rect">
            <a:avLst/>
          </a:prstGeom>
          <a:solidFill>
            <a:srgbClr val="FF4D4D"/>
          </a:solidFill>
          <a:ln>
            <a:noFill/>
          </a:ln>
        </p:spPr>
      </p:sp>
      <p:sp>
        <p:nvSpPr>
          <p:cNvPr id="22" name="a6-t"/>
          <p:cNvSpPr txBox="1"/>
          <p:nvPr/>
        </p:nvSpPr>
        <p:spPr>
          <a:xfrm>
            <a:off x="6451600" y="4737100"/>
            <a:ext cx="4699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100" b="1">
                <a:solidFill>
                  <a:srgbClr val="FFFFFF"/>
                </a:solidFill>
                <a:latin typeface="MiSans"/>
                <a:ea typeface="MiSans"/>
              </a:rPr>
              <a:t>06　</a:t>
            </a:r>
            <a:r>
              <a:rPr lang="en-US" sz="1400" b="1">
                <a:solidFill>
                  <a:srgbClr val="FFFFFF"/>
                </a:solidFill>
                <a:latin typeface="MiSans"/>
                <a:ea typeface="MiSans"/>
              </a:rPr>
              <a:t>设计《客户年度经营计划》</a:t>
            </a:r>
            <a:endParaRPr lang="en-US" sz="1600"/>
          </a:p>
        </p:txBody>
      </p:sp>
      <p:sp>
        <p:nvSpPr>
          <p:cNvPr id="23" name="a6-g"/>
          <p:cNvSpPr txBox="1"/>
          <p:nvPr/>
        </p:nvSpPr>
        <p:spPr>
          <a:xfrm>
            <a:off x="6451600" y="5092700"/>
            <a:ext cx="4699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050">
                <a:solidFill>
                  <a:srgbClr val="FFFFFF"/>
                </a:solidFill>
                <a:latin typeface="MiSans"/>
                <a:ea typeface="MiSans"/>
              </a:rPr>
              <a:t>本课程的毕业成果</a:t>
            </a:r>
            <a:endParaRPr lang="en-US" sz="1050"/>
          </a:p>
        </p:txBody>
      </p:sp>
      <p:sp>
        <p:nvSpPr>
          <p:cNvPr id="24" name="submit-bar"/>
          <p:cNvSpPr txBox="1"/>
          <p:nvPr/>
        </p:nvSpPr>
        <p:spPr>
          <a:xfrm>
            <a:off x="812800" y="5867400"/>
            <a:ext cx="105664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250" b="1">
                <a:solidFill>
                  <a:srgbClr val="1C0B0B"/>
                </a:solidFill>
                <a:latin typeface="MiSans"/>
                <a:ea typeface="MiSans"/>
              </a:rPr>
              <a:t>成果提交：《客户年度经营计划》——下次课程，</a:t>
            </a:r>
            <a:r>
              <a:rPr lang="en-US" sz="1250" b="1">
                <a:solidFill>
                  <a:srgbClr val="FF4D4D"/>
                </a:solidFill>
                <a:latin typeface="MiSans"/>
                <a:ea typeface="MiSans"/>
              </a:rPr>
              <a:t>逐份检查</a:t>
            </a:r>
            <a:r>
              <a:rPr lang="en-US" sz="1250" b="1">
                <a:solidFill>
                  <a:srgbClr val="1C0B0B"/>
                </a:solidFill>
                <a:latin typeface="MiSans"/>
                <a:ea typeface="MiSans"/>
              </a:rPr>
              <a:t>。</a:t>
            </a:r>
            <a:endParaRPr lang="en-US" sz="1250"/>
          </a:p>
        </p:txBody>
      </p:sp>
      <p:sp>
        <p:nvSpPr>
          <p:cNvPr id="25" name="footer-line"/>
          <p:cNvSpPr/>
          <p:nvPr/>
        </p:nvSpPr>
        <p:spPr>
          <a:xfrm>
            <a:off x="812800" y="6400800"/>
            <a:ext cx="10566400" cy="12700"/>
          </a:xfrm>
          <a:prstGeom prst="rect">
            <a:avLst/>
          </a:prstGeom>
          <a:solidFill>
            <a:srgbClr val="E7E6E6"/>
          </a:solidFill>
          <a:ln>
            <a:noFill/>
          </a:ln>
        </p:spPr>
      </p:sp>
      <p:sp>
        <p:nvSpPr>
          <p:cNvPr id="26" name="footer-left"/>
          <p:cNvSpPr txBox="1"/>
          <p:nvPr/>
        </p:nvSpPr>
        <p:spPr>
          <a:xfrm>
            <a:off x="812800" y="65024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900">
                <a:solidFill>
                  <a:srgbClr val="B5AFAF"/>
                </a:solidFill>
                <a:latin typeface="MiSans"/>
                <a:ea typeface="MiSans"/>
              </a:rPr>
              <a:t>第三课 · 客户经营 ｜ 企业商学院</a:t>
            </a:r>
            <a:endParaRPr lang="en-US" sz="900"/>
          </a:p>
        </p:txBody>
      </p:sp>
      <p:sp>
        <p:nvSpPr>
          <p:cNvPr id="27" name="footer-page"/>
          <p:cNvSpPr txBox="1"/>
          <p:nvPr/>
        </p:nvSpPr>
        <p:spPr>
          <a:xfrm>
            <a:off x="10109200" y="65024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20000"/>
              </a:lnSpc>
            </a:pPr>
            <a:r>
              <a:rPr lang="en-US" sz="900">
                <a:solidFill>
                  <a:srgbClr val="B5AFAF"/>
                </a:solidFill>
                <a:latin typeface="MiSans"/>
                <a:ea typeface="MiSans"/>
              </a:rPr>
              <a:t>27</a:t>
            </a:r>
            <a:endParaRPr lang="en-US" sz="900"/>
          </a:p>
        </p:txBody>
      </p:sp>
    </p:spTree>
  </p:cSld>
  <p:clrMapOvr>
    <a:masterClrMapping/>
  </p:clrMapOvr>
  <p:transition spd="fast" advClick="1">
    <p:checker dir="horz"/>
  </p:transition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Neo Design</Application>
  <Company>Moonshot</Company>
  <Slides>27</Slides>
</Properties>
</file>

<file path=docProps/core.xml><?xml version="1.0" encoding="utf-8"?>
<cp:coreProperties xmlns:cp="http://schemas.openxmlformats.org/package/2006/metadata/core-properties" xmlns:dc="http://purl.org/dc/elements/1.1/">
  <dc:title>第三课：客户经营——建立A类客户长期增长系统</dc:title>
  <dc:subject>第三课：客户经营——建立A类客户长期增长系统</dc:subject>
  <dc:creator>Kimi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第三课：客户经营——建立A类客户长期增长系统","ContentProducer":"001191110108MACG2KBH8F10000","ProduceID":"19f6d8a0-76a2-895e-8000-0000d5b13634","ReservedCode1":"","ContentPropagator":"001191110108MACG2KBH8F20000","PropagateID":"19f6d7b4-4ac2-8aeb-8000-09c7b9454c73","ReservedCode2":""}</vt:lpwstr>
  </property>
</Properties>
</file>