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 type="custom"/>
  <p:notesSz cx="12192000" cy="6858000"/>
  <p:embeddedFontLst>
    <p:embeddedFont>
      <p:font typeface="Alimama ShuHeiTi" charset="-122" pitchFamily="34"/>
      <p:regular r:id="rId35"/>
    </p:embeddedFont>
  </p:embeddedFontLst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font" Target="fonts/font1.fntdata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12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"/>
          <p:cNvSpPr txBox="1"/>
          <p:nvPr/>
        </p:nvSpPr>
        <p:spPr>
          <a:xfrm>
            <a:off x="3810000" y="4953000"/>
            <a:ext cx="80010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r">
              <a:lnSpc>
                <a:spcPct val="120000"/>
              </a:lnSpc>
            </a:pPr>
            <a:r>
              <a:rPr lang="en-US" sz="11800" b="1">
                <a:solidFill>
                  <a:srgbClr val="1F0E0C"/>
                </a:solidFill>
                <a:latin typeface="阿里妈妈数黑体"/>
                <a:ea typeface="阿里妈妈数黑体"/>
              </a:rPr>
              <a:t>供应链思维</a:t>
            </a:r>
            <a:endParaRPr lang="en-US" sz="11800"/>
          </a:p>
        </p:txBody>
      </p:sp>
      <p:sp>
        <p:nvSpPr>
          <p:cNvPr id="3" name="cap"/>
          <p:cNvSpPr/>
          <p:nvPr/>
        </p:nvSpPr>
        <p:spPr>
          <a:xfrm>
            <a:off x="609600" y="584200"/>
            <a:ext cx="2006600" cy="355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4" name="cap-t"/>
          <p:cNvSpPr txBox="1"/>
          <p:nvPr/>
        </p:nvSpPr>
        <p:spPr>
          <a:xfrm>
            <a:off x="609600" y="584200"/>
            <a:ext cx="2006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销售团队内训课程</a:t>
            </a:r>
            <a:endParaRPr lang="en-US" sz="1100"/>
          </a:p>
        </p:txBody>
      </p:sp>
      <p:sp>
        <p:nvSpPr>
          <p:cNvPr id="5" name="hd-r"/>
          <p:cNvSpPr txBox="1"/>
          <p:nvPr/>
        </p:nvSpPr>
        <p:spPr>
          <a:xfrm>
            <a:off x="7112000" y="6604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6E5654"/>
                </a:solidFill>
                <a:latin typeface="MiSans"/>
                <a:ea typeface="MiSans"/>
              </a:rPr>
              <a:t>SUPPLY CHAIN THINKING · 2026</a:t>
            </a:r>
            <a:endParaRPr lang="en-US" sz="950"/>
          </a:p>
        </p:txBody>
      </p:sp>
      <p:sp>
        <p:nvSpPr>
          <p:cNvPr id="6" name="title"/>
          <p:cNvSpPr txBox="1"/>
          <p:nvPr/>
        </p:nvSpPr>
        <p:spPr>
          <a:xfrm>
            <a:off x="609600" y="1879600"/>
            <a:ext cx="6858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6800" b="1">
                <a:solidFill>
                  <a:srgbClr val="FFFFFF"/>
                </a:solidFill>
                <a:latin typeface="阿里妈妈数黑体"/>
                <a:ea typeface="阿里妈妈数黑体"/>
              </a:rPr>
              <a:t>供应链思维</a:t>
            </a:r>
            <a:endParaRPr lang="en-US" sz="6800"/>
          </a:p>
        </p:txBody>
      </p:sp>
      <p:sp>
        <p:nvSpPr>
          <p:cNvPr id="7" name="subtitle"/>
          <p:cNvSpPr txBox="1"/>
          <p:nvPr/>
        </p:nvSpPr>
        <p:spPr>
          <a:xfrm>
            <a:off x="609600" y="32004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FFFFFF"/>
                </a:solidFill>
                <a:latin typeface="MiSans"/>
                <a:ea typeface="MiSans"/>
              </a:rPr>
              <a:t>如何用</a:t>
            </a:r>
            <a:r>
              <a:rPr lang="en-US" sz="2700" b="1">
                <a:solidFill>
                  <a:srgbClr val="FF4D4D"/>
                </a:solidFill>
                <a:latin typeface="MiSans"/>
                <a:ea typeface="MiSans"/>
              </a:rPr>
              <a:t>一个产品</a:t>
            </a:r>
            <a:r>
              <a:rPr lang="en-US" sz="2700" b="1">
                <a:solidFill>
                  <a:srgbClr val="FFFFFF"/>
                </a:solidFill>
                <a:latin typeface="MiSans"/>
                <a:ea typeface="MiSans"/>
              </a:rPr>
              <a:t>切入客户供应链</a:t>
            </a:r>
            <a:endParaRPr lang="en-US" sz="2700"/>
          </a:p>
        </p:txBody>
      </p:sp>
      <p:sp>
        <p:nvSpPr>
          <p:cNvPr id="8" name="accent"/>
          <p:cNvSpPr/>
          <p:nvPr/>
        </p:nvSpPr>
        <p:spPr>
          <a:xfrm>
            <a:off x="609600" y="4038600"/>
            <a:ext cx="711200" cy="508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9" name="desc"/>
          <p:cNvSpPr txBox="1"/>
          <p:nvPr/>
        </p:nvSpPr>
        <p:spPr>
          <a:xfrm>
            <a:off x="609600" y="4267200"/>
            <a:ext cx="5969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350">
                <a:solidFill>
                  <a:srgbClr val="C7B8B6"/>
                </a:solidFill>
                <a:latin typeface="MiSans"/>
                <a:ea typeface="MiSans"/>
              </a:rPr>
              <a:t>从一次单品成交，走向一家企业的长期供应链合作</a:t>
            </a:r>
            <a:endParaRPr lang="en-US" sz="1350"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C7B8B6"/>
                </a:solidFill>
                <a:latin typeface="MiSans"/>
                <a:ea typeface="MiSans"/>
              </a:rPr>
              <a:t>从卖出一个产品，到经营一家客户</a:t>
            </a:r>
            <a:endParaRPr lang="en-US" sz="1350"/>
          </a:p>
        </p:txBody>
      </p:sp>
      <p:sp>
        <p:nvSpPr>
          <p:cNvPr id="10" name="i1-sq"/>
          <p:cNvSpPr/>
          <p:nvPr/>
        </p:nvSpPr>
        <p:spPr>
          <a:xfrm>
            <a:off x="7874000" y="1955800"/>
            <a:ext cx="101600" cy="101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1" name="i1-label"/>
          <p:cNvSpPr txBox="1"/>
          <p:nvPr/>
        </p:nvSpPr>
        <p:spPr>
          <a:xfrm>
            <a:off x="8102600" y="1905000"/>
            <a:ext cx="3479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MiSans"/>
                <a:ea typeface="MiSans"/>
              </a:rPr>
              <a:t>课程对象</a:t>
            </a:r>
            <a:endParaRPr lang="en-US" sz="1200"/>
          </a:p>
        </p:txBody>
      </p:sp>
      <p:sp>
        <p:nvSpPr>
          <p:cNvPr id="12" name="i1-desc"/>
          <p:cNvSpPr txBox="1"/>
          <p:nvPr/>
        </p:nvSpPr>
        <p:spPr>
          <a:xfrm>
            <a:off x="8102600" y="2159000"/>
            <a:ext cx="3479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A99B99"/>
                </a:solidFill>
                <a:latin typeface="MiSans"/>
                <a:ea typeface="MiSans"/>
              </a:rPr>
              <a:t>销售团队及采购协同人员</a:t>
            </a:r>
            <a:endParaRPr lang="en-US" sz="1050"/>
          </a:p>
        </p:txBody>
      </p:sp>
      <p:sp>
        <p:nvSpPr>
          <p:cNvPr id="13" name="i2-sq"/>
          <p:cNvSpPr/>
          <p:nvPr/>
        </p:nvSpPr>
        <p:spPr>
          <a:xfrm>
            <a:off x="7874000" y="2921000"/>
            <a:ext cx="101600" cy="101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4" name="i2-label"/>
          <p:cNvSpPr txBox="1"/>
          <p:nvPr/>
        </p:nvSpPr>
        <p:spPr>
          <a:xfrm>
            <a:off x="8102600" y="2870200"/>
            <a:ext cx="3479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MiSans"/>
                <a:ea typeface="MiSans"/>
              </a:rPr>
              <a:t>课程目标</a:t>
            </a:r>
            <a:endParaRPr lang="en-US" sz="1200"/>
          </a:p>
        </p:txBody>
      </p:sp>
      <p:sp>
        <p:nvSpPr>
          <p:cNvPr id="15" name="i2-desc"/>
          <p:cNvSpPr txBox="1"/>
          <p:nvPr/>
        </p:nvSpPr>
        <p:spPr>
          <a:xfrm>
            <a:off x="8102600" y="3124200"/>
            <a:ext cx="3479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A99B99"/>
                </a:solidFill>
                <a:latin typeface="MiSans"/>
                <a:ea typeface="MiSans"/>
              </a:rPr>
              <a:t>从单品成交，走向客户供应链深度合作</a:t>
            </a:r>
            <a:endParaRPr lang="en-US" sz="1050"/>
          </a:p>
        </p:txBody>
      </p:sp>
      <p:sp>
        <p:nvSpPr>
          <p:cNvPr id="16" name="i3-sq"/>
          <p:cNvSpPr/>
          <p:nvPr/>
        </p:nvSpPr>
        <p:spPr>
          <a:xfrm>
            <a:off x="7874000" y="3886200"/>
            <a:ext cx="101600" cy="101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7" name="i3-label"/>
          <p:cNvSpPr txBox="1"/>
          <p:nvPr/>
        </p:nvSpPr>
        <p:spPr>
          <a:xfrm>
            <a:off x="8102600" y="3835400"/>
            <a:ext cx="3479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MiSans"/>
                <a:ea typeface="MiSans"/>
              </a:rPr>
              <a:t>核心方法</a:t>
            </a:r>
            <a:endParaRPr lang="en-US" sz="1200"/>
          </a:p>
        </p:txBody>
      </p:sp>
      <p:sp>
        <p:nvSpPr>
          <p:cNvPr id="18" name="i3-desc"/>
          <p:cNvSpPr txBox="1"/>
          <p:nvPr/>
        </p:nvSpPr>
        <p:spPr>
          <a:xfrm>
            <a:off x="8102600" y="4089400"/>
            <a:ext cx="3479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A99B99"/>
                </a:solidFill>
                <a:latin typeface="MiSans"/>
                <a:ea typeface="MiSans"/>
              </a:rPr>
              <a:t>成本拆解 × 组合经营 × 客户经营</a:t>
            </a:r>
            <a:endParaRPr lang="en-US" sz="1050"/>
          </a:p>
        </p:txBody>
      </p:sp>
      <p:sp>
        <p:nvSpPr>
          <p:cNvPr id="19" name="ft-line"/>
          <p:cNvSpPr/>
          <p:nvPr/>
        </p:nvSpPr>
        <p:spPr>
          <a:xfrm>
            <a:off x="609600" y="6172200"/>
            <a:ext cx="10972800" cy="12700"/>
          </a:xfrm>
          <a:prstGeom prst="rect">
            <a:avLst/>
          </a:prstGeom>
          <a:solidFill>
            <a:srgbClr val="2C1412"/>
          </a:solidFill>
          <a:ln>
            <a:noFill/>
          </a:ln>
        </p:spPr>
      </p:sp>
      <p:sp>
        <p:nvSpPr>
          <p:cNvPr id="20" name="ft-l"/>
          <p:cNvSpPr txBox="1"/>
          <p:nvPr/>
        </p:nvSpPr>
        <p:spPr>
          <a:xfrm>
            <a:off x="609600" y="6350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6E5654"/>
                </a:solidFill>
                <a:latin typeface="MiSans"/>
                <a:ea typeface="MiSans"/>
              </a:rPr>
              <a:t>内部培训资料 · 仅供内部使用</a:t>
            </a:r>
            <a:endParaRPr lang="en-US" sz="900"/>
          </a:p>
        </p:txBody>
      </p:sp>
      <p:sp>
        <p:nvSpPr>
          <p:cNvPr id="21" name="ft-r"/>
          <p:cNvSpPr txBox="1"/>
          <p:nvPr/>
        </p:nvSpPr>
        <p:spPr>
          <a:xfrm>
            <a:off x="9042400" y="6350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6E5654"/>
                </a:solidFill>
                <a:latin typeface="MiSans"/>
                <a:ea typeface="MiSans"/>
              </a:rPr>
              <a:t>销售赋能 · 2026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01 · 理念重塑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什么是供应链思维？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同一个询盘，两种完全不同的思考路径——决定了合作能走多远</a:t>
            </a:r>
            <a:endParaRPr lang="en-US" sz="1250"/>
          </a:p>
        </p:txBody>
      </p:sp>
      <p:sp>
        <p:nvSpPr>
          <p:cNvPr id="7" name="cap-l"/>
          <p:cNvSpPr/>
          <p:nvPr/>
        </p:nvSpPr>
        <p:spPr>
          <a:xfrm>
            <a:off x="609600" y="1727200"/>
            <a:ext cx="5207000" cy="406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8" name="cap-l-t"/>
          <p:cNvSpPr txBox="1"/>
          <p:nvPr/>
        </p:nvSpPr>
        <p:spPr>
          <a:xfrm>
            <a:off x="812800" y="1727200"/>
            <a:ext cx="5003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6E6666"/>
                </a:solidFill>
                <a:latin typeface="MiSans"/>
                <a:ea typeface="MiSans"/>
              </a:rPr>
              <a:t>普通销售思考的是</a:t>
            </a:r>
            <a:endParaRPr lang="en-US" sz="1300"/>
          </a:p>
        </p:txBody>
      </p:sp>
      <p:sp>
        <p:nvSpPr>
          <p:cNvPr id="9" name="cap-r"/>
          <p:cNvSpPr/>
          <p:nvPr/>
        </p:nvSpPr>
        <p:spPr>
          <a:xfrm>
            <a:off x="6375400" y="1727200"/>
            <a:ext cx="5207000" cy="4064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10" name="cap-r-t"/>
          <p:cNvSpPr txBox="1"/>
          <p:nvPr/>
        </p:nvSpPr>
        <p:spPr>
          <a:xfrm>
            <a:off x="6578600" y="1727200"/>
            <a:ext cx="5003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供应链思维思考的是</a:t>
            </a:r>
            <a:endParaRPr lang="en-US" sz="1300"/>
          </a:p>
        </p:txBody>
      </p:sp>
      <p:sp>
        <p:nvSpPr>
          <p:cNvPr id="11" name="l1-sq"/>
          <p:cNvSpPr/>
          <p:nvPr/>
        </p:nvSpPr>
        <p:spPr>
          <a:xfrm>
            <a:off x="609600" y="2425700"/>
            <a:ext cx="76200" cy="76200"/>
          </a:xfrm>
          <a:prstGeom prst="rect">
            <a:avLst/>
          </a:prstGeom>
          <a:solidFill>
            <a:srgbClr val="C7C4C4"/>
          </a:solidFill>
          <a:ln>
            <a:noFill/>
          </a:ln>
        </p:spPr>
      </p:sp>
      <p:sp>
        <p:nvSpPr>
          <p:cNvPr id="12" name="l1"/>
          <p:cNvSpPr txBox="1"/>
          <p:nvPr/>
        </p:nvSpPr>
        <p:spPr>
          <a:xfrm>
            <a:off x="812800" y="2336800"/>
            <a:ext cx="5003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2F2929"/>
                </a:solidFill>
                <a:latin typeface="MiSans"/>
                <a:ea typeface="MiSans"/>
              </a:rPr>
              <a:t>客户要什么产品</a:t>
            </a:r>
            <a:endParaRPr lang="en-US" sz="1300"/>
          </a:p>
        </p:txBody>
      </p:sp>
      <p:sp>
        <p:nvSpPr>
          <p:cNvPr id="13" name="l2-sq"/>
          <p:cNvSpPr/>
          <p:nvPr/>
        </p:nvSpPr>
        <p:spPr>
          <a:xfrm>
            <a:off x="609600" y="2908300"/>
            <a:ext cx="76200" cy="76200"/>
          </a:xfrm>
          <a:prstGeom prst="rect">
            <a:avLst/>
          </a:prstGeom>
          <a:solidFill>
            <a:srgbClr val="C7C4C4"/>
          </a:solidFill>
          <a:ln>
            <a:noFill/>
          </a:ln>
        </p:spPr>
      </p:sp>
      <p:sp>
        <p:nvSpPr>
          <p:cNvPr id="14" name="l2"/>
          <p:cNvSpPr txBox="1"/>
          <p:nvPr/>
        </p:nvSpPr>
        <p:spPr>
          <a:xfrm>
            <a:off x="812800" y="2819400"/>
            <a:ext cx="5003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2F2929"/>
                </a:solidFill>
                <a:latin typeface="MiSans"/>
                <a:ea typeface="MiSans"/>
              </a:rPr>
              <a:t>采购价格是多少</a:t>
            </a:r>
            <a:endParaRPr lang="en-US" sz="1300"/>
          </a:p>
        </p:txBody>
      </p:sp>
      <p:sp>
        <p:nvSpPr>
          <p:cNvPr id="15" name="l3-sq"/>
          <p:cNvSpPr/>
          <p:nvPr/>
        </p:nvSpPr>
        <p:spPr>
          <a:xfrm>
            <a:off x="609600" y="3390900"/>
            <a:ext cx="76200" cy="76200"/>
          </a:xfrm>
          <a:prstGeom prst="rect">
            <a:avLst/>
          </a:prstGeom>
          <a:solidFill>
            <a:srgbClr val="C7C4C4"/>
          </a:solidFill>
          <a:ln>
            <a:noFill/>
          </a:ln>
        </p:spPr>
      </p:sp>
      <p:sp>
        <p:nvSpPr>
          <p:cNvPr id="16" name="l3"/>
          <p:cNvSpPr txBox="1"/>
          <p:nvPr/>
        </p:nvSpPr>
        <p:spPr>
          <a:xfrm>
            <a:off x="812800" y="3302000"/>
            <a:ext cx="5003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2F2929"/>
                </a:solidFill>
                <a:latin typeface="MiSans"/>
                <a:ea typeface="MiSans"/>
              </a:rPr>
              <a:t>加多少毛利报价</a:t>
            </a:r>
            <a:endParaRPr lang="en-US" sz="1300"/>
          </a:p>
        </p:txBody>
      </p:sp>
      <p:sp>
        <p:nvSpPr>
          <p:cNvPr id="17" name="l4-sq"/>
          <p:cNvSpPr/>
          <p:nvPr/>
        </p:nvSpPr>
        <p:spPr>
          <a:xfrm>
            <a:off x="609600" y="3873500"/>
            <a:ext cx="76200" cy="76200"/>
          </a:xfrm>
          <a:prstGeom prst="rect">
            <a:avLst/>
          </a:prstGeom>
          <a:solidFill>
            <a:srgbClr val="C7C4C4"/>
          </a:solidFill>
          <a:ln>
            <a:noFill/>
          </a:ln>
        </p:spPr>
      </p:sp>
      <p:sp>
        <p:nvSpPr>
          <p:cNvPr id="18" name="l4"/>
          <p:cNvSpPr txBox="1"/>
          <p:nvPr/>
        </p:nvSpPr>
        <p:spPr>
          <a:xfrm>
            <a:off x="812800" y="3784600"/>
            <a:ext cx="5003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2F2929"/>
                </a:solidFill>
                <a:latin typeface="MiSans"/>
                <a:ea typeface="MiSans"/>
              </a:rPr>
              <a:t>这一单能不能成交</a:t>
            </a:r>
            <a:endParaRPr lang="en-US" sz="1300"/>
          </a:p>
        </p:txBody>
      </p:sp>
      <p:sp>
        <p:nvSpPr>
          <p:cNvPr id="19" name="r1-sq"/>
          <p:cNvSpPr/>
          <p:nvPr/>
        </p:nvSpPr>
        <p:spPr>
          <a:xfrm>
            <a:off x="6375400" y="24257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0" name="r1"/>
          <p:cNvSpPr txBox="1"/>
          <p:nvPr/>
        </p:nvSpPr>
        <p:spPr>
          <a:xfrm>
            <a:off x="6578600" y="2336800"/>
            <a:ext cx="5003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2F2929"/>
                </a:solidFill>
                <a:latin typeface="MiSans"/>
                <a:ea typeface="MiSans"/>
              </a:rPr>
              <a:t>客户为什么需要这个产品</a:t>
            </a:r>
            <a:endParaRPr lang="en-US" sz="1300"/>
          </a:p>
        </p:txBody>
      </p:sp>
      <p:sp>
        <p:nvSpPr>
          <p:cNvPr id="21" name="r2-sq"/>
          <p:cNvSpPr/>
          <p:nvPr/>
        </p:nvSpPr>
        <p:spPr>
          <a:xfrm>
            <a:off x="6375400" y="29083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2" name="r2"/>
          <p:cNvSpPr txBox="1"/>
          <p:nvPr/>
        </p:nvSpPr>
        <p:spPr>
          <a:xfrm>
            <a:off x="6578600" y="2819400"/>
            <a:ext cx="5003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2F2929"/>
                </a:solidFill>
                <a:latin typeface="MiSans"/>
                <a:ea typeface="MiSans"/>
              </a:rPr>
              <a:t>客户的整个产品结构是什么</a:t>
            </a:r>
            <a:endParaRPr lang="en-US" sz="1300"/>
          </a:p>
        </p:txBody>
      </p:sp>
      <p:sp>
        <p:nvSpPr>
          <p:cNvPr id="23" name="r3-sq"/>
          <p:cNvSpPr/>
          <p:nvPr/>
        </p:nvSpPr>
        <p:spPr>
          <a:xfrm>
            <a:off x="6375400" y="33909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4" name="r3"/>
          <p:cNvSpPr txBox="1"/>
          <p:nvPr/>
        </p:nvSpPr>
        <p:spPr>
          <a:xfrm>
            <a:off x="6578600" y="3302000"/>
            <a:ext cx="5003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2F2929"/>
                </a:solidFill>
                <a:latin typeface="MiSans"/>
                <a:ea typeface="MiSans"/>
              </a:rPr>
              <a:t>客户还有哪些供应链问题</a:t>
            </a:r>
            <a:endParaRPr lang="en-US" sz="1300"/>
          </a:p>
        </p:txBody>
      </p:sp>
      <p:sp>
        <p:nvSpPr>
          <p:cNvPr id="25" name="r4-sq"/>
          <p:cNvSpPr/>
          <p:nvPr/>
        </p:nvSpPr>
        <p:spPr>
          <a:xfrm>
            <a:off x="6375400" y="38735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6" name="r4"/>
          <p:cNvSpPr txBox="1"/>
          <p:nvPr/>
        </p:nvSpPr>
        <p:spPr>
          <a:xfrm>
            <a:off x="6578600" y="3784600"/>
            <a:ext cx="5003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2F2929"/>
                </a:solidFill>
                <a:latin typeface="MiSans"/>
                <a:ea typeface="MiSans"/>
              </a:rPr>
              <a:t>我们能否持续降低他的综合成本</a:t>
            </a:r>
            <a:endParaRPr lang="en-US" sz="1300"/>
          </a:p>
        </p:txBody>
      </p:sp>
      <p:sp>
        <p:nvSpPr>
          <p:cNvPr id="27" name="r5-sq"/>
          <p:cNvSpPr/>
          <p:nvPr/>
        </p:nvSpPr>
        <p:spPr>
          <a:xfrm>
            <a:off x="6375400" y="43561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8" name="r5"/>
          <p:cNvSpPr txBox="1"/>
          <p:nvPr/>
        </p:nvSpPr>
        <p:spPr>
          <a:xfrm>
            <a:off x="6578600" y="4267200"/>
            <a:ext cx="5003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2F2929"/>
                </a:solidFill>
                <a:latin typeface="MiSans"/>
                <a:ea typeface="MiSans"/>
              </a:rPr>
              <a:t>如何从一个产品进入更多合作环节</a:t>
            </a:r>
            <a:endParaRPr lang="en-US" sz="1300"/>
          </a:p>
        </p:txBody>
      </p:sp>
      <p:sp>
        <p:nvSpPr>
          <p:cNvPr id="29" name="strip"/>
          <p:cNvSpPr/>
          <p:nvPr/>
        </p:nvSpPr>
        <p:spPr>
          <a:xfrm>
            <a:off x="609600" y="5435600"/>
            <a:ext cx="10972800" cy="7112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30" name="strip-bar"/>
          <p:cNvSpPr/>
          <p:nvPr/>
        </p:nvSpPr>
        <p:spPr>
          <a:xfrm>
            <a:off x="609600" y="5435600"/>
            <a:ext cx="50800" cy="711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31" name="strip-t"/>
          <p:cNvSpPr txBox="1"/>
          <p:nvPr/>
        </p:nvSpPr>
        <p:spPr>
          <a:xfrm>
            <a:off x="965200" y="54356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核心观点：供应链思维，不是转手报价，而是</a:t>
            </a:r>
            <a:r>
              <a:rPr lang="en-US" sz="1500" b="1">
                <a:solidFill>
                  <a:srgbClr val="FF4D4D"/>
                </a:solidFill>
                <a:latin typeface="MiSans"/>
                <a:ea typeface="MiSans"/>
              </a:rPr>
              <a:t>进入客户经营系统</a:t>
            </a: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。</a:t>
            </a:r>
            <a:endParaRPr lang="en-US" sz="1500"/>
          </a:p>
        </p:txBody>
      </p:sp>
      <p:sp>
        <p:nvSpPr>
          <p:cNvPr id="32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33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02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01 · 理念重塑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过去的销售模式：询价—报价—合作结束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销售只是价格的传递者——没有进入产品，也没有进入供应链</a:t>
            </a:r>
            <a:endParaRPr lang="en-US" sz="1250"/>
          </a:p>
        </p:txBody>
      </p:sp>
      <p:sp>
        <p:nvSpPr>
          <p:cNvPr id="7" name="n1"/>
          <p:cNvSpPr/>
          <p:nvPr/>
        </p:nvSpPr>
        <p:spPr>
          <a:xfrm>
            <a:off x="609600" y="1676400"/>
            <a:ext cx="41910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8" name="n1-t"/>
          <p:cNvSpPr txBox="1"/>
          <p:nvPr/>
        </p:nvSpPr>
        <p:spPr>
          <a:xfrm>
            <a:off x="812800" y="16764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客户询价</a:t>
            </a:r>
            <a:endParaRPr lang="en-US" sz="1250"/>
          </a:p>
        </p:txBody>
      </p:sp>
      <p:sp>
        <p:nvSpPr>
          <p:cNvPr id="9" name="ar1"/>
          <p:cNvSpPr/>
          <p:nvPr>
            <p:extLst>
              <p:ext uri="{F5677B7D-0D2A-4D9B-9A5C-6D8D7D0E5A5D}">
                <pptd:line encoding="base64url">eyJ2aWV3Qm94IjpbMiwxNF0sInBvaW50cyI6IjEsMCAxLDE0IiwiY3VydmUiOiJzaGFycCJ9</pptd:line>
              </p:ext>
            </p:extLst>
          </p:nvPr>
        </p:nvSpPr>
        <p:spPr>
          <a:xfrm>
            <a:off x="2692400" y="2159000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" h="14">
                <a:moveTo>
                  <a:pt x="1" y="0"/>
                </a:moveTo>
                <a:lnTo>
                  <a:pt x="1" y="14"/>
                </a:lnTo>
              </a:path>
            </a:pathLst>
          </a:custGeom>
          <a:noFill/>
          <a:ln w="12700">
            <a:solidFill>
              <a:srgbClr val="C7C4C4"/>
            </a:solidFill>
            <a:tailEnd type="arrow"/>
          </a:ln>
        </p:spPr>
      </p:sp>
      <p:sp>
        <p:nvSpPr>
          <p:cNvPr id="10" name="n2"/>
          <p:cNvSpPr/>
          <p:nvPr/>
        </p:nvSpPr>
        <p:spPr>
          <a:xfrm>
            <a:off x="609600" y="2336800"/>
            <a:ext cx="41910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1" name="n2-t"/>
          <p:cNvSpPr txBox="1"/>
          <p:nvPr/>
        </p:nvSpPr>
        <p:spPr>
          <a:xfrm>
            <a:off x="812800" y="23368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销售找采购问价格</a:t>
            </a:r>
            <a:endParaRPr lang="en-US" sz="1250"/>
          </a:p>
        </p:txBody>
      </p:sp>
      <p:sp>
        <p:nvSpPr>
          <p:cNvPr id="12" name="ar2"/>
          <p:cNvSpPr/>
          <p:nvPr>
            <p:extLst>
              <p:ext uri="{F5677B7D-0D2A-4D9B-9A5C-6D8D7D0E5A5D}">
                <pptd:line encoding="base64url">eyJ2aWV3Qm94IjpbMiwxNF0sInBvaW50cyI6IjEsMCAxLDE0IiwiY3VydmUiOiJzaGFycCJ9</pptd:line>
              </p:ext>
            </p:extLst>
          </p:nvPr>
        </p:nvSpPr>
        <p:spPr>
          <a:xfrm>
            <a:off x="2692400" y="2819400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" h="14">
                <a:moveTo>
                  <a:pt x="1" y="0"/>
                </a:moveTo>
                <a:lnTo>
                  <a:pt x="1" y="14"/>
                </a:lnTo>
              </a:path>
            </a:pathLst>
          </a:custGeom>
          <a:noFill/>
          <a:ln w="12700">
            <a:solidFill>
              <a:srgbClr val="C7C4C4"/>
            </a:solidFill>
            <a:tailEnd type="arrow"/>
          </a:ln>
        </p:spPr>
      </p:sp>
      <p:sp>
        <p:nvSpPr>
          <p:cNvPr id="13" name="n3"/>
          <p:cNvSpPr/>
          <p:nvPr/>
        </p:nvSpPr>
        <p:spPr>
          <a:xfrm>
            <a:off x="609600" y="2997200"/>
            <a:ext cx="41910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4" name="n3-t"/>
          <p:cNvSpPr txBox="1"/>
          <p:nvPr/>
        </p:nvSpPr>
        <p:spPr>
          <a:xfrm>
            <a:off x="812800" y="29972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采购找供应商询价</a:t>
            </a:r>
            <a:endParaRPr lang="en-US" sz="1250"/>
          </a:p>
        </p:txBody>
      </p:sp>
      <p:sp>
        <p:nvSpPr>
          <p:cNvPr id="15" name="ar3"/>
          <p:cNvSpPr/>
          <p:nvPr>
            <p:extLst>
              <p:ext uri="{F5677B7D-0D2A-4D9B-9A5C-6D8D7D0E5A5D}">
                <pptd:line encoding="base64url">eyJ2aWV3Qm94IjpbMiwxNF0sInBvaW50cyI6IjEsMCAxLDE0IiwiY3VydmUiOiJzaGFycCJ9</pptd:line>
              </p:ext>
            </p:extLst>
          </p:nvPr>
        </p:nvSpPr>
        <p:spPr>
          <a:xfrm>
            <a:off x="2692400" y="3479800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" h="14">
                <a:moveTo>
                  <a:pt x="1" y="0"/>
                </a:moveTo>
                <a:lnTo>
                  <a:pt x="1" y="14"/>
                </a:lnTo>
              </a:path>
            </a:pathLst>
          </a:custGeom>
          <a:noFill/>
          <a:ln w="12700">
            <a:solidFill>
              <a:srgbClr val="C7C4C4"/>
            </a:solidFill>
            <a:tailEnd type="arrow"/>
          </a:ln>
        </p:spPr>
      </p:sp>
      <p:sp>
        <p:nvSpPr>
          <p:cNvPr id="16" name="n4"/>
          <p:cNvSpPr/>
          <p:nvPr/>
        </p:nvSpPr>
        <p:spPr>
          <a:xfrm>
            <a:off x="609600" y="3657600"/>
            <a:ext cx="41910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7" name="n4-t"/>
          <p:cNvSpPr txBox="1"/>
          <p:nvPr/>
        </p:nvSpPr>
        <p:spPr>
          <a:xfrm>
            <a:off x="812800" y="36576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销售加上固定毛利</a:t>
            </a:r>
            <a:endParaRPr lang="en-US" sz="1250"/>
          </a:p>
        </p:txBody>
      </p:sp>
      <p:sp>
        <p:nvSpPr>
          <p:cNvPr id="18" name="ar4"/>
          <p:cNvSpPr/>
          <p:nvPr>
            <p:extLst>
              <p:ext uri="{F5677B7D-0D2A-4D9B-9A5C-6D8D7D0E5A5D}">
                <pptd:line encoding="base64url">eyJ2aWV3Qm94IjpbMiwxNF0sInBvaW50cyI6IjEsMCAxLDE0IiwiY3VydmUiOiJzaGFycCJ9</pptd:line>
              </p:ext>
            </p:extLst>
          </p:nvPr>
        </p:nvSpPr>
        <p:spPr>
          <a:xfrm>
            <a:off x="2692400" y="4140200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" h="14">
                <a:moveTo>
                  <a:pt x="1" y="0"/>
                </a:moveTo>
                <a:lnTo>
                  <a:pt x="1" y="14"/>
                </a:lnTo>
              </a:path>
            </a:pathLst>
          </a:custGeom>
          <a:noFill/>
          <a:ln w="12700">
            <a:solidFill>
              <a:srgbClr val="C7C4C4"/>
            </a:solidFill>
            <a:tailEnd type="arrow"/>
          </a:ln>
        </p:spPr>
      </p:sp>
      <p:sp>
        <p:nvSpPr>
          <p:cNvPr id="19" name="n5"/>
          <p:cNvSpPr/>
          <p:nvPr/>
        </p:nvSpPr>
        <p:spPr>
          <a:xfrm>
            <a:off x="609600" y="4318000"/>
            <a:ext cx="41910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0" name="n5-t"/>
          <p:cNvSpPr txBox="1"/>
          <p:nvPr/>
        </p:nvSpPr>
        <p:spPr>
          <a:xfrm>
            <a:off x="812800" y="43180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报价给客户</a:t>
            </a:r>
            <a:endParaRPr lang="en-US" sz="1250"/>
          </a:p>
        </p:txBody>
      </p:sp>
      <p:sp>
        <p:nvSpPr>
          <p:cNvPr id="21" name="ar5"/>
          <p:cNvSpPr/>
          <p:nvPr>
            <p:extLst>
              <p:ext uri="{F5677B7D-0D2A-4D9B-9A5C-6D8D7D0E5A5D}">
                <pptd:line encoding="base64url">eyJ2aWV3Qm94IjpbMiwxNF0sInBvaW50cyI6IjEsMCAxLDE0IiwiY3VydmUiOiJzaGFycCJ9</pptd:line>
              </p:ext>
            </p:extLst>
          </p:nvPr>
        </p:nvSpPr>
        <p:spPr>
          <a:xfrm>
            <a:off x="2692400" y="4800600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" h="14">
                <a:moveTo>
                  <a:pt x="1" y="0"/>
                </a:moveTo>
                <a:lnTo>
                  <a:pt x="1" y="14"/>
                </a:lnTo>
              </a:path>
            </a:pathLst>
          </a:custGeom>
          <a:noFill/>
          <a:ln w="12700">
            <a:solidFill>
              <a:srgbClr val="C7C4C4"/>
            </a:solidFill>
            <a:tailEnd type="arrow"/>
          </a:ln>
        </p:spPr>
      </p:sp>
      <p:sp>
        <p:nvSpPr>
          <p:cNvPr id="22" name="n6"/>
          <p:cNvSpPr/>
          <p:nvPr/>
        </p:nvSpPr>
        <p:spPr>
          <a:xfrm>
            <a:off x="609600" y="4978400"/>
            <a:ext cx="41910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3" name="n6-t"/>
          <p:cNvSpPr txBox="1"/>
          <p:nvPr/>
        </p:nvSpPr>
        <p:spPr>
          <a:xfrm>
            <a:off x="812800" y="49784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价格高，客户不接受</a:t>
            </a:r>
            <a:endParaRPr lang="en-US" sz="1250"/>
          </a:p>
        </p:txBody>
      </p:sp>
      <p:sp>
        <p:nvSpPr>
          <p:cNvPr id="24" name="ar6"/>
          <p:cNvSpPr/>
          <p:nvPr>
            <p:extLst>
              <p:ext uri="{F5677B7D-0D2A-4D9B-9A5C-6D8D7D0E5A5D}">
                <pptd:line encoding="base64url">eyJ2aWV3Qm94IjpbMiwxNF0sInBvaW50cyI6IjEsMCAxLDE0IiwiY3VydmUiOiJzaGFycCJ9</pptd:line>
              </p:ext>
            </p:extLst>
          </p:nvPr>
        </p:nvSpPr>
        <p:spPr>
          <a:xfrm>
            <a:off x="2692400" y="5461000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" h="14">
                <a:moveTo>
                  <a:pt x="1" y="0"/>
                </a:moveTo>
                <a:lnTo>
                  <a:pt x="1" y="14"/>
                </a:lnTo>
              </a:path>
            </a:pathLst>
          </a:custGeom>
          <a:noFill/>
          <a:ln w="12700">
            <a:solidFill>
              <a:srgbClr val="C7C4C4"/>
            </a:solidFill>
            <a:tailEnd type="arrow"/>
          </a:ln>
        </p:spPr>
      </p:sp>
      <p:sp>
        <p:nvSpPr>
          <p:cNvPr id="25" name="n7"/>
          <p:cNvSpPr/>
          <p:nvPr/>
        </p:nvSpPr>
        <p:spPr>
          <a:xfrm>
            <a:off x="609600" y="5638800"/>
            <a:ext cx="4191000" cy="4826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6" name="n7-t"/>
          <p:cNvSpPr txBox="1"/>
          <p:nvPr/>
        </p:nvSpPr>
        <p:spPr>
          <a:xfrm>
            <a:off x="812800" y="56388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合作结束</a:t>
            </a:r>
            <a:endParaRPr lang="en-US" sz="1250"/>
          </a:p>
        </p:txBody>
      </p:sp>
      <p:sp>
        <p:nvSpPr>
          <p:cNvPr id="27" name="panel"/>
          <p:cNvSpPr/>
          <p:nvPr/>
        </p:nvSpPr>
        <p:spPr>
          <a:xfrm>
            <a:off x="5257800" y="1676400"/>
            <a:ext cx="6324600" cy="44450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28" name="p-label"/>
          <p:cNvSpPr txBox="1"/>
          <p:nvPr/>
        </p:nvSpPr>
        <p:spPr>
          <a:xfrm>
            <a:off x="5664200" y="2006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FF4D4D"/>
                </a:solidFill>
                <a:latin typeface="MiSans"/>
                <a:ea typeface="MiSans"/>
              </a:rPr>
              <a:t>问题诊断</a:t>
            </a:r>
            <a:endParaRPr lang="en-US" sz="1100"/>
          </a:p>
        </p:txBody>
      </p:sp>
      <p:sp>
        <p:nvSpPr>
          <p:cNvPr id="29" name="p-main"/>
          <p:cNvSpPr txBox="1"/>
          <p:nvPr/>
        </p:nvSpPr>
        <p:spPr>
          <a:xfrm>
            <a:off x="5664200" y="2336800"/>
            <a:ext cx="5511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900" b="1">
                <a:solidFill>
                  <a:srgbClr val="140B0A"/>
                </a:solidFill>
                <a:latin typeface="MiSans"/>
                <a:ea typeface="MiSans"/>
              </a:rPr>
              <a:t>销售没有真正进入产品，</a:t>
            </a:r>
            <a:endParaRPr lang="en-US" sz="1900"/>
          </a:p>
          <a:p>
            <a:pPr>
              <a:lnSpc>
                <a:spcPct val="150000"/>
              </a:lnSpc>
            </a:pPr>
            <a:r>
              <a:rPr lang="en-US" sz="1900" b="1">
                <a:solidFill>
                  <a:srgbClr val="140B0A"/>
                </a:solidFill>
                <a:latin typeface="MiSans"/>
                <a:ea typeface="MiSans"/>
              </a:rPr>
              <a:t>也没有进入供应链。</a:t>
            </a:r>
            <a:endParaRPr lang="en-US" sz="1900"/>
          </a:p>
        </p:txBody>
      </p:sp>
      <p:sp>
        <p:nvSpPr>
          <p:cNvPr id="30" name="p-line"/>
          <p:cNvSpPr/>
          <p:nvPr/>
        </p:nvSpPr>
        <p:spPr>
          <a:xfrm>
            <a:off x="5664200" y="3327400"/>
            <a:ext cx="5511800" cy="12700"/>
          </a:xfrm>
          <a:prstGeom prst="rect">
            <a:avLst/>
          </a:prstGeom>
          <a:solidFill>
            <a:srgbClr val="FED8D8"/>
          </a:solidFill>
          <a:ln>
            <a:noFill/>
          </a:ln>
        </p:spPr>
      </p:sp>
      <p:sp>
        <p:nvSpPr>
          <p:cNvPr id="31" name="p1-sq"/>
          <p:cNvSpPr/>
          <p:nvPr/>
        </p:nvSpPr>
        <p:spPr>
          <a:xfrm>
            <a:off x="5664200" y="36703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32" name="p1"/>
          <p:cNvSpPr txBox="1"/>
          <p:nvPr/>
        </p:nvSpPr>
        <p:spPr>
          <a:xfrm>
            <a:off x="5867400" y="35814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不拆解成本，就只能接受供应商的报价</a:t>
            </a:r>
            <a:endParaRPr lang="en-US" sz="1250"/>
          </a:p>
        </p:txBody>
      </p:sp>
      <p:sp>
        <p:nvSpPr>
          <p:cNvPr id="33" name="p2-sq"/>
          <p:cNvSpPr/>
          <p:nvPr/>
        </p:nvSpPr>
        <p:spPr>
          <a:xfrm>
            <a:off x="5664200" y="41783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34" name="p2"/>
          <p:cNvSpPr txBox="1"/>
          <p:nvPr/>
        </p:nvSpPr>
        <p:spPr>
          <a:xfrm>
            <a:off x="5867400" y="40894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不理解产品，就无法回答客户的追问</a:t>
            </a:r>
            <a:endParaRPr lang="en-US" sz="1250"/>
          </a:p>
        </p:txBody>
      </p:sp>
      <p:sp>
        <p:nvSpPr>
          <p:cNvPr id="35" name="p3-sq"/>
          <p:cNvSpPr/>
          <p:nvPr/>
        </p:nvSpPr>
        <p:spPr>
          <a:xfrm>
            <a:off x="5664200" y="46863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36" name="p3"/>
          <p:cNvSpPr txBox="1"/>
          <p:nvPr/>
        </p:nvSpPr>
        <p:spPr>
          <a:xfrm>
            <a:off x="5867400" y="45974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不进入供应链，合作随时可以被替代</a:t>
            </a:r>
            <a:endParaRPr lang="en-US" sz="1250"/>
          </a:p>
        </p:txBody>
      </p:sp>
      <p:sp>
        <p:nvSpPr>
          <p:cNvPr id="37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38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03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01 · 理念重塑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经营型销售的新模式：从需求到整体方案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销售不再只是传递价格——销售要参与方案设计</a:t>
            </a:r>
            <a:endParaRPr lang="en-US" sz="1250"/>
          </a:p>
        </p:txBody>
      </p:sp>
      <p:sp>
        <p:nvSpPr>
          <p:cNvPr id="7" name="n1"/>
          <p:cNvSpPr/>
          <p:nvPr/>
        </p:nvSpPr>
        <p:spPr>
          <a:xfrm>
            <a:off x="609600" y="1676400"/>
            <a:ext cx="41910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8" name="n1-t"/>
          <p:cNvSpPr txBox="1"/>
          <p:nvPr/>
        </p:nvSpPr>
        <p:spPr>
          <a:xfrm>
            <a:off x="812800" y="16764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客户提出需求</a:t>
            </a:r>
            <a:endParaRPr lang="en-US" sz="1250"/>
          </a:p>
        </p:txBody>
      </p:sp>
      <p:sp>
        <p:nvSpPr>
          <p:cNvPr id="9" name="ar1"/>
          <p:cNvSpPr/>
          <p:nvPr>
            <p:extLst>
              <p:ext uri="{F5677B7D-0D2A-4D9B-9A5C-6D8D7D0E5A5D}">
                <pptd:line encoding="base64url">eyJ2aWV3Qm94IjpbMiwxNF0sInBvaW50cyI6IjEsMCAxLDE0IiwiY3VydmUiOiJzaGFycCJ9</pptd:line>
              </p:ext>
            </p:extLst>
          </p:nvPr>
        </p:nvSpPr>
        <p:spPr>
          <a:xfrm>
            <a:off x="2692400" y="2159000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" h="14">
                <a:moveTo>
                  <a:pt x="1" y="0"/>
                </a:moveTo>
                <a:lnTo>
                  <a:pt x="1" y="14"/>
                </a:lnTo>
              </a:path>
            </a:pathLst>
          </a:custGeom>
          <a:noFill/>
          <a:ln w="12700">
            <a:solidFill>
              <a:srgbClr val="C7C4C4"/>
            </a:solidFill>
            <a:tailEnd type="arrow"/>
          </a:ln>
        </p:spPr>
      </p:sp>
      <p:sp>
        <p:nvSpPr>
          <p:cNvPr id="10" name="n2"/>
          <p:cNvSpPr/>
          <p:nvPr/>
        </p:nvSpPr>
        <p:spPr>
          <a:xfrm>
            <a:off x="609600" y="2336800"/>
            <a:ext cx="41910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1" name="n2-t"/>
          <p:cNvSpPr txBox="1"/>
          <p:nvPr/>
        </p:nvSpPr>
        <p:spPr>
          <a:xfrm>
            <a:off x="812800" y="23368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理解产品用途与客户背景</a:t>
            </a:r>
            <a:endParaRPr lang="en-US" sz="1250"/>
          </a:p>
        </p:txBody>
      </p:sp>
      <p:sp>
        <p:nvSpPr>
          <p:cNvPr id="12" name="ar2"/>
          <p:cNvSpPr/>
          <p:nvPr>
            <p:extLst>
              <p:ext uri="{F5677B7D-0D2A-4D9B-9A5C-6D8D7D0E5A5D}">
                <pptd:line encoding="base64url">eyJ2aWV3Qm94IjpbMiwxNF0sInBvaW50cyI6IjEsMCAxLDE0IiwiY3VydmUiOiJzaGFycCJ9</pptd:line>
              </p:ext>
            </p:extLst>
          </p:nvPr>
        </p:nvSpPr>
        <p:spPr>
          <a:xfrm>
            <a:off x="2692400" y="2819400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" h="14">
                <a:moveTo>
                  <a:pt x="1" y="0"/>
                </a:moveTo>
                <a:lnTo>
                  <a:pt x="1" y="14"/>
                </a:lnTo>
              </a:path>
            </a:pathLst>
          </a:custGeom>
          <a:noFill/>
          <a:ln w="12700">
            <a:solidFill>
              <a:srgbClr val="C7C4C4"/>
            </a:solidFill>
            <a:tailEnd type="arrow"/>
          </a:ln>
        </p:spPr>
      </p:sp>
      <p:sp>
        <p:nvSpPr>
          <p:cNvPr id="13" name="n3"/>
          <p:cNvSpPr/>
          <p:nvPr/>
        </p:nvSpPr>
        <p:spPr>
          <a:xfrm>
            <a:off x="609600" y="2997200"/>
            <a:ext cx="41910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4" name="n3-t"/>
          <p:cNvSpPr txBox="1"/>
          <p:nvPr/>
        </p:nvSpPr>
        <p:spPr>
          <a:xfrm>
            <a:off x="812800" y="29972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拆解产品成本结构</a:t>
            </a:r>
            <a:endParaRPr lang="en-US" sz="1250"/>
          </a:p>
        </p:txBody>
      </p:sp>
      <p:sp>
        <p:nvSpPr>
          <p:cNvPr id="15" name="ar3"/>
          <p:cNvSpPr/>
          <p:nvPr>
            <p:extLst>
              <p:ext uri="{F5677B7D-0D2A-4D9B-9A5C-6D8D7D0E5A5D}">
                <pptd:line encoding="base64url">eyJ2aWV3Qm94IjpbMiwxNF0sInBvaW50cyI6IjEsMCAxLDE0IiwiY3VydmUiOiJzaGFycCJ9</pptd:line>
              </p:ext>
            </p:extLst>
          </p:nvPr>
        </p:nvSpPr>
        <p:spPr>
          <a:xfrm>
            <a:off x="2692400" y="3479800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" h="14">
                <a:moveTo>
                  <a:pt x="1" y="0"/>
                </a:moveTo>
                <a:lnTo>
                  <a:pt x="1" y="14"/>
                </a:lnTo>
              </a:path>
            </a:pathLst>
          </a:custGeom>
          <a:noFill/>
          <a:ln w="12700">
            <a:solidFill>
              <a:srgbClr val="C7C4C4"/>
            </a:solidFill>
            <a:tailEnd type="arrow"/>
          </a:ln>
        </p:spPr>
      </p:sp>
      <p:sp>
        <p:nvSpPr>
          <p:cNvPr id="16" name="n4"/>
          <p:cNvSpPr/>
          <p:nvPr/>
        </p:nvSpPr>
        <p:spPr>
          <a:xfrm>
            <a:off x="609600" y="3657600"/>
            <a:ext cx="41910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7" name="n4-t"/>
          <p:cNvSpPr txBox="1"/>
          <p:nvPr/>
        </p:nvSpPr>
        <p:spPr>
          <a:xfrm>
            <a:off x="812800" y="36576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寻找供应链优化空间</a:t>
            </a:r>
            <a:endParaRPr lang="en-US" sz="1250"/>
          </a:p>
        </p:txBody>
      </p:sp>
      <p:sp>
        <p:nvSpPr>
          <p:cNvPr id="18" name="ar4"/>
          <p:cNvSpPr/>
          <p:nvPr>
            <p:extLst>
              <p:ext uri="{F5677B7D-0D2A-4D9B-9A5C-6D8D7D0E5A5D}">
                <pptd:line encoding="base64url">eyJ2aWV3Qm94IjpbMiwxNF0sInBvaW50cyI6IjEsMCAxLDE0IiwiY3VydmUiOiJzaGFycCJ9</pptd:line>
              </p:ext>
            </p:extLst>
          </p:nvPr>
        </p:nvSpPr>
        <p:spPr>
          <a:xfrm>
            <a:off x="2692400" y="4140200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" h="14">
                <a:moveTo>
                  <a:pt x="1" y="0"/>
                </a:moveTo>
                <a:lnTo>
                  <a:pt x="1" y="14"/>
                </a:lnTo>
              </a:path>
            </a:pathLst>
          </a:custGeom>
          <a:noFill/>
          <a:ln w="12700">
            <a:solidFill>
              <a:srgbClr val="C7C4C4"/>
            </a:solidFill>
            <a:tailEnd type="arrow"/>
          </a:ln>
        </p:spPr>
      </p:sp>
      <p:sp>
        <p:nvSpPr>
          <p:cNvPr id="19" name="n5"/>
          <p:cNvSpPr/>
          <p:nvPr/>
        </p:nvSpPr>
        <p:spPr>
          <a:xfrm>
            <a:off x="609600" y="4318000"/>
            <a:ext cx="41910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0" name="n5-t"/>
          <p:cNvSpPr txBox="1"/>
          <p:nvPr/>
        </p:nvSpPr>
        <p:spPr>
          <a:xfrm>
            <a:off x="812800" y="43180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判断产品在客户整体业务中的价值</a:t>
            </a:r>
            <a:endParaRPr lang="en-US" sz="1250"/>
          </a:p>
        </p:txBody>
      </p:sp>
      <p:sp>
        <p:nvSpPr>
          <p:cNvPr id="21" name="ar5"/>
          <p:cNvSpPr/>
          <p:nvPr>
            <p:extLst>
              <p:ext uri="{F5677B7D-0D2A-4D9B-9A5C-6D8D7D0E5A5D}">
                <pptd:line encoding="base64url">eyJ2aWV3Qm94IjpbMiwxNF0sInBvaW50cyI6IjEsMCAxLDE0IiwiY3VydmUiOiJzaGFycCJ9</pptd:line>
              </p:ext>
            </p:extLst>
          </p:nvPr>
        </p:nvSpPr>
        <p:spPr>
          <a:xfrm>
            <a:off x="2692400" y="4800600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" h="14">
                <a:moveTo>
                  <a:pt x="1" y="0"/>
                </a:moveTo>
                <a:lnTo>
                  <a:pt x="1" y="14"/>
                </a:lnTo>
              </a:path>
            </a:pathLst>
          </a:custGeom>
          <a:noFill/>
          <a:ln w="12700">
            <a:solidFill>
              <a:srgbClr val="C7C4C4"/>
            </a:solidFill>
            <a:tailEnd type="arrow"/>
          </a:ln>
        </p:spPr>
      </p:sp>
      <p:sp>
        <p:nvSpPr>
          <p:cNvPr id="22" name="n6"/>
          <p:cNvSpPr/>
          <p:nvPr/>
        </p:nvSpPr>
        <p:spPr>
          <a:xfrm>
            <a:off x="609600" y="4978400"/>
            <a:ext cx="41910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3" name="n6-t"/>
          <p:cNvSpPr txBox="1"/>
          <p:nvPr/>
        </p:nvSpPr>
        <p:spPr>
          <a:xfrm>
            <a:off x="812800" y="49784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设计整体合作方案</a:t>
            </a:r>
            <a:endParaRPr lang="en-US" sz="1250"/>
          </a:p>
        </p:txBody>
      </p:sp>
      <p:sp>
        <p:nvSpPr>
          <p:cNvPr id="24" name="ar6"/>
          <p:cNvSpPr/>
          <p:nvPr>
            <p:extLst>
              <p:ext uri="{F5677B7D-0D2A-4D9B-9A5C-6D8D7D0E5A5D}">
                <pptd:line encoding="base64url">eyJ2aWV3Qm94IjpbMiwxNF0sInBvaW50cyI6IjEsMCAxLDE0IiwiY3VydmUiOiJzaGFycCJ9</pptd:line>
              </p:ext>
            </p:extLst>
          </p:nvPr>
        </p:nvSpPr>
        <p:spPr>
          <a:xfrm>
            <a:off x="2692400" y="5461000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" h="14">
                <a:moveTo>
                  <a:pt x="1" y="0"/>
                </a:moveTo>
                <a:lnTo>
                  <a:pt x="1" y="14"/>
                </a:lnTo>
              </a:path>
            </a:pathLst>
          </a:custGeom>
          <a:noFill/>
          <a:ln w="12700">
            <a:solidFill>
              <a:srgbClr val="C7C4C4"/>
            </a:solidFill>
            <a:tailEnd type="arrow"/>
          </a:ln>
        </p:spPr>
      </p:sp>
      <p:sp>
        <p:nvSpPr>
          <p:cNvPr id="25" name="n7"/>
          <p:cNvSpPr/>
          <p:nvPr/>
        </p:nvSpPr>
        <p:spPr>
          <a:xfrm>
            <a:off x="609600" y="5638800"/>
            <a:ext cx="4191000" cy="482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6" name="n7-t"/>
          <p:cNvSpPr txBox="1"/>
          <p:nvPr/>
        </p:nvSpPr>
        <p:spPr>
          <a:xfrm>
            <a:off x="812800" y="5638800"/>
            <a:ext cx="3784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从单品进入更多产品线</a:t>
            </a:r>
            <a:endParaRPr lang="en-US" sz="1250"/>
          </a:p>
        </p:txBody>
      </p:sp>
      <p:sp>
        <p:nvSpPr>
          <p:cNvPr id="27" name="panel"/>
          <p:cNvSpPr/>
          <p:nvPr/>
        </p:nvSpPr>
        <p:spPr>
          <a:xfrm>
            <a:off x="5257800" y="1676400"/>
            <a:ext cx="6324600" cy="44450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8" name="p-bar"/>
          <p:cNvSpPr/>
          <p:nvPr/>
        </p:nvSpPr>
        <p:spPr>
          <a:xfrm>
            <a:off x="5257800" y="1676400"/>
            <a:ext cx="50800" cy="44450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9" name="p-label"/>
          <p:cNvSpPr txBox="1"/>
          <p:nvPr/>
        </p:nvSpPr>
        <p:spPr>
          <a:xfrm>
            <a:off x="5664200" y="2006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6E6666"/>
                </a:solidFill>
                <a:latin typeface="MiSans"/>
                <a:ea typeface="MiSans"/>
              </a:rPr>
              <a:t>本质变化</a:t>
            </a:r>
            <a:endParaRPr lang="en-US" sz="1100"/>
          </a:p>
        </p:txBody>
      </p:sp>
      <p:sp>
        <p:nvSpPr>
          <p:cNvPr id="30" name="p-main"/>
          <p:cNvSpPr txBox="1"/>
          <p:nvPr/>
        </p:nvSpPr>
        <p:spPr>
          <a:xfrm>
            <a:off x="5664200" y="2336800"/>
            <a:ext cx="5511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900" b="1">
                <a:solidFill>
                  <a:srgbClr val="140B0A"/>
                </a:solidFill>
                <a:latin typeface="MiSans"/>
                <a:ea typeface="MiSans"/>
              </a:rPr>
              <a:t>销售不再只是传递价格，</a:t>
            </a:r>
            <a:endParaRPr lang="en-US" sz="1900"/>
          </a:p>
          <a:p>
            <a:pPr>
              <a:lnSpc>
                <a:spcPct val="150000"/>
              </a:lnSpc>
            </a:pPr>
            <a:r>
              <a:rPr lang="en-US" sz="1900" b="1">
                <a:solidFill>
                  <a:srgbClr val="140B0A"/>
                </a:solidFill>
                <a:latin typeface="MiSans"/>
                <a:ea typeface="MiSans"/>
              </a:rPr>
              <a:t>销售要参与方案设计。</a:t>
            </a:r>
            <a:endParaRPr lang="en-US" sz="1900"/>
          </a:p>
        </p:txBody>
      </p:sp>
      <p:sp>
        <p:nvSpPr>
          <p:cNvPr id="31" name="p-line"/>
          <p:cNvSpPr/>
          <p:nvPr/>
        </p:nvSpPr>
        <p:spPr>
          <a:xfrm>
            <a:off x="5664200" y="3327400"/>
            <a:ext cx="5511800" cy="12700"/>
          </a:xfrm>
          <a:prstGeom prst="rect">
            <a:avLst/>
          </a:prstGeom>
          <a:solidFill>
            <a:srgbClr val="DDDBDB"/>
          </a:solidFill>
          <a:ln>
            <a:noFill/>
          </a:ln>
        </p:spPr>
      </p:sp>
      <p:sp>
        <p:nvSpPr>
          <p:cNvPr id="32" name="p1-sq"/>
          <p:cNvSpPr/>
          <p:nvPr/>
        </p:nvSpPr>
        <p:spPr>
          <a:xfrm>
            <a:off x="5664200" y="36703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33" name="p1"/>
          <p:cNvSpPr txBox="1"/>
          <p:nvPr/>
        </p:nvSpPr>
        <p:spPr>
          <a:xfrm>
            <a:off x="5867400" y="35814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每一次报价，都基于对成本结构的理解</a:t>
            </a:r>
            <a:endParaRPr lang="en-US" sz="1250"/>
          </a:p>
        </p:txBody>
      </p:sp>
      <p:sp>
        <p:nvSpPr>
          <p:cNvPr id="34" name="p2-sq"/>
          <p:cNvSpPr/>
          <p:nvPr/>
        </p:nvSpPr>
        <p:spPr>
          <a:xfrm>
            <a:off x="5664200" y="41783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35" name="p2"/>
          <p:cNvSpPr txBox="1"/>
          <p:nvPr/>
        </p:nvSpPr>
        <p:spPr>
          <a:xfrm>
            <a:off x="5867400" y="40894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每一个单品，都是进入更多合作环节的入口</a:t>
            </a:r>
            <a:endParaRPr lang="en-US" sz="1250"/>
          </a:p>
        </p:txBody>
      </p:sp>
      <p:sp>
        <p:nvSpPr>
          <p:cNvPr id="36" name="p3-sq"/>
          <p:cNvSpPr/>
          <p:nvPr/>
        </p:nvSpPr>
        <p:spPr>
          <a:xfrm>
            <a:off x="5664200" y="46863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37" name="p3"/>
          <p:cNvSpPr txBox="1"/>
          <p:nvPr/>
        </p:nvSpPr>
        <p:spPr>
          <a:xfrm>
            <a:off x="5867400" y="45974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每一次交付，都在为长期信任加分</a:t>
            </a:r>
            <a:endParaRPr lang="en-US" sz="1250"/>
          </a:p>
        </p:txBody>
      </p:sp>
      <p:sp>
        <p:nvSpPr>
          <p:cNvPr id="38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39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04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02 · 案例拆解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真实案例：从冻干球到软管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合作建立之后，客户提出了软管询价——表面看，这是一单没有价值的生意</a:t>
            </a:r>
            <a:endParaRPr lang="en-US" sz="1250"/>
          </a:p>
        </p:txBody>
      </p:sp>
      <p:sp>
        <p:nvSpPr>
          <p:cNvPr id="7" name="c1"/>
          <p:cNvSpPr/>
          <p:nvPr/>
        </p:nvSpPr>
        <p:spPr>
          <a:xfrm>
            <a:off x="609600" y="1676400"/>
            <a:ext cx="3517900" cy="1371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8" name="c1-label"/>
          <p:cNvSpPr txBox="1"/>
          <p:nvPr/>
        </p:nvSpPr>
        <p:spPr>
          <a:xfrm>
            <a:off x="863600" y="1905000"/>
            <a:ext cx="30099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6E6666"/>
                </a:solidFill>
                <a:latin typeface="MiSans"/>
                <a:ea typeface="MiSans"/>
              </a:rPr>
              <a:t>客户可接受价格</a:t>
            </a:r>
            <a:endParaRPr lang="en-US" sz="1050"/>
          </a:p>
        </p:txBody>
      </p:sp>
      <p:sp>
        <p:nvSpPr>
          <p:cNvPr id="9" name="c1-num"/>
          <p:cNvSpPr txBox="1"/>
          <p:nvPr/>
        </p:nvSpPr>
        <p:spPr>
          <a:xfrm>
            <a:off x="863600" y="2184400"/>
            <a:ext cx="30099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140B0A"/>
                </a:solidFill>
                <a:latin typeface="MiSans"/>
                <a:ea typeface="MiSans"/>
              </a:rPr>
              <a:t>≈0.30</a:t>
            </a:r>
            <a:r>
              <a:rPr lang="en-US" sz="1500">
                <a:solidFill>
                  <a:srgbClr val="140B0A"/>
                </a:solidFill>
                <a:latin typeface="MiSans"/>
                <a:ea typeface="MiSans"/>
              </a:rPr>
              <a:t> 元/件</a:t>
            </a:r>
            <a:endParaRPr lang="en-US" sz="1600"/>
          </a:p>
        </p:txBody>
      </p:sp>
      <p:sp>
        <p:nvSpPr>
          <p:cNvPr id="10" name="c2"/>
          <p:cNvSpPr/>
          <p:nvPr/>
        </p:nvSpPr>
        <p:spPr>
          <a:xfrm>
            <a:off x="4330700" y="1676400"/>
            <a:ext cx="3517900" cy="1371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1" name="c2-label"/>
          <p:cNvSpPr txBox="1"/>
          <p:nvPr/>
        </p:nvSpPr>
        <p:spPr>
          <a:xfrm>
            <a:off x="4584700" y="1905000"/>
            <a:ext cx="30099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6E6666"/>
                </a:solidFill>
                <a:latin typeface="MiSans"/>
                <a:ea typeface="MiSans"/>
              </a:rPr>
              <a:t>供应商报价</a:t>
            </a:r>
            <a:endParaRPr lang="en-US" sz="1050"/>
          </a:p>
        </p:txBody>
      </p:sp>
      <p:sp>
        <p:nvSpPr>
          <p:cNvPr id="12" name="c2-num"/>
          <p:cNvSpPr txBox="1"/>
          <p:nvPr/>
        </p:nvSpPr>
        <p:spPr>
          <a:xfrm>
            <a:off x="4584700" y="2184400"/>
            <a:ext cx="30099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140B0A"/>
                </a:solidFill>
                <a:latin typeface="MiSans"/>
                <a:ea typeface="MiSans"/>
              </a:rPr>
              <a:t>≈0.29</a:t>
            </a:r>
            <a:r>
              <a:rPr lang="en-US" sz="1500">
                <a:solidFill>
                  <a:srgbClr val="140B0A"/>
                </a:solidFill>
                <a:latin typeface="MiSans"/>
                <a:ea typeface="MiSans"/>
              </a:rPr>
              <a:t> 元/件</a:t>
            </a:r>
            <a:endParaRPr lang="en-US" sz="1600"/>
          </a:p>
        </p:txBody>
      </p:sp>
      <p:sp>
        <p:nvSpPr>
          <p:cNvPr id="13" name="c3"/>
          <p:cNvSpPr/>
          <p:nvPr/>
        </p:nvSpPr>
        <p:spPr>
          <a:xfrm>
            <a:off x="8051800" y="1676400"/>
            <a:ext cx="3530600" cy="1371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4" name="c3-label"/>
          <p:cNvSpPr txBox="1"/>
          <p:nvPr/>
        </p:nvSpPr>
        <p:spPr>
          <a:xfrm>
            <a:off x="8305800" y="1905000"/>
            <a:ext cx="3022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E3E3"/>
                </a:solidFill>
                <a:latin typeface="MiSans"/>
                <a:ea typeface="MiSans"/>
              </a:rPr>
              <a:t>单品毛利空间</a:t>
            </a:r>
            <a:endParaRPr lang="en-US" sz="1050"/>
          </a:p>
        </p:txBody>
      </p:sp>
      <p:sp>
        <p:nvSpPr>
          <p:cNvPr id="15" name="c3-num"/>
          <p:cNvSpPr txBox="1"/>
          <p:nvPr/>
        </p:nvSpPr>
        <p:spPr>
          <a:xfrm>
            <a:off x="8305800" y="2184400"/>
            <a:ext cx="3022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FFFFFF"/>
                </a:solidFill>
                <a:latin typeface="MiSans"/>
                <a:ea typeface="MiSans"/>
              </a:rPr>
              <a:t>≈0.01</a:t>
            </a:r>
            <a:r>
              <a:rPr lang="en-US" sz="1500">
                <a:solidFill>
                  <a:srgbClr val="FFFFFF"/>
                </a:solidFill>
                <a:latin typeface="MiSans"/>
                <a:ea typeface="MiSans"/>
              </a:rPr>
              <a:t> 元/件</a:t>
            </a:r>
            <a:endParaRPr lang="en-US" sz="1600"/>
          </a:p>
        </p:txBody>
      </p:sp>
      <p:sp>
        <p:nvSpPr>
          <p:cNvPr id="16" name="c-note"/>
          <p:cNvSpPr txBox="1"/>
          <p:nvPr/>
        </p:nvSpPr>
        <p:spPr>
          <a:xfrm>
            <a:off x="609600" y="31496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注：按案例口径的示意测算（0.30 − 0.29），用于说明单品利润极低</a:t>
            </a:r>
            <a:endParaRPr lang="en-US" sz="900"/>
          </a:p>
        </p:txBody>
      </p:sp>
      <p:sp>
        <p:nvSpPr>
          <p:cNvPr id="17" name="bg"/>
          <p:cNvSpPr txBox="1"/>
          <p:nvPr/>
        </p:nvSpPr>
        <p:spPr>
          <a:xfrm>
            <a:off x="609600" y="3581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F2929"/>
                </a:solidFill>
                <a:latin typeface="MiSans"/>
                <a:ea typeface="MiSans"/>
              </a:rPr>
              <a:t>案例背景：</a:t>
            </a: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客户最初与我们合作的是冻干球。合作建立以后，客户又提出软管询价。</a:t>
            </a:r>
            <a:endParaRPr lang="en-US" sz="1250"/>
          </a:p>
        </p:txBody>
      </p:sp>
      <p:sp>
        <p:nvSpPr>
          <p:cNvPr id="18" name="pl"/>
          <p:cNvSpPr/>
          <p:nvPr/>
        </p:nvSpPr>
        <p:spPr>
          <a:xfrm>
            <a:off x="609600" y="4089400"/>
            <a:ext cx="5207000" cy="1879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9" name="pl-label"/>
          <p:cNvSpPr txBox="1"/>
          <p:nvPr/>
        </p:nvSpPr>
        <p:spPr>
          <a:xfrm>
            <a:off x="863600" y="4318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6E6666"/>
                </a:solidFill>
                <a:latin typeface="MiSans"/>
                <a:ea typeface="MiSans"/>
              </a:rPr>
              <a:t>普通销售的判断</a:t>
            </a:r>
            <a:endParaRPr lang="en-US" sz="1100"/>
          </a:p>
        </p:txBody>
      </p:sp>
      <p:sp>
        <p:nvSpPr>
          <p:cNvPr id="20" name="pl-quote"/>
          <p:cNvSpPr txBox="1"/>
          <p:nvPr/>
        </p:nvSpPr>
        <p:spPr>
          <a:xfrm>
            <a:off x="863600" y="46482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40B0A"/>
                </a:solidFill>
                <a:latin typeface="MiSans"/>
                <a:ea typeface="MiSans"/>
              </a:rPr>
              <a:t>“毛利太低，这个订单没有价值。”</a:t>
            </a:r>
            <a:endParaRPr lang="en-US" sz="1600"/>
          </a:p>
        </p:txBody>
      </p:sp>
      <p:sp>
        <p:nvSpPr>
          <p:cNvPr id="21" name="pl-note"/>
          <p:cNvSpPr txBox="1"/>
          <p:nvPr/>
        </p:nvSpPr>
        <p:spPr>
          <a:xfrm>
            <a:off x="863600" y="5130800"/>
            <a:ext cx="469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在这里停止，合作也就到此为止——</a:t>
            </a:r>
            <a:endParaRPr lang="en-US" sz="1150"/>
          </a:p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客户只会把你当作众多报价员之一。</a:t>
            </a:r>
            <a:endParaRPr lang="en-US" sz="1150"/>
          </a:p>
        </p:txBody>
      </p:sp>
      <p:sp>
        <p:nvSpPr>
          <p:cNvPr id="22" name="pr"/>
          <p:cNvSpPr/>
          <p:nvPr/>
        </p:nvSpPr>
        <p:spPr>
          <a:xfrm>
            <a:off x="6375400" y="4089400"/>
            <a:ext cx="5207000" cy="18796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3" name="pr-label"/>
          <p:cNvSpPr txBox="1"/>
          <p:nvPr/>
        </p:nvSpPr>
        <p:spPr>
          <a:xfrm>
            <a:off x="6629400" y="4318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C9BDBB"/>
                </a:solidFill>
                <a:latin typeface="MiSans"/>
                <a:ea typeface="MiSans"/>
              </a:rPr>
              <a:t>经营型销售的判断</a:t>
            </a:r>
            <a:endParaRPr lang="en-US" sz="1100"/>
          </a:p>
        </p:txBody>
      </p:sp>
      <p:sp>
        <p:nvSpPr>
          <p:cNvPr id="24" name="pr-quote"/>
          <p:cNvSpPr txBox="1"/>
          <p:nvPr/>
        </p:nvSpPr>
        <p:spPr>
          <a:xfrm>
            <a:off x="6629400" y="46482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MiSans"/>
                <a:ea typeface="MiSans"/>
              </a:rPr>
              <a:t>不会在这里停止。</a:t>
            </a:r>
            <a:endParaRPr lang="en-US" sz="1600"/>
          </a:p>
        </p:txBody>
      </p:sp>
      <p:sp>
        <p:nvSpPr>
          <p:cNvPr id="25" name="pr-note"/>
          <p:cNvSpPr txBox="1"/>
          <p:nvPr/>
        </p:nvSpPr>
        <p:spPr>
          <a:xfrm>
            <a:off x="6629400" y="5130800"/>
            <a:ext cx="469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>
                <a:solidFill>
                  <a:srgbClr val="C9BDBB"/>
                </a:solidFill>
                <a:latin typeface="MiSans"/>
                <a:ea typeface="MiSans"/>
              </a:rPr>
              <a:t>继续追问：这个价格背后的成本结构是什么？</a:t>
            </a:r>
            <a:endParaRPr lang="en-US" sz="1150"/>
          </a:p>
          <a:p>
            <a:pPr>
              <a:lnSpc>
                <a:spcPct val="160000"/>
              </a:lnSpc>
            </a:pPr>
            <a:r>
              <a:rPr lang="en-US" sz="1150">
                <a:solidFill>
                  <a:srgbClr val="C9BDBB"/>
                </a:solidFill>
                <a:latin typeface="MiSans"/>
                <a:ea typeface="MiSans"/>
              </a:rPr>
              <a:t>还有没有优化和切入的空间？</a:t>
            </a:r>
            <a:endParaRPr lang="en-US" sz="1150"/>
          </a:p>
        </p:txBody>
      </p:sp>
      <p:sp>
        <p:nvSpPr>
          <p:cNvPr id="26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7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05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02 · 案例拆解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不要接受供应商给出的第一个答案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面对 0.29 元的报价，经营型销售要继续追问九个问题</a:t>
            </a:r>
            <a:endParaRPr lang="en-US" sz="1250"/>
          </a:p>
        </p:txBody>
      </p:sp>
      <p:sp>
        <p:nvSpPr>
          <p:cNvPr id="7" name="q1-n"/>
          <p:cNvSpPr txBox="1"/>
          <p:nvPr/>
        </p:nvSpPr>
        <p:spPr>
          <a:xfrm>
            <a:off x="609600" y="17780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01</a:t>
            </a:r>
            <a:endParaRPr lang="en-US" sz="1500"/>
          </a:p>
        </p:txBody>
      </p:sp>
      <p:sp>
        <p:nvSpPr>
          <p:cNvPr id="8" name="q1"/>
          <p:cNvSpPr txBox="1"/>
          <p:nvPr/>
        </p:nvSpPr>
        <p:spPr>
          <a:xfrm>
            <a:off x="1092200" y="1803400"/>
            <a:ext cx="30353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为什么是 0.29 元？</a:t>
            </a:r>
            <a:endParaRPr lang="en-US" sz="1250"/>
          </a:p>
        </p:txBody>
      </p:sp>
      <p:sp>
        <p:nvSpPr>
          <p:cNvPr id="9" name="q2-n"/>
          <p:cNvSpPr txBox="1"/>
          <p:nvPr/>
        </p:nvSpPr>
        <p:spPr>
          <a:xfrm>
            <a:off x="4330700" y="17780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02</a:t>
            </a:r>
            <a:endParaRPr lang="en-US" sz="1500"/>
          </a:p>
        </p:txBody>
      </p:sp>
      <p:sp>
        <p:nvSpPr>
          <p:cNvPr id="10" name="q2"/>
          <p:cNvSpPr txBox="1"/>
          <p:nvPr/>
        </p:nvSpPr>
        <p:spPr>
          <a:xfrm>
            <a:off x="4813300" y="1803400"/>
            <a:ext cx="30353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管身成本是多少？</a:t>
            </a:r>
            <a:endParaRPr lang="en-US" sz="1250"/>
          </a:p>
        </p:txBody>
      </p:sp>
      <p:sp>
        <p:nvSpPr>
          <p:cNvPr id="11" name="q3-n"/>
          <p:cNvSpPr txBox="1"/>
          <p:nvPr/>
        </p:nvSpPr>
        <p:spPr>
          <a:xfrm>
            <a:off x="8051800" y="17780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03</a:t>
            </a:r>
            <a:endParaRPr lang="en-US" sz="1500"/>
          </a:p>
        </p:txBody>
      </p:sp>
      <p:sp>
        <p:nvSpPr>
          <p:cNvPr id="12" name="q3"/>
          <p:cNvSpPr txBox="1"/>
          <p:nvPr/>
        </p:nvSpPr>
        <p:spPr>
          <a:xfrm>
            <a:off x="8534400" y="1803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管盖成本是多少？</a:t>
            </a:r>
            <a:endParaRPr lang="en-US" sz="1250"/>
          </a:p>
        </p:txBody>
      </p:sp>
      <p:sp>
        <p:nvSpPr>
          <p:cNvPr id="13" name="q4-n"/>
          <p:cNvSpPr txBox="1"/>
          <p:nvPr/>
        </p:nvSpPr>
        <p:spPr>
          <a:xfrm>
            <a:off x="609600" y="29464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04</a:t>
            </a:r>
            <a:endParaRPr lang="en-US" sz="1500"/>
          </a:p>
        </p:txBody>
      </p:sp>
      <p:sp>
        <p:nvSpPr>
          <p:cNvPr id="14" name="q4"/>
          <p:cNvSpPr txBox="1"/>
          <p:nvPr/>
        </p:nvSpPr>
        <p:spPr>
          <a:xfrm>
            <a:off x="1092200" y="2971800"/>
            <a:ext cx="30353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原材料成本是多少？</a:t>
            </a:r>
            <a:endParaRPr lang="en-US" sz="1250"/>
          </a:p>
        </p:txBody>
      </p:sp>
      <p:sp>
        <p:nvSpPr>
          <p:cNvPr id="15" name="q5-n"/>
          <p:cNvSpPr txBox="1"/>
          <p:nvPr/>
        </p:nvSpPr>
        <p:spPr>
          <a:xfrm>
            <a:off x="4330700" y="29464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05</a:t>
            </a:r>
            <a:endParaRPr lang="en-US" sz="1500"/>
          </a:p>
        </p:txBody>
      </p:sp>
      <p:sp>
        <p:nvSpPr>
          <p:cNvPr id="16" name="q5"/>
          <p:cNvSpPr txBox="1"/>
          <p:nvPr/>
        </p:nvSpPr>
        <p:spPr>
          <a:xfrm>
            <a:off x="4813300" y="2971800"/>
            <a:ext cx="30353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加工成本是多少？</a:t>
            </a:r>
            <a:endParaRPr lang="en-US" sz="1250"/>
          </a:p>
        </p:txBody>
      </p:sp>
      <p:sp>
        <p:nvSpPr>
          <p:cNvPr id="17" name="q6-n"/>
          <p:cNvSpPr txBox="1"/>
          <p:nvPr/>
        </p:nvSpPr>
        <p:spPr>
          <a:xfrm>
            <a:off x="8051800" y="29464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06</a:t>
            </a:r>
            <a:endParaRPr lang="en-US" sz="1500"/>
          </a:p>
        </p:txBody>
      </p:sp>
      <p:sp>
        <p:nvSpPr>
          <p:cNvPr id="18" name="q6"/>
          <p:cNvSpPr txBox="1"/>
          <p:nvPr/>
        </p:nvSpPr>
        <p:spPr>
          <a:xfrm>
            <a:off x="8534400" y="29718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模具成本是多少？</a:t>
            </a:r>
            <a:endParaRPr lang="en-US" sz="1250"/>
          </a:p>
        </p:txBody>
      </p:sp>
      <p:sp>
        <p:nvSpPr>
          <p:cNvPr id="19" name="q7-n"/>
          <p:cNvSpPr txBox="1"/>
          <p:nvPr/>
        </p:nvSpPr>
        <p:spPr>
          <a:xfrm>
            <a:off x="609600" y="41148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07</a:t>
            </a:r>
            <a:endParaRPr lang="en-US" sz="1500"/>
          </a:p>
        </p:txBody>
      </p:sp>
      <p:sp>
        <p:nvSpPr>
          <p:cNvPr id="20" name="q7"/>
          <p:cNvSpPr txBox="1"/>
          <p:nvPr/>
        </p:nvSpPr>
        <p:spPr>
          <a:xfrm>
            <a:off x="1092200" y="4140200"/>
            <a:ext cx="30353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数量增加后能降多少？</a:t>
            </a:r>
            <a:endParaRPr lang="en-US" sz="1250"/>
          </a:p>
        </p:txBody>
      </p:sp>
      <p:sp>
        <p:nvSpPr>
          <p:cNvPr id="21" name="q8-n"/>
          <p:cNvSpPr txBox="1"/>
          <p:nvPr/>
        </p:nvSpPr>
        <p:spPr>
          <a:xfrm>
            <a:off x="4330700" y="41148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08</a:t>
            </a:r>
            <a:endParaRPr lang="en-US" sz="1500"/>
          </a:p>
        </p:txBody>
      </p:sp>
      <p:sp>
        <p:nvSpPr>
          <p:cNvPr id="22" name="q8"/>
          <p:cNvSpPr txBox="1"/>
          <p:nvPr/>
        </p:nvSpPr>
        <p:spPr>
          <a:xfrm>
            <a:off x="4813300" y="4140200"/>
            <a:ext cx="30353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有没有其他工艺方案？</a:t>
            </a:r>
            <a:endParaRPr lang="en-US" sz="1250"/>
          </a:p>
        </p:txBody>
      </p:sp>
      <p:sp>
        <p:nvSpPr>
          <p:cNvPr id="23" name="q9-n"/>
          <p:cNvSpPr txBox="1"/>
          <p:nvPr/>
        </p:nvSpPr>
        <p:spPr>
          <a:xfrm>
            <a:off x="8051800" y="41148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09</a:t>
            </a:r>
            <a:endParaRPr lang="en-US" sz="1500"/>
          </a:p>
        </p:txBody>
      </p:sp>
      <p:sp>
        <p:nvSpPr>
          <p:cNvPr id="24" name="q9"/>
          <p:cNvSpPr txBox="1"/>
          <p:nvPr/>
        </p:nvSpPr>
        <p:spPr>
          <a:xfrm>
            <a:off x="8534400" y="41402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为什么不能做到 0.27、0.26 或 0.25 元？</a:t>
            </a:r>
            <a:endParaRPr lang="en-US" sz="1250"/>
          </a:p>
        </p:txBody>
      </p:sp>
      <p:sp>
        <p:nvSpPr>
          <p:cNvPr id="25" name="strip"/>
          <p:cNvSpPr/>
          <p:nvPr/>
        </p:nvSpPr>
        <p:spPr>
          <a:xfrm>
            <a:off x="609600" y="5435600"/>
            <a:ext cx="10972800" cy="7112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26" name="strip-bar"/>
          <p:cNvSpPr/>
          <p:nvPr/>
        </p:nvSpPr>
        <p:spPr>
          <a:xfrm>
            <a:off x="609600" y="5435600"/>
            <a:ext cx="50800" cy="711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7" name="strip-t"/>
          <p:cNvSpPr txBox="1"/>
          <p:nvPr/>
        </p:nvSpPr>
        <p:spPr>
          <a:xfrm>
            <a:off x="965200" y="54356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核心原则：报价只是结果，</a:t>
            </a:r>
            <a:r>
              <a:rPr lang="en-US" sz="1500" b="1">
                <a:solidFill>
                  <a:srgbClr val="FF4D4D"/>
                </a:solidFill>
                <a:latin typeface="MiSans"/>
                <a:ea typeface="MiSans"/>
              </a:rPr>
              <a:t>成本结构才是答案</a:t>
            </a: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。</a:t>
            </a:r>
            <a:endParaRPr lang="en-US" sz="1500"/>
          </a:p>
        </p:txBody>
      </p:sp>
      <p:sp>
        <p:nvSpPr>
          <p:cNvPr id="28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9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06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02 · 案例拆解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打开成本黑箱：把一个产品拆开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供应链优化的第一步——看到成本结构，才有机会优化成本</a:t>
            </a:r>
            <a:endParaRPr lang="en-US" sz="1250"/>
          </a:p>
        </p:txBody>
      </p:sp>
      <p:sp>
        <p:nvSpPr>
          <p:cNvPr id="7" name="box"/>
          <p:cNvSpPr/>
          <p:nvPr/>
        </p:nvSpPr>
        <p:spPr>
          <a:xfrm>
            <a:off x="609600" y="2159000"/>
            <a:ext cx="3048000" cy="22860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8" name="box-label"/>
          <p:cNvSpPr txBox="1"/>
          <p:nvPr/>
        </p:nvSpPr>
        <p:spPr>
          <a:xfrm>
            <a:off x="914400" y="2514600"/>
            <a:ext cx="2438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B9A9A7"/>
                </a:solidFill>
                <a:latin typeface="MiSans"/>
                <a:ea typeface="MiSans"/>
              </a:rPr>
              <a:t>供应商的报价</a:t>
            </a:r>
            <a:endParaRPr lang="en-US" sz="1100"/>
          </a:p>
        </p:txBody>
      </p:sp>
      <p:sp>
        <p:nvSpPr>
          <p:cNvPr id="9" name="box-num"/>
          <p:cNvSpPr txBox="1"/>
          <p:nvPr/>
        </p:nvSpPr>
        <p:spPr>
          <a:xfrm>
            <a:off x="914400" y="2819400"/>
            <a:ext cx="2438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FFFF"/>
                </a:solidFill>
                <a:latin typeface="MiSans"/>
                <a:ea typeface="MiSans"/>
              </a:rPr>
              <a:t>0.29</a:t>
            </a:r>
            <a:r>
              <a:rPr lang="en-US" sz="1600">
                <a:solidFill>
                  <a:srgbClr val="FFFFFF"/>
                </a:solidFill>
                <a:latin typeface="MiSans"/>
                <a:ea typeface="MiSans"/>
              </a:rPr>
              <a:t> 元</a:t>
            </a:r>
            <a:endParaRPr lang="en-US" sz="1600"/>
          </a:p>
        </p:txBody>
      </p:sp>
      <p:sp>
        <p:nvSpPr>
          <p:cNvPr id="10" name="box-note"/>
          <p:cNvSpPr txBox="1"/>
          <p:nvPr/>
        </p:nvSpPr>
        <p:spPr>
          <a:xfrm>
            <a:off x="914400" y="3657600"/>
            <a:ext cx="243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B9A9A7"/>
                </a:solidFill>
                <a:latin typeface="MiSans"/>
                <a:ea typeface="MiSans"/>
              </a:rPr>
              <a:t>一个看不见结构的</a:t>
            </a:r>
            <a:endParaRPr lang="en-US" sz="1050"/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B9A9A7"/>
                </a:solidFill>
                <a:latin typeface="MiSans"/>
                <a:ea typeface="MiSans"/>
              </a:rPr>
              <a:t>价格黑箱</a:t>
            </a:r>
            <a:endParaRPr lang="en-US" sz="1050"/>
          </a:p>
        </p:txBody>
      </p:sp>
      <p:sp>
        <p:nvSpPr>
          <p:cNvPr id="11" name="arrow"/>
          <p:cNvSpPr/>
          <p:nvPr/>
        </p:nvSpPr>
        <p:spPr>
          <a:xfrm>
            <a:off x="3911600" y="3124200"/>
            <a:ext cx="685800" cy="355600"/>
          </a:xfrm>
          <a:prstGeom prst="rightArrow">
            <a:avLst/>
          </a:prstGeom>
          <a:solidFill>
            <a:srgbClr val="C7C4C4"/>
          </a:solidFill>
          <a:ln>
            <a:noFill/>
          </a:ln>
        </p:spPr>
      </p:sp>
      <p:sp>
        <p:nvSpPr>
          <p:cNvPr id="12" name="grid-label"/>
          <p:cNvSpPr txBox="1"/>
          <p:nvPr/>
        </p:nvSpPr>
        <p:spPr>
          <a:xfrm>
            <a:off x="5105400" y="1905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6E6666"/>
                </a:solidFill>
                <a:latin typeface="MiSans"/>
                <a:ea typeface="MiSans"/>
              </a:rPr>
              <a:t>软管成本的十个构成项</a:t>
            </a:r>
            <a:endParaRPr lang="en-US" sz="1100"/>
          </a:p>
        </p:txBody>
      </p:sp>
      <p:sp>
        <p:nvSpPr>
          <p:cNvPr id="13" name="g1"/>
          <p:cNvSpPr/>
          <p:nvPr/>
        </p:nvSpPr>
        <p:spPr>
          <a:xfrm>
            <a:off x="5105400" y="2336800"/>
            <a:ext cx="1117600" cy="558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4" name="g1-t"/>
          <p:cNvSpPr txBox="1"/>
          <p:nvPr/>
        </p:nvSpPr>
        <p:spPr>
          <a:xfrm>
            <a:off x="5105400" y="2336800"/>
            <a:ext cx="111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原材料</a:t>
            </a:r>
            <a:endParaRPr lang="en-US" sz="1250"/>
          </a:p>
        </p:txBody>
      </p:sp>
      <p:sp>
        <p:nvSpPr>
          <p:cNvPr id="15" name="g2"/>
          <p:cNvSpPr/>
          <p:nvPr/>
        </p:nvSpPr>
        <p:spPr>
          <a:xfrm>
            <a:off x="6413500" y="2336800"/>
            <a:ext cx="1117600" cy="558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6" name="g2-t"/>
          <p:cNvSpPr txBox="1"/>
          <p:nvPr/>
        </p:nvSpPr>
        <p:spPr>
          <a:xfrm>
            <a:off x="6413500" y="2336800"/>
            <a:ext cx="111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管身</a:t>
            </a:r>
            <a:endParaRPr lang="en-US" sz="1250"/>
          </a:p>
        </p:txBody>
      </p:sp>
      <p:sp>
        <p:nvSpPr>
          <p:cNvPr id="17" name="g3"/>
          <p:cNvSpPr/>
          <p:nvPr/>
        </p:nvSpPr>
        <p:spPr>
          <a:xfrm>
            <a:off x="7721600" y="2336800"/>
            <a:ext cx="1117600" cy="558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8" name="g3-t"/>
          <p:cNvSpPr txBox="1"/>
          <p:nvPr/>
        </p:nvSpPr>
        <p:spPr>
          <a:xfrm>
            <a:off x="7721600" y="2336800"/>
            <a:ext cx="111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管盖</a:t>
            </a:r>
            <a:endParaRPr lang="en-US" sz="1250"/>
          </a:p>
        </p:txBody>
      </p:sp>
      <p:sp>
        <p:nvSpPr>
          <p:cNvPr id="19" name="g4"/>
          <p:cNvSpPr/>
          <p:nvPr/>
        </p:nvSpPr>
        <p:spPr>
          <a:xfrm>
            <a:off x="9029700" y="2336800"/>
            <a:ext cx="1117600" cy="558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0" name="g4-t"/>
          <p:cNvSpPr txBox="1"/>
          <p:nvPr/>
        </p:nvSpPr>
        <p:spPr>
          <a:xfrm>
            <a:off x="9029700" y="2336800"/>
            <a:ext cx="111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印刷</a:t>
            </a:r>
            <a:endParaRPr lang="en-US" sz="1250"/>
          </a:p>
        </p:txBody>
      </p:sp>
      <p:sp>
        <p:nvSpPr>
          <p:cNvPr id="21" name="g5"/>
          <p:cNvSpPr/>
          <p:nvPr/>
        </p:nvSpPr>
        <p:spPr>
          <a:xfrm>
            <a:off x="10337800" y="2336800"/>
            <a:ext cx="1117600" cy="558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2" name="g5-t"/>
          <p:cNvSpPr txBox="1"/>
          <p:nvPr/>
        </p:nvSpPr>
        <p:spPr>
          <a:xfrm>
            <a:off x="10337800" y="2336800"/>
            <a:ext cx="111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加工</a:t>
            </a:r>
            <a:endParaRPr lang="en-US" sz="1250"/>
          </a:p>
        </p:txBody>
      </p:sp>
      <p:sp>
        <p:nvSpPr>
          <p:cNvPr id="23" name="g6"/>
          <p:cNvSpPr/>
          <p:nvPr/>
        </p:nvSpPr>
        <p:spPr>
          <a:xfrm>
            <a:off x="5105400" y="3098800"/>
            <a:ext cx="1117600" cy="558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4" name="g6-t"/>
          <p:cNvSpPr txBox="1"/>
          <p:nvPr/>
        </p:nvSpPr>
        <p:spPr>
          <a:xfrm>
            <a:off x="5105400" y="3098800"/>
            <a:ext cx="111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包装</a:t>
            </a:r>
            <a:endParaRPr lang="en-US" sz="1250"/>
          </a:p>
        </p:txBody>
      </p:sp>
      <p:sp>
        <p:nvSpPr>
          <p:cNvPr id="25" name="g7"/>
          <p:cNvSpPr/>
          <p:nvPr/>
        </p:nvSpPr>
        <p:spPr>
          <a:xfrm>
            <a:off x="6413500" y="3098800"/>
            <a:ext cx="1117600" cy="558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6" name="g7-t"/>
          <p:cNvSpPr txBox="1"/>
          <p:nvPr/>
        </p:nvSpPr>
        <p:spPr>
          <a:xfrm>
            <a:off x="6413500" y="3098800"/>
            <a:ext cx="111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模具</a:t>
            </a:r>
            <a:endParaRPr lang="en-US" sz="1250"/>
          </a:p>
        </p:txBody>
      </p:sp>
      <p:sp>
        <p:nvSpPr>
          <p:cNvPr id="27" name="g8"/>
          <p:cNvSpPr/>
          <p:nvPr/>
        </p:nvSpPr>
        <p:spPr>
          <a:xfrm>
            <a:off x="7721600" y="3098800"/>
            <a:ext cx="1117600" cy="558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8" name="g8-t"/>
          <p:cNvSpPr txBox="1"/>
          <p:nvPr/>
        </p:nvSpPr>
        <p:spPr>
          <a:xfrm>
            <a:off x="7721600" y="3098800"/>
            <a:ext cx="111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损耗</a:t>
            </a:r>
            <a:endParaRPr lang="en-US" sz="1250"/>
          </a:p>
        </p:txBody>
      </p:sp>
      <p:sp>
        <p:nvSpPr>
          <p:cNvPr id="29" name="g9"/>
          <p:cNvSpPr/>
          <p:nvPr/>
        </p:nvSpPr>
        <p:spPr>
          <a:xfrm>
            <a:off x="9029700" y="3098800"/>
            <a:ext cx="1117600" cy="558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30" name="g9-t"/>
          <p:cNvSpPr txBox="1"/>
          <p:nvPr/>
        </p:nvSpPr>
        <p:spPr>
          <a:xfrm>
            <a:off x="9029700" y="3098800"/>
            <a:ext cx="111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运输</a:t>
            </a:r>
            <a:endParaRPr lang="en-US" sz="1250"/>
          </a:p>
        </p:txBody>
      </p:sp>
      <p:sp>
        <p:nvSpPr>
          <p:cNvPr id="31" name="g10"/>
          <p:cNvSpPr/>
          <p:nvPr/>
        </p:nvSpPr>
        <p:spPr>
          <a:xfrm>
            <a:off x="10337800" y="3098800"/>
            <a:ext cx="1117600" cy="558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32" name="g10-t"/>
          <p:cNvSpPr txBox="1"/>
          <p:nvPr/>
        </p:nvSpPr>
        <p:spPr>
          <a:xfrm>
            <a:off x="10337800" y="3098800"/>
            <a:ext cx="111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资金占用</a:t>
            </a:r>
            <a:endParaRPr lang="en-US" sz="1250"/>
          </a:p>
        </p:txBody>
      </p:sp>
      <p:sp>
        <p:nvSpPr>
          <p:cNvPr id="33" name="strip"/>
          <p:cNvSpPr/>
          <p:nvPr/>
        </p:nvSpPr>
        <p:spPr>
          <a:xfrm>
            <a:off x="609600" y="5435600"/>
            <a:ext cx="10972800" cy="7112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34" name="strip-bar"/>
          <p:cNvSpPr/>
          <p:nvPr/>
        </p:nvSpPr>
        <p:spPr>
          <a:xfrm>
            <a:off x="609600" y="5435600"/>
            <a:ext cx="50800" cy="711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35" name="strip-t"/>
          <p:cNvSpPr txBox="1"/>
          <p:nvPr/>
        </p:nvSpPr>
        <p:spPr>
          <a:xfrm>
            <a:off x="965200" y="54356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400" b="1">
                <a:solidFill>
                  <a:srgbClr val="140B0A"/>
                </a:solidFill>
                <a:latin typeface="MiSans"/>
                <a:ea typeface="MiSans"/>
              </a:rPr>
              <a:t>只有看到成本结构，才有机会优化成本。</a:t>
            </a:r>
            <a:endParaRPr lang="en-US" sz="1400"/>
          </a:p>
          <a:p>
            <a:pPr algn="l">
              <a:lnSpc>
                <a:spcPct val="150000"/>
              </a:lnSpc>
            </a:pPr>
            <a:r>
              <a:rPr lang="en-US" sz="1400" b="1">
                <a:solidFill>
                  <a:srgbClr val="FF4D4D"/>
                </a:solidFill>
                <a:latin typeface="MiSans"/>
                <a:ea typeface="MiSans"/>
              </a:rPr>
              <a:t>看不到结构，只能接受价格。</a:t>
            </a:r>
            <a:endParaRPr lang="en-US" sz="1400"/>
          </a:p>
        </p:txBody>
      </p:sp>
      <p:sp>
        <p:nvSpPr>
          <p:cNvPr id="36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37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07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02 · 案例拆解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什么叫真正进入供应链？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不是“采购报多少钱，我就报多少钱”——而是进入七个经营环节</a:t>
            </a:r>
            <a:endParaRPr lang="en-US" sz="1250"/>
          </a:p>
        </p:txBody>
      </p:sp>
      <p:sp>
        <p:nvSpPr>
          <p:cNvPr id="7" name="panel-l"/>
          <p:cNvSpPr/>
          <p:nvPr/>
        </p:nvSpPr>
        <p:spPr>
          <a:xfrm>
            <a:off x="609600" y="1727200"/>
            <a:ext cx="3810000" cy="37592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8" name="pl-label"/>
          <p:cNvSpPr txBox="1"/>
          <p:nvPr/>
        </p:nvSpPr>
        <p:spPr>
          <a:xfrm>
            <a:off x="914400" y="2032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6E6666"/>
                </a:solidFill>
                <a:latin typeface="MiSans"/>
                <a:ea typeface="MiSans"/>
              </a:rPr>
              <a:t>误区</a:t>
            </a:r>
            <a:endParaRPr lang="en-US" sz="1100"/>
          </a:p>
        </p:txBody>
      </p:sp>
      <p:sp>
        <p:nvSpPr>
          <p:cNvPr id="9" name="pl-quote"/>
          <p:cNvSpPr txBox="1"/>
          <p:nvPr/>
        </p:nvSpPr>
        <p:spPr>
          <a:xfrm>
            <a:off x="914400" y="2413000"/>
            <a:ext cx="3200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700" b="1">
                <a:solidFill>
                  <a:srgbClr val="140B0A"/>
                </a:solidFill>
                <a:latin typeface="MiSans"/>
                <a:ea typeface="MiSans"/>
              </a:rPr>
              <a:t>“采购报多少钱，</a:t>
            </a:r>
            <a:endParaRPr lang="en-US" sz="1700"/>
          </a:p>
          <a:p>
            <a:pPr>
              <a:lnSpc>
                <a:spcPct val="155000"/>
              </a:lnSpc>
            </a:pPr>
            <a:r>
              <a:rPr lang="en-US" sz="1700" b="1">
                <a:solidFill>
                  <a:srgbClr val="140B0A"/>
                </a:solidFill>
                <a:latin typeface="MiSans"/>
                <a:ea typeface="MiSans"/>
              </a:rPr>
              <a:t>我就报多少钱。”</a:t>
            </a:r>
            <a:endParaRPr lang="en-US" sz="1700"/>
          </a:p>
        </p:txBody>
      </p:sp>
      <p:sp>
        <p:nvSpPr>
          <p:cNvPr id="10" name="pl-note"/>
          <p:cNvSpPr txBox="1"/>
          <p:nvPr/>
        </p:nvSpPr>
        <p:spPr>
          <a:xfrm>
            <a:off x="914400" y="345440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转手报价，没有壁垒，</a:t>
            </a:r>
            <a:endParaRPr lang="en-US" sz="1150"/>
          </a:p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随时可以被替代。</a:t>
            </a:r>
            <a:endParaRPr lang="en-US" sz="1150"/>
          </a:p>
        </p:txBody>
      </p:sp>
      <p:sp>
        <p:nvSpPr>
          <p:cNvPr id="11" name="r1-n"/>
          <p:cNvSpPr txBox="1"/>
          <p:nvPr/>
        </p:nvSpPr>
        <p:spPr>
          <a:xfrm>
            <a:off x="4978400" y="1905000"/>
            <a:ext cx="431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9B9595"/>
                </a:solidFill>
                <a:latin typeface="MiSans"/>
                <a:ea typeface="MiSans"/>
              </a:rPr>
              <a:t>01</a:t>
            </a:r>
            <a:endParaRPr lang="en-US" sz="1300"/>
          </a:p>
        </p:txBody>
      </p:sp>
      <p:sp>
        <p:nvSpPr>
          <p:cNvPr id="12" name="r1"/>
          <p:cNvSpPr txBox="1"/>
          <p:nvPr/>
        </p:nvSpPr>
        <p:spPr>
          <a:xfrm>
            <a:off x="5435600" y="19050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F2929"/>
                </a:solidFill>
                <a:latin typeface="MiSans"/>
                <a:ea typeface="MiSans"/>
              </a:rPr>
              <a:t>参与供应商筛选</a:t>
            </a:r>
            <a:endParaRPr lang="en-US" sz="1300"/>
          </a:p>
        </p:txBody>
      </p:sp>
      <p:sp>
        <p:nvSpPr>
          <p:cNvPr id="13" name="r2-n"/>
          <p:cNvSpPr txBox="1"/>
          <p:nvPr/>
        </p:nvSpPr>
        <p:spPr>
          <a:xfrm>
            <a:off x="8483600" y="1905000"/>
            <a:ext cx="431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9B9595"/>
                </a:solidFill>
                <a:latin typeface="MiSans"/>
                <a:ea typeface="MiSans"/>
              </a:rPr>
              <a:t>02</a:t>
            </a:r>
            <a:endParaRPr lang="en-US" sz="1300"/>
          </a:p>
        </p:txBody>
      </p:sp>
      <p:sp>
        <p:nvSpPr>
          <p:cNvPr id="14" name="r2"/>
          <p:cNvSpPr txBox="1"/>
          <p:nvPr/>
        </p:nvSpPr>
        <p:spPr>
          <a:xfrm>
            <a:off x="8940800" y="1905000"/>
            <a:ext cx="2641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F2929"/>
                </a:solidFill>
                <a:latin typeface="MiSans"/>
                <a:ea typeface="MiSans"/>
              </a:rPr>
              <a:t>理解生产工艺</a:t>
            </a:r>
            <a:endParaRPr lang="en-US" sz="1300"/>
          </a:p>
        </p:txBody>
      </p:sp>
      <p:sp>
        <p:nvSpPr>
          <p:cNvPr id="15" name="r3-n"/>
          <p:cNvSpPr txBox="1"/>
          <p:nvPr/>
        </p:nvSpPr>
        <p:spPr>
          <a:xfrm>
            <a:off x="4978400" y="2768600"/>
            <a:ext cx="431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9B9595"/>
                </a:solidFill>
                <a:latin typeface="MiSans"/>
                <a:ea typeface="MiSans"/>
              </a:rPr>
              <a:t>03</a:t>
            </a:r>
            <a:endParaRPr lang="en-US" sz="1300"/>
          </a:p>
        </p:txBody>
      </p:sp>
      <p:sp>
        <p:nvSpPr>
          <p:cNvPr id="16" name="r3"/>
          <p:cNvSpPr txBox="1"/>
          <p:nvPr/>
        </p:nvSpPr>
        <p:spPr>
          <a:xfrm>
            <a:off x="5435600" y="27686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F2929"/>
                </a:solidFill>
                <a:latin typeface="MiSans"/>
                <a:ea typeface="MiSans"/>
              </a:rPr>
              <a:t>理解成本构成</a:t>
            </a:r>
            <a:endParaRPr lang="en-US" sz="1300"/>
          </a:p>
        </p:txBody>
      </p:sp>
      <p:sp>
        <p:nvSpPr>
          <p:cNvPr id="17" name="r4-n"/>
          <p:cNvSpPr txBox="1"/>
          <p:nvPr/>
        </p:nvSpPr>
        <p:spPr>
          <a:xfrm>
            <a:off x="8483600" y="2768600"/>
            <a:ext cx="431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9B9595"/>
                </a:solidFill>
                <a:latin typeface="MiSans"/>
                <a:ea typeface="MiSans"/>
              </a:rPr>
              <a:t>04</a:t>
            </a:r>
            <a:endParaRPr lang="en-US" sz="1300"/>
          </a:p>
        </p:txBody>
      </p:sp>
      <p:sp>
        <p:nvSpPr>
          <p:cNvPr id="18" name="r4"/>
          <p:cNvSpPr txBox="1"/>
          <p:nvPr/>
        </p:nvSpPr>
        <p:spPr>
          <a:xfrm>
            <a:off x="8940800" y="2768600"/>
            <a:ext cx="2641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F2929"/>
                </a:solidFill>
                <a:latin typeface="MiSans"/>
                <a:ea typeface="MiSans"/>
              </a:rPr>
              <a:t>理解交付风险</a:t>
            </a:r>
            <a:endParaRPr lang="en-US" sz="1300"/>
          </a:p>
        </p:txBody>
      </p:sp>
      <p:sp>
        <p:nvSpPr>
          <p:cNvPr id="19" name="r5-n"/>
          <p:cNvSpPr txBox="1"/>
          <p:nvPr/>
        </p:nvSpPr>
        <p:spPr>
          <a:xfrm>
            <a:off x="4978400" y="3632200"/>
            <a:ext cx="431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9B9595"/>
                </a:solidFill>
                <a:latin typeface="MiSans"/>
                <a:ea typeface="MiSans"/>
              </a:rPr>
              <a:t>05</a:t>
            </a:r>
            <a:endParaRPr lang="en-US" sz="1300"/>
          </a:p>
        </p:txBody>
      </p:sp>
      <p:sp>
        <p:nvSpPr>
          <p:cNvPr id="20" name="r5"/>
          <p:cNvSpPr txBox="1"/>
          <p:nvPr/>
        </p:nvSpPr>
        <p:spPr>
          <a:xfrm>
            <a:off x="5435600" y="36322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F2929"/>
                </a:solidFill>
                <a:latin typeface="MiSans"/>
                <a:ea typeface="MiSans"/>
              </a:rPr>
              <a:t>评估产量变化</a:t>
            </a:r>
            <a:endParaRPr lang="en-US" sz="1300"/>
          </a:p>
        </p:txBody>
      </p:sp>
      <p:sp>
        <p:nvSpPr>
          <p:cNvPr id="21" name="r6-n"/>
          <p:cNvSpPr txBox="1"/>
          <p:nvPr/>
        </p:nvSpPr>
        <p:spPr>
          <a:xfrm>
            <a:off x="8483600" y="3632200"/>
            <a:ext cx="431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9B9595"/>
                </a:solidFill>
                <a:latin typeface="MiSans"/>
                <a:ea typeface="MiSans"/>
              </a:rPr>
              <a:t>06</a:t>
            </a:r>
            <a:endParaRPr lang="en-US" sz="1300"/>
          </a:p>
        </p:txBody>
      </p:sp>
      <p:sp>
        <p:nvSpPr>
          <p:cNvPr id="22" name="r6"/>
          <p:cNvSpPr txBox="1"/>
          <p:nvPr/>
        </p:nvSpPr>
        <p:spPr>
          <a:xfrm>
            <a:off x="8940800" y="3632200"/>
            <a:ext cx="2641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F2929"/>
                </a:solidFill>
                <a:latin typeface="MiSans"/>
                <a:ea typeface="MiSans"/>
              </a:rPr>
              <a:t>评估模具投入</a:t>
            </a:r>
            <a:endParaRPr lang="en-US" sz="1300"/>
          </a:p>
        </p:txBody>
      </p:sp>
      <p:sp>
        <p:nvSpPr>
          <p:cNvPr id="23" name="r7-n"/>
          <p:cNvSpPr txBox="1"/>
          <p:nvPr/>
        </p:nvSpPr>
        <p:spPr>
          <a:xfrm>
            <a:off x="4978400" y="4495800"/>
            <a:ext cx="431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9B9595"/>
                </a:solidFill>
                <a:latin typeface="MiSans"/>
                <a:ea typeface="MiSans"/>
              </a:rPr>
              <a:t>07</a:t>
            </a:r>
            <a:endParaRPr lang="en-US" sz="1300"/>
          </a:p>
        </p:txBody>
      </p:sp>
      <p:sp>
        <p:nvSpPr>
          <p:cNvPr id="24" name="r7"/>
          <p:cNvSpPr txBox="1"/>
          <p:nvPr/>
        </p:nvSpPr>
        <p:spPr>
          <a:xfrm>
            <a:off x="5435600" y="44958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F2929"/>
                </a:solidFill>
                <a:latin typeface="MiSans"/>
                <a:ea typeface="MiSans"/>
              </a:rPr>
              <a:t>设计长期降本路径</a:t>
            </a:r>
            <a:endParaRPr lang="en-US" sz="1300"/>
          </a:p>
        </p:txBody>
      </p:sp>
      <p:sp>
        <p:nvSpPr>
          <p:cNvPr id="25" name="strip"/>
          <p:cNvSpPr/>
          <p:nvPr/>
        </p:nvSpPr>
        <p:spPr>
          <a:xfrm>
            <a:off x="609600" y="5638800"/>
            <a:ext cx="10972800" cy="6604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26" name="strip-bar"/>
          <p:cNvSpPr/>
          <p:nvPr/>
        </p:nvSpPr>
        <p:spPr>
          <a:xfrm>
            <a:off x="609600" y="5638800"/>
            <a:ext cx="50800" cy="6604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7" name="strip-t"/>
          <p:cNvSpPr txBox="1"/>
          <p:nvPr/>
        </p:nvSpPr>
        <p:spPr>
          <a:xfrm>
            <a:off x="965200" y="5638800"/>
            <a:ext cx="1041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一句话：销售必须进入供应链，才能</a:t>
            </a:r>
            <a:r>
              <a:rPr lang="en-US" sz="1500" b="1">
                <a:solidFill>
                  <a:srgbClr val="FF4D4D"/>
                </a:solidFill>
                <a:latin typeface="MiSans"/>
                <a:ea typeface="MiSans"/>
              </a:rPr>
              <a:t>拥有经营能力</a:t>
            </a: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。</a:t>
            </a:r>
            <a:endParaRPr lang="en-US" sz="1500"/>
          </a:p>
        </p:txBody>
      </p:sp>
      <p:sp>
        <p:nvSpPr>
          <p:cNvPr id="28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9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08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02 · 案例拆解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模具投入：不能只问“开模贵不贵”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开模具可能增加前期投入，但也可能降低长期成本——把账算完整</a:t>
            </a:r>
            <a:endParaRPr lang="en-US" sz="1250"/>
          </a:p>
        </p:txBody>
      </p:sp>
      <p:sp>
        <p:nvSpPr>
          <p:cNvPr id="7" name="list-label"/>
          <p:cNvSpPr txBox="1"/>
          <p:nvPr/>
        </p:nvSpPr>
        <p:spPr>
          <a:xfrm>
            <a:off x="609600" y="1778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6E6666"/>
                </a:solidFill>
                <a:latin typeface="MiSans"/>
                <a:ea typeface="MiSans"/>
              </a:rPr>
              <a:t>需要计算的六个问题</a:t>
            </a:r>
            <a:endParaRPr lang="en-US" sz="1100"/>
          </a:p>
        </p:txBody>
      </p:sp>
      <p:sp>
        <p:nvSpPr>
          <p:cNvPr id="8" name="q1-sq"/>
          <p:cNvSpPr/>
          <p:nvPr/>
        </p:nvSpPr>
        <p:spPr>
          <a:xfrm>
            <a:off x="609600" y="22733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9" name="q1"/>
          <p:cNvSpPr txBox="1"/>
          <p:nvPr/>
        </p:nvSpPr>
        <p:spPr>
          <a:xfrm>
            <a:off x="812800" y="21844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模具费用是多少</a:t>
            </a:r>
            <a:endParaRPr lang="en-US" sz="1250"/>
          </a:p>
        </p:txBody>
      </p:sp>
      <p:sp>
        <p:nvSpPr>
          <p:cNvPr id="10" name="q2-sq"/>
          <p:cNvSpPr/>
          <p:nvPr/>
        </p:nvSpPr>
        <p:spPr>
          <a:xfrm>
            <a:off x="609600" y="27559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11" name="q2"/>
          <p:cNvSpPr txBox="1"/>
          <p:nvPr/>
        </p:nvSpPr>
        <p:spPr>
          <a:xfrm>
            <a:off x="812800" y="26670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每个产品能降低多少成本</a:t>
            </a:r>
            <a:endParaRPr lang="en-US" sz="1250"/>
          </a:p>
        </p:txBody>
      </p:sp>
      <p:sp>
        <p:nvSpPr>
          <p:cNvPr id="12" name="q3-sq"/>
          <p:cNvSpPr/>
          <p:nvPr/>
        </p:nvSpPr>
        <p:spPr>
          <a:xfrm>
            <a:off x="609600" y="32385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13" name="q3"/>
          <p:cNvSpPr txBox="1"/>
          <p:nvPr/>
        </p:nvSpPr>
        <p:spPr>
          <a:xfrm>
            <a:off x="812800" y="31496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需要多少销量才能回本</a:t>
            </a:r>
            <a:endParaRPr lang="en-US" sz="1250"/>
          </a:p>
        </p:txBody>
      </p:sp>
      <p:sp>
        <p:nvSpPr>
          <p:cNvPr id="14" name="q4-sq"/>
          <p:cNvSpPr/>
          <p:nvPr/>
        </p:nvSpPr>
        <p:spPr>
          <a:xfrm>
            <a:off x="609600" y="37211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15" name="q4"/>
          <p:cNvSpPr txBox="1"/>
          <p:nvPr/>
        </p:nvSpPr>
        <p:spPr>
          <a:xfrm>
            <a:off x="812800" y="36322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客户未来需求是否稳定</a:t>
            </a:r>
            <a:endParaRPr lang="en-US" sz="1250"/>
          </a:p>
        </p:txBody>
      </p:sp>
      <p:sp>
        <p:nvSpPr>
          <p:cNvPr id="16" name="q5-sq"/>
          <p:cNvSpPr/>
          <p:nvPr/>
        </p:nvSpPr>
        <p:spPr>
          <a:xfrm>
            <a:off x="609600" y="42037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17" name="q5"/>
          <p:cNvSpPr txBox="1"/>
          <p:nvPr/>
        </p:nvSpPr>
        <p:spPr>
          <a:xfrm>
            <a:off x="812800" y="41148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合作周期是否足够长</a:t>
            </a:r>
            <a:endParaRPr lang="en-US" sz="1250"/>
          </a:p>
        </p:txBody>
      </p:sp>
      <p:sp>
        <p:nvSpPr>
          <p:cNvPr id="18" name="q6-sq"/>
          <p:cNvSpPr/>
          <p:nvPr/>
        </p:nvSpPr>
        <p:spPr>
          <a:xfrm>
            <a:off x="609600" y="46863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19" name="q6"/>
          <p:cNvSpPr txBox="1"/>
          <p:nvPr/>
        </p:nvSpPr>
        <p:spPr>
          <a:xfrm>
            <a:off x="812800" y="45974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是否存在其他客户共用机会</a:t>
            </a:r>
            <a:endParaRPr lang="en-US" sz="1250"/>
          </a:p>
        </p:txBody>
      </p:sp>
      <p:sp>
        <p:nvSpPr>
          <p:cNvPr id="20" name="panel"/>
          <p:cNvSpPr/>
          <p:nvPr/>
        </p:nvSpPr>
        <p:spPr>
          <a:xfrm>
            <a:off x="6299200" y="1778000"/>
            <a:ext cx="5283200" cy="3657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1" name="v1-label"/>
          <p:cNvSpPr txBox="1"/>
          <p:nvPr/>
        </p:nvSpPr>
        <p:spPr>
          <a:xfrm>
            <a:off x="6604000" y="20828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6E6666"/>
                </a:solidFill>
                <a:latin typeface="MiSans"/>
                <a:ea typeface="MiSans"/>
              </a:rPr>
              <a:t>模具费用</a:t>
            </a:r>
            <a:endParaRPr lang="en-US" sz="1050"/>
          </a:p>
        </p:txBody>
      </p:sp>
      <p:sp>
        <p:nvSpPr>
          <p:cNvPr id="22" name="v1"/>
          <p:cNvSpPr txBox="1"/>
          <p:nvPr/>
        </p:nvSpPr>
        <p:spPr>
          <a:xfrm>
            <a:off x="6604000" y="23114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140B0A"/>
                </a:solidFill>
                <a:latin typeface="MiSans"/>
                <a:ea typeface="MiSans"/>
              </a:rPr>
              <a:t>4 万元</a:t>
            </a:r>
            <a:endParaRPr lang="en-US" sz="2000"/>
          </a:p>
        </p:txBody>
      </p:sp>
      <p:sp>
        <p:nvSpPr>
          <p:cNvPr id="23" name="v2-label"/>
          <p:cNvSpPr txBox="1"/>
          <p:nvPr/>
        </p:nvSpPr>
        <p:spPr>
          <a:xfrm>
            <a:off x="6604000" y="2870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6E6666"/>
                </a:solidFill>
                <a:latin typeface="MiSans"/>
                <a:ea typeface="MiSans"/>
              </a:rPr>
              <a:t>每件成本降低</a:t>
            </a:r>
            <a:endParaRPr lang="en-US" sz="1050"/>
          </a:p>
        </p:txBody>
      </p:sp>
      <p:sp>
        <p:nvSpPr>
          <p:cNvPr id="24" name="v2"/>
          <p:cNvSpPr txBox="1"/>
          <p:nvPr/>
        </p:nvSpPr>
        <p:spPr>
          <a:xfrm>
            <a:off x="6604000" y="30988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140B0A"/>
                </a:solidFill>
                <a:latin typeface="MiSans"/>
                <a:ea typeface="MiSans"/>
              </a:rPr>
              <a:t>0.03 元</a:t>
            </a:r>
            <a:endParaRPr lang="en-US" sz="2000"/>
          </a:p>
        </p:txBody>
      </p:sp>
      <p:sp>
        <p:nvSpPr>
          <p:cNvPr id="25" name="v-line"/>
          <p:cNvSpPr/>
          <p:nvPr/>
        </p:nvSpPr>
        <p:spPr>
          <a:xfrm>
            <a:off x="6604000" y="3657600"/>
            <a:ext cx="4673600" cy="12700"/>
          </a:xfrm>
          <a:prstGeom prst="rect">
            <a:avLst/>
          </a:prstGeom>
          <a:solidFill>
            <a:srgbClr val="DDDBDB"/>
          </a:solidFill>
          <a:ln>
            <a:noFill/>
          </a:ln>
        </p:spPr>
      </p:sp>
      <p:sp>
        <p:nvSpPr>
          <p:cNvPr id="26" name="v-formula"/>
          <p:cNvSpPr txBox="1"/>
          <p:nvPr/>
        </p:nvSpPr>
        <p:spPr>
          <a:xfrm>
            <a:off x="6604000" y="3860800"/>
            <a:ext cx="4673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6E6666"/>
                </a:solidFill>
                <a:latin typeface="MiSans"/>
                <a:ea typeface="MiSans"/>
              </a:rPr>
              <a:t>回本数量 ＝ 4万 ÷ 0.03 ≈</a:t>
            </a:r>
            <a:endParaRPr lang="en-US" sz="1200"/>
          </a:p>
        </p:txBody>
      </p:sp>
      <p:sp>
        <p:nvSpPr>
          <p:cNvPr id="27" name="v-result"/>
          <p:cNvSpPr txBox="1"/>
          <p:nvPr/>
        </p:nvSpPr>
        <p:spPr>
          <a:xfrm>
            <a:off x="6604000" y="4140200"/>
            <a:ext cx="4673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FF4D4D"/>
                </a:solidFill>
                <a:latin typeface="MiSans"/>
                <a:ea typeface="MiSans"/>
              </a:rPr>
              <a:t>133</a:t>
            </a:r>
            <a:r>
              <a:rPr lang="en-US" sz="1600" b="1">
                <a:solidFill>
                  <a:srgbClr val="FF4D4D"/>
                </a:solidFill>
                <a:latin typeface="MiSans"/>
                <a:ea typeface="MiSans"/>
              </a:rPr>
              <a:t> 万件</a:t>
            </a:r>
            <a:endParaRPr lang="en-US" sz="1600"/>
          </a:p>
        </p:txBody>
      </p:sp>
      <p:sp>
        <p:nvSpPr>
          <p:cNvPr id="28" name="v-note"/>
          <p:cNvSpPr txBox="1"/>
          <p:nvPr/>
        </p:nvSpPr>
        <p:spPr>
          <a:xfrm>
            <a:off x="6604000" y="4978400"/>
            <a:ext cx="4673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示意测算，按案例口径</a:t>
            </a:r>
            <a:endParaRPr lang="en-US" sz="900"/>
          </a:p>
        </p:txBody>
      </p:sp>
      <p:sp>
        <p:nvSpPr>
          <p:cNvPr id="29" name="concl"/>
          <p:cNvSpPr txBox="1"/>
          <p:nvPr/>
        </p:nvSpPr>
        <p:spPr>
          <a:xfrm>
            <a:off x="609600" y="57404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不能只问“开模贵不贵”——要问：这个投入</a:t>
            </a:r>
            <a:r>
              <a:rPr lang="en-US" sz="1500" b="1">
                <a:solidFill>
                  <a:srgbClr val="FF4D4D"/>
                </a:solidFill>
                <a:latin typeface="MiSans"/>
                <a:ea typeface="MiSans"/>
              </a:rPr>
              <a:t>能否通过长期合作收回来</a:t>
            </a: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？</a:t>
            </a:r>
            <a:endParaRPr lang="en-US" sz="1500"/>
          </a:p>
        </p:txBody>
      </p:sp>
      <p:sp>
        <p:nvSpPr>
          <p:cNvPr id="30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31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09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03 · 组合经营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不要孤立地看一个产品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软管单品利润很低，但客户手里还有一整条产品线</a:t>
            </a:r>
            <a:endParaRPr lang="en-US" sz="1250"/>
          </a:p>
        </p:txBody>
      </p:sp>
      <p:sp>
        <p:nvSpPr>
          <p:cNvPr id="7" name="panel-l"/>
          <p:cNvSpPr/>
          <p:nvPr/>
        </p:nvSpPr>
        <p:spPr>
          <a:xfrm>
            <a:off x="609600" y="1981200"/>
            <a:ext cx="2794000" cy="26670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8" name="pl-cap"/>
          <p:cNvSpPr/>
          <p:nvPr/>
        </p:nvSpPr>
        <p:spPr>
          <a:xfrm>
            <a:off x="863600" y="2235200"/>
            <a:ext cx="1066800" cy="3048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9" name="pl-cap-t"/>
          <p:cNvSpPr txBox="1"/>
          <p:nvPr/>
        </p:nvSpPr>
        <p:spPr>
          <a:xfrm>
            <a:off x="863600" y="22352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切入产品</a:t>
            </a:r>
            <a:endParaRPr lang="en-US" sz="1100"/>
          </a:p>
        </p:txBody>
      </p:sp>
      <p:sp>
        <p:nvSpPr>
          <p:cNvPr id="10" name="pl-name"/>
          <p:cNvSpPr txBox="1"/>
          <p:nvPr/>
        </p:nvSpPr>
        <p:spPr>
          <a:xfrm>
            <a:off x="863600" y="2692400"/>
            <a:ext cx="2286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140B0A"/>
                </a:solidFill>
                <a:latin typeface="MiSans"/>
                <a:ea typeface="MiSans"/>
              </a:rPr>
              <a:t>软管</a:t>
            </a:r>
            <a:endParaRPr lang="en-US" sz="2400"/>
          </a:p>
        </p:txBody>
      </p:sp>
      <p:sp>
        <p:nvSpPr>
          <p:cNvPr id="11" name="pl-tag"/>
          <p:cNvSpPr txBox="1"/>
          <p:nvPr/>
        </p:nvSpPr>
        <p:spPr>
          <a:xfrm>
            <a:off x="863600" y="32004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4D4D"/>
                </a:solidFill>
                <a:latin typeface="MiSans"/>
                <a:ea typeface="MiSans"/>
              </a:rPr>
              <a:t>低毛利切入</a:t>
            </a:r>
            <a:endParaRPr lang="en-US" sz="1200"/>
          </a:p>
        </p:txBody>
      </p:sp>
      <p:sp>
        <p:nvSpPr>
          <p:cNvPr id="12" name="pl-note"/>
          <p:cNvSpPr txBox="1"/>
          <p:nvPr/>
        </p:nvSpPr>
        <p:spPr>
          <a:xfrm>
            <a:off x="863600" y="36068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>
                <a:solidFill>
                  <a:srgbClr val="6E6666"/>
                </a:solidFill>
                <a:latin typeface="MiSans"/>
                <a:ea typeface="MiSans"/>
              </a:rPr>
              <a:t>单品利润极低，</a:t>
            </a:r>
            <a:endParaRPr lang="en-US" sz="1100"/>
          </a:p>
          <a:p>
            <a:pPr>
              <a:lnSpc>
                <a:spcPct val="160000"/>
              </a:lnSpc>
            </a:pPr>
            <a:r>
              <a:rPr lang="en-US" sz="1100">
                <a:solidFill>
                  <a:srgbClr val="6E6666"/>
                </a:solidFill>
                <a:latin typeface="MiSans"/>
                <a:ea typeface="MiSans"/>
              </a:rPr>
              <a:t>但它是合作的入口。</a:t>
            </a:r>
            <a:endParaRPr lang="en-US" sz="1100"/>
          </a:p>
        </p:txBody>
      </p:sp>
      <p:sp>
        <p:nvSpPr>
          <p:cNvPr id="13" name="arrow"/>
          <p:cNvSpPr/>
          <p:nvPr/>
        </p:nvSpPr>
        <p:spPr>
          <a:xfrm>
            <a:off x="3657600" y="3124200"/>
            <a:ext cx="635000" cy="304800"/>
          </a:xfrm>
          <a:prstGeom prst="rightArrow">
            <a:avLst/>
          </a:prstGeom>
          <a:solidFill>
            <a:srgbClr val="C7C4C4"/>
          </a:solidFill>
          <a:ln>
            <a:noFill/>
          </a:ln>
        </p:spPr>
      </p:sp>
      <p:sp>
        <p:nvSpPr>
          <p:cNvPr id="14" name="grid-label"/>
          <p:cNvSpPr txBox="1"/>
          <p:nvPr/>
        </p:nvSpPr>
        <p:spPr>
          <a:xfrm>
            <a:off x="4597400" y="1981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6E6666"/>
                </a:solidFill>
                <a:latin typeface="MiSans"/>
                <a:ea typeface="MiSans"/>
              </a:rPr>
              <a:t>客户的完整产品线</a:t>
            </a:r>
            <a:endParaRPr lang="en-US" sz="1100"/>
          </a:p>
        </p:txBody>
      </p:sp>
      <p:sp>
        <p:nvSpPr>
          <p:cNvPr id="15" name="g1"/>
          <p:cNvSpPr/>
          <p:nvPr/>
        </p:nvSpPr>
        <p:spPr>
          <a:xfrm>
            <a:off x="4597400" y="2336800"/>
            <a:ext cx="1574800" cy="660400"/>
          </a:xfrm>
          <a:prstGeom prst="rect">
            <a:avLst/>
          </a:prstGeom>
          <a:solidFill>
            <a:srgbClr val="FFF1F1"/>
          </a:solidFill>
          <a:ln w="12700">
            <a:solidFill>
              <a:srgbClr val="FF4D4D"/>
            </a:solidFill>
          </a:ln>
        </p:spPr>
      </p:sp>
      <p:sp>
        <p:nvSpPr>
          <p:cNvPr id="16" name="g1-t"/>
          <p:cNvSpPr txBox="1"/>
          <p:nvPr/>
        </p:nvSpPr>
        <p:spPr>
          <a:xfrm>
            <a:off x="4597400" y="2336800"/>
            <a:ext cx="1574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250" b="1">
                <a:solidFill>
                  <a:srgbClr val="FF4D4D"/>
                </a:solidFill>
                <a:latin typeface="MiSans"/>
                <a:ea typeface="MiSans"/>
              </a:rPr>
              <a:t>冻干球</a:t>
            </a:r>
            <a:endParaRPr lang="en-US" sz="1600"/>
          </a:p>
          <a:p>
            <a:pPr algn="ctr">
              <a:lnSpc>
                <a:spcPct val="130000"/>
              </a:lnSpc>
            </a:pPr>
            <a:r>
              <a:rPr lang="en-US" sz="900">
                <a:solidFill>
                  <a:srgbClr val="FF4D4D"/>
                </a:solidFill>
                <a:latin typeface="MiSans"/>
                <a:ea typeface="MiSans"/>
              </a:rPr>
              <a:t>利润型产品</a:t>
            </a:r>
            <a:endParaRPr lang="en-US" sz="1600"/>
          </a:p>
        </p:txBody>
      </p:sp>
      <p:sp>
        <p:nvSpPr>
          <p:cNvPr id="17" name="g2"/>
          <p:cNvSpPr/>
          <p:nvPr/>
        </p:nvSpPr>
        <p:spPr>
          <a:xfrm>
            <a:off x="6400800" y="2336800"/>
            <a:ext cx="1574800" cy="660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8" name="g2-t"/>
          <p:cNvSpPr txBox="1"/>
          <p:nvPr/>
        </p:nvSpPr>
        <p:spPr>
          <a:xfrm>
            <a:off x="6400800" y="2336800"/>
            <a:ext cx="1574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冻干粉</a:t>
            </a:r>
            <a:endParaRPr lang="en-US" sz="1250"/>
          </a:p>
        </p:txBody>
      </p:sp>
      <p:sp>
        <p:nvSpPr>
          <p:cNvPr id="19" name="g3"/>
          <p:cNvSpPr/>
          <p:nvPr/>
        </p:nvSpPr>
        <p:spPr>
          <a:xfrm>
            <a:off x="8204200" y="2336800"/>
            <a:ext cx="1574800" cy="660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0" name="g3-t"/>
          <p:cNvSpPr txBox="1"/>
          <p:nvPr/>
        </p:nvSpPr>
        <p:spPr>
          <a:xfrm>
            <a:off x="8204200" y="2336800"/>
            <a:ext cx="1574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面膜</a:t>
            </a:r>
            <a:endParaRPr lang="en-US" sz="1250"/>
          </a:p>
        </p:txBody>
      </p:sp>
      <p:sp>
        <p:nvSpPr>
          <p:cNvPr id="21" name="g4"/>
          <p:cNvSpPr/>
          <p:nvPr/>
        </p:nvSpPr>
        <p:spPr>
          <a:xfrm>
            <a:off x="10007600" y="2336800"/>
            <a:ext cx="1574800" cy="660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2" name="g4-t"/>
          <p:cNvSpPr txBox="1"/>
          <p:nvPr/>
        </p:nvSpPr>
        <p:spPr>
          <a:xfrm>
            <a:off x="10007600" y="2336800"/>
            <a:ext cx="1574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包材</a:t>
            </a:r>
            <a:endParaRPr lang="en-US" sz="1250"/>
          </a:p>
        </p:txBody>
      </p:sp>
      <p:sp>
        <p:nvSpPr>
          <p:cNvPr id="23" name="g5"/>
          <p:cNvSpPr/>
          <p:nvPr/>
        </p:nvSpPr>
        <p:spPr>
          <a:xfrm>
            <a:off x="4597400" y="3200400"/>
            <a:ext cx="1574800" cy="660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4" name="g5-t"/>
          <p:cNvSpPr txBox="1"/>
          <p:nvPr/>
        </p:nvSpPr>
        <p:spPr>
          <a:xfrm>
            <a:off x="4597400" y="3200400"/>
            <a:ext cx="1574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纸盒</a:t>
            </a:r>
            <a:endParaRPr lang="en-US" sz="1250"/>
          </a:p>
        </p:txBody>
      </p:sp>
      <p:sp>
        <p:nvSpPr>
          <p:cNvPr id="25" name="g6"/>
          <p:cNvSpPr/>
          <p:nvPr/>
        </p:nvSpPr>
        <p:spPr>
          <a:xfrm>
            <a:off x="6400800" y="3200400"/>
            <a:ext cx="1574800" cy="660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6" name="g6-t"/>
          <p:cNvSpPr txBox="1"/>
          <p:nvPr/>
        </p:nvSpPr>
        <p:spPr>
          <a:xfrm>
            <a:off x="6400800" y="3200400"/>
            <a:ext cx="1574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纸箱</a:t>
            </a:r>
            <a:endParaRPr lang="en-US" sz="1250"/>
          </a:p>
        </p:txBody>
      </p:sp>
      <p:sp>
        <p:nvSpPr>
          <p:cNvPr id="27" name="g7"/>
          <p:cNvSpPr/>
          <p:nvPr/>
        </p:nvSpPr>
        <p:spPr>
          <a:xfrm>
            <a:off x="8204200" y="3200400"/>
            <a:ext cx="1574800" cy="660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8" name="g7-t"/>
          <p:cNvSpPr txBox="1"/>
          <p:nvPr/>
        </p:nvSpPr>
        <p:spPr>
          <a:xfrm>
            <a:off x="8204200" y="3200400"/>
            <a:ext cx="1574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2F2929"/>
                </a:solidFill>
                <a:latin typeface="MiSans"/>
                <a:ea typeface="MiSans"/>
              </a:rPr>
              <a:t>其他OEM产品</a:t>
            </a:r>
            <a:endParaRPr lang="en-US" sz="1200"/>
          </a:p>
        </p:txBody>
      </p:sp>
      <p:sp>
        <p:nvSpPr>
          <p:cNvPr id="29" name="g-note"/>
          <p:cNvSpPr txBox="1"/>
          <p:nvPr/>
        </p:nvSpPr>
        <p:spPr>
          <a:xfrm>
            <a:off x="4597400" y="4089400"/>
            <a:ext cx="698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>
                <a:solidFill>
                  <a:srgbClr val="6E6666"/>
                </a:solidFill>
                <a:latin typeface="MiSans"/>
                <a:ea typeface="MiSans"/>
              </a:rPr>
              <a:t>冻干球有较高利润，软管就可以采用较低毛利切入——</a:t>
            </a:r>
            <a:endParaRPr lang="en-US" sz="1100"/>
          </a:p>
          <a:p>
            <a:pPr>
              <a:lnSpc>
                <a:spcPct val="160000"/>
              </a:lnSpc>
            </a:pPr>
            <a:r>
              <a:rPr lang="en-US" sz="1100">
                <a:solidFill>
                  <a:srgbClr val="6E6666"/>
                </a:solidFill>
                <a:latin typeface="MiSans"/>
                <a:ea typeface="MiSans"/>
              </a:rPr>
              <a:t>单品的账，要放进客户的账里算。</a:t>
            </a:r>
            <a:endParaRPr lang="en-US" sz="1100"/>
          </a:p>
        </p:txBody>
      </p:sp>
      <p:sp>
        <p:nvSpPr>
          <p:cNvPr id="30" name="strip"/>
          <p:cNvSpPr/>
          <p:nvPr/>
        </p:nvSpPr>
        <p:spPr>
          <a:xfrm>
            <a:off x="609600" y="5435600"/>
            <a:ext cx="10972800" cy="7112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31" name="strip-bar"/>
          <p:cNvSpPr/>
          <p:nvPr/>
        </p:nvSpPr>
        <p:spPr>
          <a:xfrm>
            <a:off x="609600" y="5435600"/>
            <a:ext cx="50800" cy="711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32" name="strip-t"/>
          <p:cNvSpPr txBox="1"/>
          <p:nvPr/>
        </p:nvSpPr>
        <p:spPr>
          <a:xfrm>
            <a:off x="965200" y="54356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b="1">
                <a:solidFill>
                  <a:srgbClr val="140B0A"/>
                </a:solidFill>
                <a:latin typeface="MiSans"/>
                <a:ea typeface="MiSans"/>
              </a:rPr>
              <a:t>真正要计算的不是单个产品毛利率，而是</a:t>
            </a:r>
            <a:r>
              <a:rPr lang="en-US" sz="1450" b="1">
                <a:solidFill>
                  <a:srgbClr val="FF4D4D"/>
                </a:solidFill>
                <a:latin typeface="MiSans"/>
                <a:ea typeface="MiSans"/>
              </a:rPr>
              <a:t>整个客户的平均毛利率与长期价值</a:t>
            </a:r>
            <a:r>
              <a:rPr lang="en-US" sz="1450" b="1">
                <a:solidFill>
                  <a:srgbClr val="140B0A"/>
                </a:solidFill>
                <a:latin typeface="MiSans"/>
                <a:ea typeface="MiSans"/>
              </a:rPr>
              <a:t>。</a:t>
            </a:r>
            <a:endParaRPr lang="en-US" sz="1450"/>
          </a:p>
        </p:txBody>
      </p:sp>
      <p:sp>
        <p:nvSpPr>
          <p:cNvPr id="33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34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10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03 · 组合经营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产品组合经营：三类产品，三种角色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经营型销售设计组合，而不是对每个产品使用同一毛利标准</a:t>
            </a:r>
            <a:endParaRPr lang="en-US" sz="1250"/>
          </a:p>
        </p:txBody>
      </p:sp>
      <p:sp>
        <p:nvSpPr>
          <p:cNvPr id="7" name="c1"/>
          <p:cNvSpPr/>
          <p:nvPr/>
        </p:nvSpPr>
        <p:spPr>
          <a:xfrm>
            <a:off x="609600" y="1981200"/>
            <a:ext cx="3429000" cy="32004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8" name="c1-n"/>
          <p:cNvSpPr txBox="1"/>
          <p:nvPr/>
        </p:nvSpPr>
        <p:spPr>
          <a:xfrm>
            <a:off x="914400" y="2286000"/>
            <a:ext cx="152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FFFFFF"/>
                </a:solidFill>
                <a:latin typeface="MiSans"/>
                <a:ea typeface="MiSans"/>
              </a:rPr>
              <a:t>01</a:t>
            </a:r>
            <a:endParaRPr lang="en-US" sz="2600"/>
          </a:p>
        </p:txBody>
      </p:sp>
      <p:sp>
        <p:nvSpPr>
          <p:cNvPr id="9" name="c1-name"/>
          <p:cNvSpPr txBox="1"/>
          <p:nvPr/>
        </p:nvSpPr>
        <p:spPr>
          <a:xfrm>
            <a:off x="914400" y="2870200"/>
            <a:ext cx="2819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</a:rPr>
              <a:t>利润型产品</a:t>
            </a:r>
            <a:endParaRPr lang="en-US" sz="1800"/>
          </a:p>
        </p:txBody>
      </p:sp>
      <p:sp>
        <p:nvSpPr>
          <p:cNvPr id="10" name="c1-line"/>
          <p:cNvSpPr/>
          <p:nvPr/>
        </p:nvSpPr>
        <p:spPr>
          <a:xfrm>
            <a:off x="914400" y="3378200"/>
            <a:ext cx="2819400" cy="12700"/>
          </a:xfrm>
          <a:prstGeom prst="rect">
            <a:avLst/>
          </a:prstGeom>
          <a:solidFill>
            <a:srgbClr val="FF8A8A"/>
          </a:solidFill>
          <a:ln>
            <a:noFill/>
          </a:ln>
        </p:spPr>
      </p:sp>
      <p:sp>
        <p:nvSpPr>
          <p:cNvPr id="11" name="c1-desc"/>
          <p:cNvSpPr txBox="1"/>
          <p:nvPr/>
        </p:nvSpPr>
        <p:spPr>
          <a:xfrm>
            <a:off x="914400" y="3606800"/>
            <a:ext cx="2819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>
                <a:solidFill>
                  <a:srgbClr val="FFE9E9"/>
                </a:solidFill>
                <a:latin typeface="MiSans"/>
                <a:ea typeface="MiSans"/>
              </a:rPr>
              <a:t>有明显技术、成本或资源优势，</a:t>
            </a:r>
            <a:endParaRPr lang="en-US" sz="1200"/>
          </a:p>
          <a:p>
            <a:pPr>
              <a:lnSpc>
                <a:spcPct val="165000"/>
              </a:lnSpc>
            </a:pPr>
            <a:r>
              <a:rPr lang="en-US" sz="1200">
                <a:solidFill>
                  <a:srgbClr val="FFE9E9"/>
                </a:solidFill>
                <a:latin typeface="MiSans"/>
                <a:ea typeface="MiSans"/>
              </a:rPr>
              <a:t>应当获得合理的高毛利——</a:t>
            </a:r>
            <a:endParaRPr lang="en-US" sz="1200"/>
          </a:p>
          <a:p>
            <a:pPr>
              <a:lnSpc>
                <a:spcPct val="165000"/>
              </a:lnSpc>
            </a:pPr>
            <a:r>
              <a:rPr lang="en-US" sz="1200">
                <a:solidFill>
                  <a:srgbClr val="FFE9E9"/>
                </a:solidFill>
                <a:latin typeface="MiSans"/>
                <a:ea typeface="MiSans"/>
              </a:rPr>
              <a:t>它是组合里的利润来源。</a:t>
            </a:r>
            <a:endParaRPr lang="en-US" sz="1200"/>
          </a:p>
        </p:txBody>
      </p:sp>
      <p:sp>
        <p:nvSpPr>
          <p:cNvPr id="12" name="c2"/>
          <p:cNvSpPr/>
          <p:nvPr/>
        </p:nvSpPr>
        <p:spPr>
          <a:xfrm>
            <a:off x="4381500" y="1981200"/>
            <a:ext cx="3429000" cy="3200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3" name="c2-n"/>
          <p:cNvSpPr txBox="1"/>
          <p:nvPr/>
        </p:nvSpPr>
        <p:spPr>
          <a:xfrm>
            <a:off x="4686300" y="2286000"/>
            <a:ext cx="152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C7C4C4"/>
                </a:solidFill>
                <a:latin typeface="MiSans"/>
                <a:ea typeface="MiSans"/>
              </a:rPr>
              <a:t>02</a:t>
            </a:r>
            <a:endParaRPr lang="en-US" sz="2600"/>
          </a:p>
        </p:txBody>
      </p:sp>
      <p:sp>
        <p:nvSpPr>
          <p:cNvPr id="14" name="c2-name"/>
          <p:cNvSpPr txBox="1"/>
          <p:nvPr/>
        </p:nvSpPr>
        <p:spPr>
          <a:xfrm>
            <a:off x="4686300" y="2870200"/>
            <a:ext cx="2819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140B0A"/>
                </a:solidFill>
                <a:latin typeface="MiSans"/>
                <a:ea typeface="MiSans"/>
              </a:rPr>
              <a:t>切入型产品</a:t>
            </a:r>
            <a:endParaRPr lang="en-US" sz="1800"/>
          </a:p>
        </p:txBody>
      </p:sp>
      <p:sp>
        <p:nvSpPr>
          <p:cNvPr id="15" name="c2-line"/>
          <p:cNvSpPr/>
          <p:nvPr/>
        </p:nvSpPr>
        <p:spPr>
          <a:xfrm>
            <a:off x="4686300" y="3378200"/>
            <a:ext cx="2819400" cy="12700"/>
          </a:xfrm>
          <a:prstGeom prst="rect">
            <a:avLst/>
          </a:prstGeom>
          <a:solidFill>
            <a:srgbClr val="DDDBDB"/>
          </a:solidFill>
          <a:ln>
            <a:noFill/>
          </a:ln>
        </p:spPr>
      </p:sp>
      <p:sp>
        <p:nvSpPr>
          <p:cNvPr id="16" name="c2-desc"/>
          <p:cNvSpPr txBox="1"/>
          <p:nvPr/>
        </p:nvSpPr>
        <p:spPr>
          <a:xfrm>
            <a:off x="4686300" y="3606800"/>
            <a:ext cx="2819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>
                <a:solidFill>
                  <a:srgbClr val="6E6666"/>
                </a:solidFill>
                <a:latin typeface="MiSans"/>
                <a:ea typeface="MiSans"/>
              </a:rPr>
              <a:t>毛利可以适当降低，</a:t>
            </a:r>
            <a:endParaRPr lang="en-US" sz="1200"/>
          </a:p>
          <a:p>
            <a:pPr>
              <a:lnSpc>
                <a:spcPct val="165000"/>
              </a:lnSpc>
            </a:pPr>
            <a:r>
              <a:rPr lang="en-US" sz="1200">
                <a:solidFill>
                  <a:srgbClr val="6E6666"/>
                </a:solidFill>
                <a:latin typeface="MiSans"/>
                <a:ea typeface="MiSans"/>
              </a:rPr>
              <a:t>作用是建立合作、扩大产品线——</a:t>
            </a:r>
            <a:endParaRPr lang="en-US" sz="1200"/>
          </a:p>
          <a:p>
            <a:pPr>
              <a:lnSpc>
                <a:spcPct val="165000"/>
              </a:lnSpc>
            </a:pPr>
            <a:r>
              <a:rPr lang="en-US" sz="1200">
                <a:solidFill>
                  <a:srgbClr val="6E6666"/>
                </a:solidFill>
                <a:latin typeface="MiSans"/>
                <a:ea typeface="MiSans"/>
              </a:rPr>
              <a:t>它是组合里的敲门砖。</a:t>
            </a:r>
            <a:endParaRPr lang="en-US" sz="1200"/>
          </a:p>
        </p:txBody>
      </p:sp>
      <p:sp>
        <p:nvSpPr>
          <p:cNvPr id="17" name="c3"/>
          <p:cNvSpPr/>
          <p:nvPr/>
        </p:nvSpPr>
        <p:spPr>
          <a:xfrm>
            <a:off x="8153400" y="1981200"/>
            <a:ext cx="3429000" cy="3200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8" name="c3-n"/>
          <p:cNvSpPr txBox="1"/>
          <p:nvPr/>
        </p:nvSpPr>
        <p:spPr>
          <a:xfrm>
            <a:off x="8458200" y="2286000"/>
            <a:ext cx="152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C7C4C4"/>
                </a:solidFill>
                <a:latin typeface="MiSans"/>
                <a:ea typeface="MiSans"/>
              </a:rPr>
              <a:t>03</a:t>
            </a:r>
            <a:endParaRPr lang="en-US" sz="2600"/>
          </a:p>
        </p:txBody>
      </p:sp>
      <p:sp>
        <p:nvSpPr>
          <p:cNvPr id="19" name="c3-name"/>
          <p:cNvSpPr txBox="1"/>
          <p:nvPr/>
        </p:nvSpPr>
        <p:spPr>
          <a:xfrm>
            <a:off x="8458200" y="2870200"/>
            <a:ext cx="2819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140B0A"/>
                </a:solidFill>
                <a:latin typeface="MiSans"/>
                <a:ea typeface="MiSans"/>
              </a:rPr>
              <a:t>关系型产品</a:t>
            </a:r>
            <a:endParaRPr lang="en-US" sz="1800"/>
          </a:p>
        </p:txBody>
      </p:sp>
      <p:sp>
        <p:nvSpPr>
          <p:cNvPr id="20" name="c3-line"/>
          <p:cNvSpPr/>
          <p:nvPr/>
        </p:nvSpPr>
        <p:spPr>
          <a:xfrm>
            <a:off x="8458200" y="3378200"/>
            <a:ext cx="2819400" cy="12700"/>
          </a:xfrm>
          <a:prstGeom prst="rect">
            <a:avLst/>
          </a:prstGeom>
          <a:solidFill>
            <a:srgbClr val="DDDBDB"/>
          </a:solidFill>
          <a:ln>
            <a:noFill/>
          </a:ln>
        </p:spPr>
      </p:sp>
      <p:sp>
        <p:nvSpPr>
          <p:cNvPr id="21" name="c3-desc"/>
          <p:cNvSpPr txBox="1"/>
          <p:nvPr/>
        </p:nvSpPr>
        <p:spPr>
          <a:xfrm>
            <a:off x="8458200" y="3606800"/>
            <a:ext cx="2819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>
                <a:solidFill>
                  <a:srgbClr val="6E6666"/>
                </a:solidFill>
                <a:latin typeface="MiSans"/>
                <a:ea typeface="MiSans"/>
              </a:rPr>
              <a:t>本身利润有限，</a:t>
            </a:r>
            <a:endParaRPr lang="en-US" sz="1200"/>
          </a:p>
          <a:p>
            <a:pPr>
              <a:lnSpc>
                <a:spcPct val="165000"/>
              </a:lnSpc>
            </a:pPr>
            <a:r>
              <a:rPr lang="en-US" sz="1200">
                <a:solidFill>
                  <a:srgbClr val="6E6666"/>
                </a:solidFill>
                <a:latin typeface="MiSans"/>
                <a:ea typeface="MiSans"/>
              </a:rPr>
              <a:t>但可以提高客户黏性和合作深度——</a:t>
            </a:r>
            <a:endParaRPr lang="en-US" sz="1200"/>
          </a:p>
          <a:p>
            <a:pPr>
              <a:lnSpc>
                <a:spcPct val="165000"/>
              </a:lnSpc>
            </a:pPr>
            <a:r>
              <a:rPr lang="en-US" sz="1200">
                <a:solidFill>
                  <a:srgbClr val="6E6666"/>
                </a:solidFill>
                <a:latin typeface="MiSans"/>
                <a:ea typeface="MiSans"/>
              </a:rPr>
              <a:t>它是组合里的黏合剂。</a:t>
            </a:r>
            <a:endParaRPr lang="en-US" sz="1200"/>
          </a:p>
        </p:txBody>
      </p:sp>
      <p:sp>
        <p:nvSpPr>
          <p:cNvPr id="22" name="concl"/>
          <p:cNvSpPr txBox="1"/>
          <p:nvPr/>
        </p:nvSpPr>
        <p:spPr>
          <a:xfrm>
            <a:off x="609600" y="5638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40B0A"/>
                </a:solidFill>
                <a:latin typeface="MiSans"/>
                <a:ea typeface="MiSans"/>
              </a:rPr>
              <a:t>用利润型产品挣钱，用切入型产品开门，用关系型产品留客。</a:t>
            </a:r>
            <a:endParaRPr lang="en-US" sz="1400"/>
          </a:p>
        </p:txBody>
      </p:sp>
      <p:sp>
        <p:nvSpPr>
          <p:cNvPr id="23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4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11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03 · 组合经营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高毛利产品，不要手软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价格不需要最低，只需要相对有竞争力</a:t>
            </a:r>
            <a:endParaRPr lang="en-US" sz="1250"/>
          </a:p>
        </p:txBody>
      </p:sp>
      <p:sp>
        <p:nvSpPr>
          <p:cNvPr id="7" name="bar1"/>
          <p:cNvSpPr/>
          <p:nvPr/>
        </p:nvSpPr>
        <p:spPr>
          <a:xfrm>
            <a:off x="1117600" y="2578100"/>
            <a:ext cx="1066800" cy="2120900"/>
          </a:xfrm>
          <a:prstGeom prst="rect">
            <a:avLst/>
          </a:prstGeom>
          <a:solidFill>
            <a:srgbClr val="BDBDBD"/>
          </a:solidFill>
          <a:ln>
            <a:noFill/>
          </a:ln>
        </p:spPr>
      </p:sp>
      <p:sp>
        <p:nvSpPr>
          <p:cNvPr id="8" name="bar1-v"/>
          <p:cNvSpPr txBox="1"/>
          <p:nvPr/>
        </p:nvSpPr>
        <p:spPr>
          <a:xfrm>
            <a:off x="1117600" y="22479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40B0A"/>
                </a:solidFill>
                <a:latin typeface="MiSans"/>
                <a:ea typeface="MiSans"/>
              </a:rPr>
              <a:t>1.00 元</a:t>
            </a:r>
            <a:endParaRPr lang="en-US" sz="1300"/>
          </a:p>
        </p:txBody>
      </p:sp>
      <p:sp>
        <p:nvSpPr>
          <p:cNvPr id="9" name="bar1-l"/>
          <p:cNvSpPr txBox="1"/>
          <p:nvPr/>
        </p:nvSpPr>
        <p:spPr>
          <a:xfrm>
            <a:off x="990600" y="4851400"/>
            <a:ext cx="1320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6E6666"/>
                </a:solidFill>
                <a:latin typeface="MiSans"/>
                <a:ea typeface="MiSans"/>
              </a:rPr>
              <a:t>客户原采购价</a:t>
            </a:r>
            <a:endParaRPr lang="en-US" sz="1100"/>
          </a:p>
        </p:txBody>
      </p:sp>
      <p:sp>
        <p:nvSpPr>
          <p:cNvPr id="10" name="bar2"/>
          <p:cNvSpPr/>
          <p:nvPr/>
        </p:nvSpPr>
        <p:spPr>
          <a:xfrm>
            <a:off x="2743200" y="3429000"/>
            <a:ext cx="1066800" cy="12700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1" name="bar2-v"/>
          <p:cNvSpPr txBox="1"/>
          <p:nvPr/>
        </p:nvSpPr>
        <p:spPr>
          <a:xfrm>
            <a:off x="2743200" y="30988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4D4D"/>
                </a:solidFill>
                <a:latin typeface="MiSans"/>
                <a:ea typeface="MiSans"/>
              </a:rPr>
              <a:t>0.60 元</a:t>
            </a:r>
            <a:endParaRPr lang="en-US" sz="1300"/>
          </a:p>
        </p:txBody>
      </p:sp>
      <p:sp>
        <p:nvSpPr>
          <p:cNvPr id="12" name="bar2-l"/>
          <p:cNvSpPr txBox="1"/>
          <p:nvPr/>
        </p:nvSpPr>
        <p:spPr>
          <a:xfrm>
            <a:off x="2616200" y="4851400"/>
            <a:ext cx="1320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6E6666"/>
                </a:solidFill>
                <a:latin typeface="MiSans"/>
                <a:ea typeface="MiSans"/>
              </a:rPr>
              <a:t>我方报价 A</a:t>
            </a:r>
            <a:endParaRPr lang="en-US" sz="1100"/>
          </a:p>
        </p:txBody>
      </p:sp>
      <p:sp>
        <p:nvSpPr>
          <p:cNvPr id="13" name="bar2-tag"/>
          <p:cNvSpPr txBox="1"/>
          <p:nvPr/>
        </p:nvSpPr>
        <p:spPr>
          <a:xfrm>
            <a:off x="2743200" y="3937000"/>
            <a:ext cx="1066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FFFFFF"/>
                </a:solidFill>
                <a:latin typeface="MiSans"/>
                <a:ea typeface="MiSans"/>
              </a:rPr>
              <a:t>客户仍省 40%</a:t>
            </a:r>
            <a:endParaRPr lang="en-US" sz="1000"/>
          </a:p>
        </p:txBody>
      </p:sp>
      <p:sp>
        <p:nvSpPr>
          <p:cNvPr id="14" name="bar3"/>
          <p:cNvSpPr/>
          <p:nvPr/>
        </p:nvSpPr>
        <p:spPr>
          <a:xfrm>
            <a:off x="4368800" y="3746500"/>
            <a:ext cx="1066800" cy="952500"/>
          </a:xfrm>
          <a:prstGeom prst="rect">
            <a:avLst/>
          </a:prstGeom>
          <a:solidFill>
            <a:srgbClr val="D9D6D6"/>
          </a:solidFill>
          <a:ln>
            <a:noFill/>
          </a:ln>
        </p:spPr>
      </p:sp>
      <p:sp>
        <p:nvSpPr>
          <p:cNvPr id="15" name="bar3-v"/>
          <p:cNvSpPr txBox="1"/>
          <p:nvPr/>
        </p:nvSpPr>
        <p:spPr>
          <a:xfrm>
            <a:off x="4368800" y="34163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9B9595"/>
                </a:solidFill>
                <a:latin typeface="MiSans"/>
                <a:ea typeface="MiSans"/>
              </a:rPr>
              <a:t>0.45 元</a:t>
            </a:r>
            <a:endParaRPr lang="en-US" sz="1300"/>
          </a:p>
        </p:txBody>
      </p:sp>
      <p:sp>
        <p:nvSpPr>
          <p:cNvPr id="16" name="bar3-l"/>
          <p:cNvSpPr txBox="1"/>
          <p:nvPr/>
        </p:nvSpPr>
        <p:spPr>
          <a:xfrm>
            <a:off x="4241800" y="4851400"/>
            <a:ext cx="1320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6E6666"/>
                </a:solidFill>
                <a:latin typeface="MiSans"/>
                <a:ea typeface="MiSans"/>
              </a:rPr>
              <a:t>我方报价 B</a:t>
            </a:r>
            <a:endParaRPr lang="en-US" sz="1100"/>
          </a:p>
        </p:txBody>
      </p:sp>
      <p:sp>
        <p:nvSpPr>
          <p:cNvPr id="17" name="baseline"/>
          <p:cNvSpPr/>
          <p:nvPr/>
        </p:nvSpPr>
        <p:spPr>
          <a:xfrm>
            <a:off x="609600" y="4699000"/>
            <a:ext cx="53340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18" name="chart-note"/>
          <p:cNvSpPr txBox="1"/>
          <p:nvPr/>
        </p:nvSpPr>
        <p:spPr>
          <a:xfrm>
            <a:off x="609600" y="5308600"/>
            <a:ext cx="5461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050">
                <a:solidFill>
                  <a:srgbClr val="6E6666"/>
                </a:solidFill>
                <a:latin typeface="MiSans"/>
                <a:ea typeface="MiSans"/>
              </a:rPr>
              <a:t>报价 0.60 元，客户仍节省 40%；直接报 0.45 元，成交更容易，</a:t>
            </a:r>
            <a:endParaRPr lang="en-US" sz="1050"/>
          </a:p>
          <a:p>
            <a:pPr>
              <a:lnSpc>
                <a:spcPct val="160000"/>
              </a:lnSpc>
            </a:pPr>
            <a:r>
              <a:rPr lang="en-US" sz="1050">
                <a:solidFill>
                  <a:srgbClr val="6E6666"/>
                </a:solidFill>
                <a:latin typeface="MiSans"/>
                <a:ea typeface="MiSans"/>
              </a:rPr>
              <a:t>却主动放弃了大量价值。（示意数据，按案例口径）</a:t>
            </a:r>
            <a:endParaRPr lang="en-US" sz="1050"/>
          </a:p>
        </p:txBody>
      </p:sp>
      <p:sp>
        <p:nvSpPr>
          <p:cNvPr id="19" name="r-label"/>
          <p:cNvSpPr txBox="1"/>
          <p:nvPr/>
        </p:nvSpPr>
        <p:spPr>
          <a:xfrm>
            <a:off x="6553200" y="1905000"/>
            <a:ext cx="502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40B0A"/>
                </a:solidFill>
                <a:latin typeface="MiSans"/>
                <a:ea typeface="MiSans"/>
              </a:rPr>
              <a:t>客户买的不是绝对低价，而是——</a:t>
            </a:r>
            <a:endParaRPr lang="en-US" sz="1400"/>
          </a:p>
        </p:txBody>
      </p:sp>
      <p:sp>
        <p:nvSpPr>
          <p:cNvPr id="20" name="r1-sq"/>
          <p:cNvSpPr/>
          <p:nvPr/>
        </p:nvSpPr>
        <p:spPr>
          <a:xfrm>
            <a:off x="6553200" y="24511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1" name="r1"/>
          <p:cNvSpPr txBox="1"/>
          <p:nvPr/>
        </p:nvSpPr>
        <p:spPr>
          <a:xfrm>
            <a:off x="6756400" y="2362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2F2929"/>
                </a:solidFill>
                <a:latin typeface="MiSans"/>
                <a:ea typeface="MiSans"/>
              </a:rPr>
              <a:t>成本改善</a:t>
            </a:r>
            <a:endParaRPr lang="en-US" sz="1300"/>
          </a:p>
        </p:txBody>
      </p:sp>
      <p:sp>
        <p:nvSpPr>
          <p:cNvPr id="22" name="r2-sq"/>
          <p:cNvSpPr/>
          <p:nvPr/>
        </p:nvSpPr>
        <p:spPr>
          <a:xfrm>
            <a:off x="6553200" y="29337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3" name="r2"/>
          <p:cNvSpPr txBox="1"/>
          <p:nvPr/>
        </p:nvSpPr>
        <p:spPr>
          <a:xfrm>
            <a:off x="6756400" y="28448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2F2929"/>
                </a:solidFill>
                <a:latin typeface="MiSans"/>
                <a:ea typeface="MiSans"/>
              </a:rPr>
              <a:t>质量稳定</a:t>
            </a:r>
            <a:endParaRPr lang="en-US" sz="1300"/>
          </a:p>
        </p:txBody>
      </p:sp>
      <p:sp>
        <p:nvSpPr>
          <p:cNvPr id="24" name="r3-sq"/>
          <p:cNvSpPr/>
          <p:nvPr/>
        </p:nvSpPr>
        <p:spPr>
          <a:xfrm>
            <a:off x="6553200" y="34163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5" name="r3"/>
          <p:cNvSpPr txBox="1"/>
          <p:nvPr/>
        </p:nvSpPr>
        <p:spPr>
          <a:xfrm>
            <a:off x="6756400" y="3327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2F2929"/>
                </a:solidFill>
                <a:latin typeface="MiSans"/>
                <a:ea typeface="MiSans"/>
              </a:rPr>
              <a:t>交付安全</a:t>
            </a:r>
            <a:endParaRPr lang="en-US" sz="1300"/>
          </a:p>
        </p:txBody>
      </p:sp>
      <p:sp>
        <p:nvSpPr>
          <p:cNvPr id="26" name="r4-sq"/>
          <p:cNvSpPr/>
          <p:nvPr/>
        </p:nvSpPr>
        <p:spPr>
          <a:xfrm>
            <a:off x="6553200" y="38989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7" name="r4"/>
          <p:cNvSpPr txBox="1"/>
          <p:nvPr/>
        </p:nvSpPr>
        <p:spPr>
          <a:xfrm>
            <a:off x="6756400" y="38100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2F2929"/>
                </a:solidFill>
                <a:latin typeface="MiSans"/>
                <a:ea typeface="MiSans"/>
              </a:rPr>
              <a:t>产品效果</a:t>
            </a:r>
            <a:endParaRPr lang="en-US" sz="1300"/>
          </a:p>
        </p:txBody>
      </p:sp>
      <p:sp>
        <p:nvSpPr>
          <p:cNvPr id="28" name="r5-sq"/>
          <p:cNvSpPr/>
          <p:nvPr/>
        </p:nvSpPr>
        <p:spPr>
          <a:xfrm>
            <a:off x="6553200" y="43815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9" name="r5"/>
          <p:cNvSpPr txBox="1"/>
          <p:nvPr/>
        </p:nvSpPr>
        <p:spPr>
          <a:xfrm>
            <a:off x="6756400" y="42926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2F2929"/>
                </a:solidFill>
                <a:latin typeface="MiSans"/>
                <a:ea typeface="MiSans"/>
              </a:rPr>
              <a:t>综合供应链能力</a:t>
            </a:r>
            <a:endParaRPr lang="en-US" sz="1300"/>
          </a:p>
        </p:txBody>
      </p:sp>
      <p:sp>
        <p:nvSpPr>
          <p:cNvPr id="30" name="r-note"/>
          <p:cNvSpPr txBox="1"/>
          <p:nvPr/>
        </p:nvSpPr>
        <p:spPr>
          <a:xfrm>
            <a:off x="6553200" y="4978400"/>
            <a:ext cx="5029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只要相对有竞争力，客户就有充分理由换供应商——</a:t>
            </a:r>
            <a:endParaRPr lang="en-US" sz="1150"/>
          </a:p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没必要把价格打到最低。</a:t>
            </a:r>
            <a:endParaRPr lang="en-US" sz="1150"/>
          </a:p>
        </p:txBody>
      </p:sp>
      <p:sp>
        <p:nvSpPr>
          <p:cNvPr id="31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32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12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03 · 组合经营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低毛利产品，不要幻想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市场高度透明、客户可接受价格固定的产品，强求高毛利只会丢掉合作</a:t>
            </a:r>
            <a:endParaRPr lang="en-US" sz="1250"/>
          </a:p>
        </p:txBody>
      </p:sp>
      <p:sp>
        <p:nvSpPr>
          <p:cNvPr id="7" name="r1-n"/>
          <p:cNvSpPr txBox="1"/>
          <p:nvPr/>
        </p:nvSpPr>
        <p:spPr>
          <a:xfrm>
            <a:off x="609600" y="18542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9B9595"/>
                </a:solidFill>
                <a:latin typeface="MiSans"/>
                <a:ea typeface="MiSans"/>
              </a:rPr>
              <a:t>01</a:t>
            </a:r>
            <a:endParaRPr lang="en-US" sz="1700"/>
          </a:p>
        </p:txBody>
      </p:sp>
      <p:sp>
        <p:nvSpPr>
          <p:cNvPr id="8" name="r1"/>
          <p:cNvSpPr txBox="1"/>
          <p:nvPr/>
        </p:nvSpPr>
        <p:spPr>
          <a:xfrm>
            <a:off x="1219200" y="1879600"/>
            <a:ext cx="10363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40B0A"/>
                </a:solidFill>
                <a:latin typeface="MiSans"/>
                <a:ea typeface="MiSans"/>
              </a:rPr>
              <a:t>识别市场价格边界</a:t>
            </a:r>
            <a:r>
              <a:rPr lang="en-US" sz="1300">
                <a:solidFill>
                  <a:srgbClr val="6E6666"/>
                </a:solidFill>
                <a:latin typeface="MiSans"/>
                <a:ea typeface="MiSans"/>
              </a:rPr>
              <a:t>　——　这类产品能卖多少钱，市场说了算</a:t>
            </a:r>
            <a:endParaRPr lang="en-US" sz="1300"/>
          </a:p>
        </p:txBody>
      </p:sp>
      <p:sp>
        <p:nvSpPr>
          <p:cNvPr id="9" name="r2-n"/>
          <p:cNvSpPr txBox="1"/>
          <p:nvPr/>
        </p:nvSpPr>
        <p:spPr>
          <a:xfrm>
            <a:off x="609600" y="26416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9B9595"/>
                </a:solidFill>
                <a:latin typeface="MiSans"/>
                <a:ea typeface="MiSans"/>
              </a:rPr>
              <a:t>02</a:t>
            </a:r>
            <a:endParaRPr lang="en-US" sz="1700"/>
          </a:p>
        </p:txBody>
      </p:sp>
      <p:sp>
        <p:nvSpPr>
          <p:cNvPr id="10" name="r2"/>
          <p:cNvSpPr txBox="1"/>
          <p:nvPr/>
        </p:nvSpPr>
        <p:spPr>
          <a:xfrm>
            <a:off x="1219200" y="2667000"/>
            <a:ext cx="10363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40B0A"/>
                </a:solidFill>
                <a:latin typeface="MiSans"/>
                <a:ea typeface="MiSans"/>
              </a:rPr>
              <a:t>判断是否有供应链优化空间</a:t>
            </a:r>
            <a:r>
              <a:rPr lang="en-US" sz="1300">
                <a:solidFill>
                  <a:srgbClr val="6E6666"/>
                </a:solidFill>
                <a:latin typeface="MiSans"/>
                <a:ea typeface="MiSans"/>
              </a:rPr>
              <a:t>　——　成本能不能真正降下来</a:t>
            </a:r>
            <a:endParaRPr lang="en-US" sz="1300"/>
          </a:p>
        </p:txBody>
      </p:sp>
      <p:sp>
        <p:nvSpPr>
          <p:cNvPr id="11" name="r3-n"/>
          <p:cNvSpPr txBox="1"/>
          <p:nvPr/>
        </p:nvSpPr>
        <p:spPr>
          <a:xfrm>
            <a:off x="609600" y="34290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9B9595"/>
                </a:solidFill>
                <a:latin typeface="MiSans"/>
                <a:ea typeface="MiSans"/>
              </a:rPr>
              <a:t>03</a:t>
            </a:r>
            <a:endParaRPr lang="en-US" sz="1700"/>
          </a:p>
        </p:txBody>
      </p:sp>
      <p:sp>
        <p:nvSpPr>
          <p:cNvPr id="12" name="r3"/>
          <p:cNvSpPr txBox="1"/>
          <p:nvPr/>
        </p:nvSpPr>
        <p:spPr>
          <a:xfrm>
            <a:off x="1219200" y="3454400"/>
            <a:ext cx="10363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40B0A"/>
                </a:solidFill>
                <a:latin typeface="MiSans"/>
                <a:ea typeface="MiSans"/>
              </a:rPr>
              <a:t>判断是否具有战略价值</a:t>
            </a:r>
            <a:r>
              <a:rPr lang="en-US" sz="1300">
                <a:solidFill>
                  <a:srgbClr val="6E6666"/>
                </a:solidFill>
                <a:latin typeface="MiSans"/>
                <a:ea typeface="MiSans"/>
              </a:rPr>
              <a:t>　——　它是不是进入客户供应链的门票</a:t>
            </a:r>
            <a:endParaRPr lang="en-US" sz="1300"/>
          </a:p>
        </p:txBody>
      </p:sp>
      <p:sp>
        <p:nvSpPr>
          <p:cNvPr id="13" name="r4-n"/>
          <p:cNvSpPr txBox="1"/>
          <p:nvPr/>
        </p:nvSpPr>
        <p:spPr>
          <a:xfrm>
            <a:off x="609600" y="42164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9B9595"/>
                </a:solidFill>
                <a:latin typeface="MiSans"/>
                <a:ea typeface="MiSans"/>
              </a:rPr>
              <a:t>04</a:t>
            </a:r>
            <a:endParaRPr lang="en-US" sz="1700"/>
          </a:p>
        </p:txBody>
      </p:sp>
      <p:sp>
        <p:nvSpPr>
          <p:cNvPr id="14" name="r4"/>
          <p:cNvSpPr txBox="1"/>
          <p:nvPr/>
        </p:nvSpPr>
        <p:spPr>
          <a:xfrm>
            <a:off x="1219200" y="4241800"/>
            <a:ext cx="10363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40B0A"/>
                </a:solidFill>
                <a:latin typeface="MiSans"/>
                <a:ea typeface="MiSans"/>
              </a:rPr>
              <a:t>判断能否带动其他产品</a:t>
            </a:r>
            <a:r>
              <a:rPr lang="en-US" sz="1300">
                <a:solidFill>
                  <a:srgbClr val="6E6666"/>
                </a:solidFill>
                <a:latin typeface="MiSans"/>
                <a:ea typeface="MiSans"/>
              </a:rPr>
              <a:t>　——　它背后有没有利润型产品</a:t>
            </a:r>
            <a:endParaRPr lang="en-US" sz="1300"/>
          </a:p>
        </p:txBody>
      </p:sp>
      <p:sp>
        <p:nvSpPr>
          <p:cNvPr id="15" name="r5-n"/>
          <p:cNvSpPr txBox="1"/>
          <p:nvPr/>
        </p:nvSpPr>
        <p:spPr>
          <a:xfrm>
            <a:off x="609600" y="50038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9B9595"/>
                </a:solidFill>
                <a:latin typeface="MiSans"/>
                <a:ea typeface="MiSans"/>
              </a:rPr>
              <a:t>05</a:t>
            </a:r>
            <a:endParaRPr lang="en-US" sz="1700"/>
          </a:p>
        </p:txBody>
      </p:sp>
      <p:sp>
        <p:nvSpPr>
          <p:cNvPr id="16" name="r5"/>
          <p:cNvSpPr txBox="1"/>
          <p:nvPr/>
        </p:nvSpPr>
        <p:spPr>
          <a:xfrm>
            <a:off x="1219200" y="5029200"/>
            <a:ext cx="10363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40B0A"/>
                </a:solidFill>
                <a:latin typeface="MiSans"/>
                <a:ea typeface="MiSans"/>
              </a:rPr>
              <a:t>判断客户整体是否有利润</a:t>
            </a:r>
            <a:r>
              <a:rPr lang="en-US" sz="1300">
                <a:solidFill>
                  <a:srgbClr val="6E6666"/>
                </a:solidFill>
                <a:latin typeface="MiSans"/>
                <a:ea typeface="MiSans"/>
              </a:rPr>
              <a:t>　——　算总账，而不是算单件</a:t>
            </a:r>
            <a:endParaRPr lang="en-US" sz="1300"/>
          </a:p>
        </p:txBody>
      </p:sp>
      <p:sp>
        <p:nvSpPr>
          <p:cNvPr id="17" name="strip"/>
          <p:cNvSpPr/>
          <p:nvPr/>
        </p:nvSpPr>
        <p:spPr>
          <a:xfrm>
            <a:off x="609600" y="5638800"/>
            <a:ext cx="10972800" cy="6604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18" name="strip-bar"/>
          <p:cNvSpPr/>
          <p:nvPr/>
        </p:nvSpPr>
        <p:spPr>
          <a:xfrm>
            <a:off x="609600" y="5638800"/>
            <a:ext cx="50800" cy="6604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9" name="strip-t"/>
          <p:cNvSpPr txBox="1"/>
          <p:nvPr/>
        </p:nvSpPr>
        <p:spPr>
          <a:xfrm>
            <a:off x="965200" y="5638800"/>
            <a:ext cx="1041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该挣钱的产品必须挣钱；不能高毛利的产品，</a:t>
            </a:r>
            <a:r>
              <a:rPr lang="en-US" sz="1500" b="1">
                <a:solidFill>
                  <a:srgbClr val="FF4D4D"/>
                </a:solidFill>
                <a:latin typeface="MiSans"/>
                <a:ea typeface="MiSans"/>
              </a:rPr>
              <a:t>不要自我幻想</a:t>
            </a: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。</a:t>
            </a:r>
            <a:endParaRPr lang="en-US" sz="1500"/>
          </a:p>
        </p:txBody>
      </p:sp>
      <p:sp>
        <p:nvSpPr>
          <p:cNvPr id="20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1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13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04 · 切入路径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第一个产品的真正作用：建立四种信任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信任建立以后，客户才愿意开放更多供应链需求</a:t>
            </a:r>
            <a:endParaRPr lang="en-US" sz="1250"/>
          </a:p>
        </p:txBody>
      </p:sp>
      <p:sp>
        <p:nvSpPr>
          <p:cNvPr id="7" name="c1"/>
          <p:cNvSpPr/>
          <p:nvPr/>
        </p:nvSpPr>
        <p:spPr>
          <a:xfrm>
            <a:off x="609600" y="1981200"/>
            <a:ext cx="2590800" cy="29210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8" name="c1-n"/>
          <p:cNvSpPr txBox="1"/>
          <p:nvPr/>
        </p:nvSpPr>
        <p:spPr>
          <a:xfrm>
            <a:off x="863600" y="22606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C7C4C4"/>
                </a:solidFill>
                <a:latin typeface="MiSans"/>
                <a:ea typeface="MiSans"/>
              </a:rPr>
              <a:t>01</a:t>
            </a:r>
            <a:endParaRPr lang="en-US" sz="2400"/>
          </a:p>
        </p:txBody>
      </p:sp>
      <p:sp>
        <p:nvSpPr>
          <p:cNvPr id="9" name="c1-name"/>
          <p:cNvSpPr txBox="1"/>
          <p:nvPr/>
        </p:nvSpPr>
        <p:spPr>
          <a:xfrm>
            <a:off x="863600" y="2794000"/>
            <a:ext cx="2082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40B0A"/>
                </a:solidFill>
                <a:latin typeface="MiSans"/>
                <a:ea typeface="MiSans"/>
              </a:rPr>
              <a:t>产品信任</a:t>
            </a:r>
            <a:endParaRPr lang="en-US" sz="1700"/>
          </a:p>
        </p:txBody>
      </p:sp>
      <p:sp>
        <p:nvSpPr>
          <p:cNvPr id="10" name="c1-desc"/>
          <p:cNvSpPr txBox="1"/>
          <p:nvPr/>
        </p:nvSpPr>
        <p:spPr>
          <a:xfrm>
            <a:off x="863600" y="3276600"/>
            <a:ext cx="2082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客户认可产品</a:t>
            </a:r>
            <a:endParaRPr lang="en-US" sz="1150"/>
          </a:p>
          <a:p>
            <a:pPr>
              <a:lnSpc>
                <a:spcPct val="165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效果和品质。</a:t>
            </a:r>
            <a:endParaRPr lang="en-US" sz="1150"/>
          </a:p>
        </p:txBody>
      </p:sp>
      <p:sp>
        <p:nvSpPr>
          <p:cNvPr id="11" name="c2"/>
          <p:cNvSpPr/>
          <p:nvPr/>
        </p:nvSpPr>
        <p:spPr>
          <a:xfrm>
            <a:off x="3403600" y="1981200"/>
            <a:ext cx="2590800" cy="29210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2" name="c2-n"/>
          <p:cNvSpPr txBox="1"/>
          <p:nvPr/>
        </p:nvSpPr>
        <p:spPr>
          <a:xfrm>
            <a:off x="3657600" y="22606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C7C4C4"/>
                </a:solidFill>
                <a:latin typeface="MiSans"/>
                <a:ea typeface="MiSans"/>
              </a:rPr>
              <a:t>02</a:t>
            </a:r>
            <a:endParaRPr lang="en-US" sz="2400"/>
          </a:p>
        </p:txBody>
      </p:sp>
      <p:sp>
        <p:nvSpPr>
          <p:cNvPr id="13" name="c2-name"/>
          <p:cNvSpPr txBox="1"/>
          <p:nvPr/>
        </p:nvSpPr>
        <p:spPr>
          <a:xfrm>
            <a:off x="3657600" y="2794000"/>
            <a:ext cx="2082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40B0A"/>
                </a:solidFill>
                <a:latin typeface="MiSans"/>
                <a:ea typeface="MiSans"/>
              </a:rPr>
              <a:t>交付信任</a:t>
            </a:r>
            <a:endParaRPr lang="en-US" sz="1700"/>
          </a:p>
        </p:txBody>
      </p:sp>
      <p:sp>
        <p:nvSpPr>
          <p:cNvPr id="14" name="c2-desc"/>
          <p:cNvSpPr txBox="1"/>
          <p:nvPr/>
        </p:nvSpPr>
        <p:spPr>
          <a:xfrm>
            <a:off x="3657600" y="3276600"/>
            <a:ext cx="2082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客户相信我们</a:t>
            </a:r>
            <a:endParaRPr lang="en-US" sz="1150"/>
          </a:p>
          <a:p>
            <a:pPr>
              <a:lnSpc>
                <a:spcPct val="165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能够按时交付。</a:t>
            </a:r>
            <a:endParaRPr lang="en-US" sz="1150"/>
          </a:p>
        </p:txBody>
      </p:sp>
      <p:sp>
        <p:nvSpPr>
          <p:cNvPr id="15" name="c3"/>
          <p:cNvSpPr/>
          <p:nvPr/>
        </p:nvSpPr>
        <p:spPr>
          <a:xfrm>
            <a:off x="6197600" y="1981200"/>
            <a:ext cx="2590800" cy="29210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6" name="c3-n"/>
          <p:cNvSpPr txBox="1"/>
          <p:nvPr/>
        </p:nvSpPr>
        <p:spPr>
          <a:xfrm>
            <a:off x="6451600" y="22606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C7C4C4"/>
                </a:solidFill>
                <a:latin typeface="MiSans"/>
                <a:ea typeface="MiSans"/>
              </a:rPr>
              <a:t>03</a:t>
            </a:r>
            <a:endParaRPr lang="en-US" sz="2400"/>
          </a:p>
        </p:txBody>
      </p:sp>
      <p:sp>
        <p:nvSpPr>
          <p:cNvPr id="17" name="c3-name"/>
          <p:cNvSpPr txBox="1"/>
          <p:nvPr/>
        </p:nvSpPr>
        <p:spPr>
          <a:xfrm>
            <a:off x="6451600" y="2794000"/>
            <a:ext cx="2082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40B0A"/>
                </a:solidFill>
                <a:latin typeface="MiSans"/>
                <a:ea typeface="MiSans"/>
              </a:rPr>
              <a:t>专业信任</a:t>
            </a:r>
            <a:endParaRPr lang="en-US" sz="1700"/>
          </a:p>
        </p:txBody>
      </p:sp>
      <p:sp>
        <p:nvSpPr>
          <p:cNvPr id="18" name="c3-desc"/>
          <p:cNvSpPr txBox="1"/>
          <p:nvPr/>
        </p:nvSpPr>
        <p:spPr>
          <a:xfrm>
            <a:off x="6451600" y="3276600"/>
            <a:ext cx="208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客户相信我们理解</a:t>
            </a:r>
            <a:endParaRPr lang="en-US" sz="1150"/>
          </a:p>
          <a:p>
            <a:pPr>
              <a:lnSpc>
                <a:spcPct val="165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产品和行业。</a:t>
            </a:r>
            <a:endParaRPr lang="en-US" sz="1150"/>
          </a:p>
        </p:txBody>
      </p:sp>
      <p:sp>
        <p:nvSpPr>
          <p:cNvPr id="19" name="c4"/>
          <p:cNvSpPr/>
          <p:nvPr/>
        </p:nvSpPr>
        <p:spPr>
          <a:xfrm>
            <a:off x="8991600" y="1981200"/>
            <a:ext cx="2590800" cy="29210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0" name="c4-n"/>
          <p:cNvSpPr txBox="1"/>
          <p:nvPr/>
        </p:nvSpPr>
        <p:spPr>
          <a:xfrm>
            <a:off x="9245600" y="22606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FFFFFF"/>
                </a:solidFill>
                <a:latin typeface="MiSans"/>
                <a:ea typeface="MiSans"/>
              </a:rPr>
              <a:t>04</a:t>
            </a:r>
            <a:endParaRPr lang="en-US" sz="2400"/>
          </a:p>
        </p:txBody>
      </p:sp>
      <p:sp>
        <p:nvSpPr>
          <p:cNvPr id="21" name="c4-name"/>
          <p:cNvSpPr txBox="1"/>
          <p:nvPr/>
        </p:nvSpPr>
        <p:spPr>
          <a:xfrm>
            <a:off x="9245600" y="2794000"/>
            <a:ext cx="2082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FFFFFF"/>
                </a:solidFill>
                <a:latin typeface="MiSans"/>
                <a:ea typeface="MiSans"/>
              </a:rPr>
              <a:t>经营信任</a:t>
            </a:r>
            <a:endParaRPr lang="en-US" sz="1700"/>
          </a:p>
        </p:txBody>
      </p:sp>
      <p:sp>
        <p:nvSpPr>
          <p:cNvPr id="22" name="c4-desc"/>
          <p:cNvSpPr txBox="1"/>
          <p:nvPr/>
        </p:nvSpPr>
        <p:spPr>
          <a:xfrm>
            <a:off x="9245600" y="3276600"/>
            <a:ext cx="2082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150">
                <a:solidFill>
                  <a:srgbClr val="FFE9E9"/>
                </a:solidFill>
                <a:latin typeface="MiSans"/>
                <a:ea typeface="MiSans"/>
              </a:rPr>
              <a:t>客户相信我们能帮助</a:t>
            </a:r>
            <a:endParaRPr lang="en-US" sz="1150"/>
          </a:p>
          <a:p>
            <a:pPr>
              <a:lnSpc>
                <a:spcPct val="165000"/>
              </a:lnSpc>
            </a:pPr>
            <a:r>
              <a:rPr lang="en-US" sz="1150">
                <a:solidFill>
                  <a:srgbClr val="FFE9E9"/>
                </a:solidFill>
                <a:latin typeface="MiSans"/>
                <a:ea typeface="MiSans"/>
              </a:rPr>
              <a:t>他降低成本、提高效率。</a:t>
            </a:r>
            <a:endParaRPr lang="en-US" sz="1150"/>
          </a:p>
        </p:txBody>
      </p:sp>
      <p:sp>
        <p:nvSpPr>
          <p:cNvPr id="23" name="prog"/>
          <p:cNvSpPr/>
          <p:nvPr>
            <p:extLst>
              <p:ext uri="{F5677B7D-0D2A-4D9B-9A5C-6D8D7D0E5A5D}">
                <pptd:line encoding="base64url">eyJ2aWV3Qm94IjpbODY0LDJdLCJwb2ludHMiOiIwLDEgODY0LDEiLCJjdXJ2ZSI6InNoYXJwIn0</pptd:line>
              </p:ext>
            </p:extLst>
          </p:nvPr>
        </p:nvSpPr>
        <p:spPr>
          <a:xfrm>
            <a:off x="609600" y="52324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1"/>
                </a:moveTo>
                <a:lnTo>
                  <a:pt x="864" y="1"/>
                </a:lnTo>
              </a:path>
            </a:pathLst>
          </a:custGeom>
          <a:noFill/>
          <a:ln w="12700">
            <a:solidFill>
              <a:srgbClr val="D9D6D6"/>
            </a:solidFill>
            <a:tailEnd type="arrow"/>
          </a:ln>
        </p:spPr>
      </p:sp>
      <p:sp>
        <p:nvSpPr>
          <p:cNvPr id="24" name="prog-note"/>
          <p:cNvSpPr txBox="1"/>
          <p:nvPr/>
        </p:nvSpPr>
        <p:spPr>
          <a:xfrm>
            <a:off x="609600" y="54610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四种信任层层递进——经营信任，是客户开放供应链需求的前提。</a:t>
            </a:r>
            <a:endParaRPr lang="en-US" sz="1150"/>
          </a:p>
        </p:txBody>
      </p:sp>
      <p:sp>
        <p:nvSpPr>
          <p:cNvPr id="25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6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14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04 · 切入路径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从单品切入客户供应链：七步路径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路径不是一次推销出来的，而是一步一步经营出来的</a:t>
            </a:r>
            <a:endParaRPr lang="en-US" sz="1250"/>
          </a:p>
        </p:txBody>
      </p:sp>
      <p:sp>
        <p:nvSpPr>
          <p:cNvPr id="7" name="s1"/>
          <p:cNvSpPr/>
          <p:nvPr/>
        </p:nvSpPr>
        <p:spPr>
          <a:xfrm>
            <a:off x="609600" y="1981200"/>
            <a:ext cx="1422400" cy="26670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8" name="s1-n"/>
          <p:cNvSpPr txBox="1"/>
          <p:nvPr/>
        </p:nvSpPr>
        <p:spPr>
          <a:xfrm>
            <a:off x="762000" y="21844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FFFFFF"/>
                </a:solidFill>
                <a:latin typeface="MiSans"/>
                <a:ea typeface="MiSans"/>
              </a:rPr>
              <a:t>01</a:t>
            </a:r>
            <a:endParaRPr lang="en-US" sz="2000"/>
          </a:p>
        </p:txBody>
      </p:sp>
      <p:sp>
        <p:nvSpPr>
          <p:cNvPr id="9" name="s1-t"/>
          <p:cNvSpPr txBox="1"/>
          <p:nvPr/>
        </p:nvSpPr>
        <p:spPr>
          <a:xfrm>
            <a:off x="762000" y="2667000"/>
            <a:ext cx="1117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找到具有明显优势的切入产品</a:t>
            </a:r>
            <a:endParaRPr lang="en-US" sz="1100"/>
          </a:p>
        </p:txBody>
      </p:sp>
      <p:sp>
        <p:nvSpPr>
          <p:cNvPr id="10" name="s2"/>
          <p:cNvSpPr/>
          <p:nvPr/>
        </p:nvSpPr>
        <p:spPr>
          <a:xfrm>
            <a:off x="2197100" y="1981200"/>
            <a:ext cx="1422400" cy="26670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1" name="s2-n"/>
          <p:cNvSpPr txBox="1"/>
          <p:nvPr/>
        </p:nvSpPr>
        <p:spPr>
          <a:xfrm>
            <a:off x="2349500" y="21844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C7C4C4"/>
                </a:solidFill>
                <a:latin typeface="MiSans"/>
                <a:ea typeface="MiSans"/>
              </a:rPr>
              <a:t>02</a:t>
            </a:r>
            <a:endParaRPr lang="en-US" sz="2000"/>
          </a:p>
        </p:txBody>
      </p:sp>
      <p:sp>
        <p:nvSpPr>
          <p:cNvPr id="12" name="s2-t"/>
          <p:cNvSpPr txBox="1"/>
          <p:nvPr/>
        </p:nvSpPr>
        <p:spPr>
          <a:xfrm>
            <a:off x="2349500" y="2667000"/>
            <a:ext cx="1117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2F2929"/>
                </a:solidFill>
                <a:latin typeface="MiSans"/>
                <a:ea typeface="MiSans"/>
              </a:rPr>
              <a:t>通过产品效果、价格或交付建立信任</a:t>
            </a:r>
            <a:endParaRPr lang="en-US" sz="1100"/>
          </a:p>
        </p:txBody>
      </p:sp>
      <p:sp>
        <p:nvSpPr>
          <p:cNvPr id="13" name="s3"/>
          <p:cNvSpPr/>
          <p:nvPr/>
        </p:nvSpPr>
        <p:spPr>
          <a:xfrm>
            <a:off x="3784600" y="1981200"/>
            <a:ext cx="1422400" cy="26670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4" name="s3-n"/>
          <p:cNvSpPr txBox="1"/>
          <p:nvPr/>
        </p:nvSpPr>
        <p:spPr>
          <a:xfrm>
            <a:off x="3937000" y="21844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C7C4C4"/>
                </a:solidFill>
                <a:latin typeface="MiSans"/>
                <a:ea typeface="MiSans"/>
              </a:rPr>
              <a:t>03</a:t>
            </a:r>
            <a:endParaRPr lang="en-US" sz="2000"/>
          </a:p>
        </p:txBody>
      </p:sp>
      <p:sp>
        <p:nvSpPr>
          <p:cNvPr id="15" name="s3-t"/>
          <p:cNvSpPr txBox="1"/>
          <p:nvPr/>
        </p:nvSpPr>
        <p:spPr>
          <a:xfrm>
            <a:off x="3937000" y="2667000"/>
            <a:ext cx="1117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2F2929"/>
                </a:solidFill>
                <a:latin typeface="MiSans"/>
                <a:ea typeface="MiSans"/>
              </a:rPr>
              <a:t>了解客户完整产品线</a:t>
            </a:r>
            <a:endParaRPr lang="en-US" sz="1100"/>
          </a:p>
        </p:txBody>
      </p:sp>
      <p:sp>
        <p:nvSpPr>
          <p:cNvPr id="16" name="s4"/>
          <p:cNvSpPr/>
          <p:nvPr/>
        </p:nvSpPr>
        <p:spPr>
          <a:xfrm>
            <a:off x="5384800" y="1981200"/>
            <a:ext cx="1422400" cy="26670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7" name="s4-n"/>
          <p:cNvSpPr txBox="1"/>
          <p:nvPr/>
        </p:nvSpPr>
        <p:spPr>
          <a:xfrm>
            <a:off x="5537200" y="21844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C7C4C4"/>
                </a:solidFill>
                <a:latin typeface="MiSans"/>
                <a:ea typeface="MiSans"/>
              </a:rPr>
              <a:t>04</a:t>
            </a:r>
            <a:endParaRPr lang="en-US" sz="2000"/>
          </a:p>
        </p:txBody>
      </p:sp>
      <p:sp>
        <p:nvSpPr>
          <p:cNvPr id="18" name="s4-t"/>
          <p:cNvSpPr txBox="1"/>
          <p:nvPr/>
        </p:nvSpPr>
        <p:spPr>
          <a:xfrm>
            <a:off x="5537200" y="2667000"/>
            <a:ext cx="1117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2F2929"/>
                </a:solidFill>
                <a:latin typeface="MiSans"/>
                <a:ea typeface="MiSans"/>
              </a:rPr>
              <a:t>发现其他产品的成本与交付痛点</a:t>
            </a:r>
            <a:endParaRPr lang="en-US" sz="1100"/>
          </a:p>
        </p:txBody>
      </p:sp>
      <p:sp>
        <p:nvSpPr>
          <p:cNvPr id="19" name="s5"/>
          <p:cNvSpPr/>
          <p:nvPr/>
        </p:nvSpPr>
        <p:spPr>
          <a:xfrm>
            <a:off x="6972300" y="1981200"/>
            <a:ext cx="1422400" cy="26670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0" name="s5-n"/>
          <p:cNvSpPr txBox="1"/>
          <p:nvPr/>
        </p:nvSpPr>
        <p:spPr>
          <a:xfrm>
            <a:off x="7124700" y="21844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C7C4C4"/>
                </a:solidFill>
                <a:latin typeface="MiSans"/>
                <a:ea typeface="MiSans"/>
              </a:rPr>
              <a:t>05</a:t>
            </a:r>
            <a:endParaRPr lang="en-US" sz="2000"/>
          </a:p>
        </p:txBody>
      </p:sp>
      <p:sp>
        <p:nvSpPr>
          <p:cNvPr id="21" name="s5-t"/>
          <p:cNvSpPr txBox="1"/>
          <p:nvPr/>
        </p:nvSpPr>
        <p:spPr>
          <a:xfrm>
            <a:off x="7124700" y="2667000"/>
            <a:ext cx="1117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2F2929"/>
                </a:solidFill>
                <a:latin typeface="MiSans"/>
                <a:ea typeface="MiSans"/>
              </a:rPr>
              <a:t>提出供应链解决方案</a:t>
            </a:r>
            <a:endParaRPr lang="en-US" sz="1100"/>
          </a:p>
        </p:txBody>
      </p:sp>
      <p:sp>
        <p:nvSpPr>
          <p:cNvPr id="22" name="s6"/>
          <p:cNvSpPr/>
          <p:nvPr/>
        </p:nvSpPr>
        <p:spPr>
          <a:xfrm>
            <a:off x="8559800" y="1981200"/>
            <a:ext cx="1422400" cy="26670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3" name="s6-n"/>
          <p:cNvSpPr txBox="1"/>
          <p:nvPr/>
        </p:nvSpPr>
        <p:spPr>
          <a:xfrm>
            <a:off x="8712200" y="21844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C7C4C4"/>
                </a:solidFill>
                <a:latin typeface="MiSans"/>
                <a:ea typeface="MiSans"/>
              </a:rPr>
              <a:t>06</a:t>
            </a:r>
            <a:endParaRPr lang="en-US" sz="2000"/>
          </a:p>
        </p:txBody>
      </p:sp>
      <p:sp>
        <p:nvSpPr>
          <p:cNvPr id="24" name="s6-t"/>
          <p:cNvSpPr txBox="1"/>
          <p:nvPr/>
        </p:nvSpPr>
        <p:spPr>
          <a:xfrm>
            <a:off x="8712200" y="2667000"/>
            <a:ext cx="1117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2F2929"/>
                </a:solidFill>
                <a:latin typeface="MiSans"/>
                <a:ea typeface="MiSans"/>
              </a:rPr>
              <a:t>逐步扩大合作品类</a:t>
            </a:r>
            <a:endParaRPr lang="en-US" sz="1100"/>
          </a:p>
        </p:txBody>
      </p:sp>
      <p:sp>
        <p:nvSpPr>
          <p:cNvPr id="25" name="s7"/>
          <p:cNvSpPr/>
          <p:nvPr/>
        </p:nvSpPr>
        <p:spPr>
          <a:xfrm>
            <a:off x="10160000" y="1981200"/>
            <a:ext cx="1422400" cy="26670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6" name="s7-n"/>
          <p:cNvSpPr txBox="1"/>
          <p:nvPr/>
        </p:nvSpPr>
        <p:spPr>
          <a:xfrm>
            <a:off x="10312400" y="21844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FFFFFF"/>
                </a:solidFill>
                <a:latin typeface="MiSans"/>
                <a:ea typeface="MiSans"/>
              </a:rPr>
              <a:t>07</a:t>
            </a:r>
            <a:endParaRPr lang="en-US" sz="2000"/>
          </a:p>
        </p:txBody>
      </p:sp>
      <p:sp>
        <p:nvSpPr>
          <p:cNvPr id="27" name="s7-t"/>
          <p:cNvSpPr txBox="1"/>
          <p:nvPr/>
        </p:nvSpPr>
        <p:spPr>
          <a:xfrm>
            <a:off x="10312400" y="2667000"/>
            <a:ext cx="1117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成为客户优先咨询的供应链伙伴</a:t>
            </a:r>
            <a:endParaRPr lang="en-US" sz="1100"/>
          </a:p>
        </p:txBody>
      </p:sp>
      <p:sp>
        <p:nvSpPr>
          <p:cNvPr id="28" name="note"/>
          <p:cNvSpPr txBox="1"/>
          <p:nvPr/>
        </p:nvSpPr>
        <p:spPr>
          <a:xfrm>
            <a:off x="609600" y="50800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每一步，都在为下一步创造信任与信息基础。</a:t>
            </a:r>
            <a:endParaRPr lang="en-US" sz="1150"/>
          </a:p>
        </p:txBody>
      </p:sp>
      <p:sp>
        <p:nvSpPr>
          <p:cNvPr id="29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30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15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04 · 切入路径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切入产品的选择标准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一个好的切入产品，至少具备以下一项优势</a:t>
            </a:r>
            <a:endParaRPr lang="en-US" sz="1250"/>
          </a:p>
        </p:txBody>
      </p:sp>
      <p:sp>
        <p:nvSpPr>
          <p:cNvPr id="7" name="k1"/>
          <p:cNvSpPr/>
          <p:nvPr/>
        </p:nvSpPr>
        <p:spPr>
          <a:xfrm>
            <a:off x="609600" y="1905000"/>
            <a:ext cx="2590800" cy="812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8" name="k1-t"/>
          <p:cNvSpPr txBox="1"/>
          <p:nvPr/>
        </p:nvSpPr>
        <p:spPr>
          <a:xfrm>
            <a:off x="914400" y="19050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明显价格优势</a:t>
            </a:r>
            <a:endParaRPr lang="en-US" sz="1250"/>
          </a:p>
        </p:txBody>
      </p:sp>
      <p:sp>
        <p:nvSpPr>
          <p:cNvPr id="9" name="k2"/>
          <p:cNvSpPr/>
          <p:nvPr/>
        </p:nvSpPr>
        <p:spPr>
          <a:xfrm>
            <a:off x="3403600" y="1905000"/>
            <a:ext cx="2590800" cy="812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0" name="k2-t"/>
          <p:cNvSpPr txBox="1"/>
          <p:nvPr/>
        </p:nvSpPr>
        <p:spPr>
          <a:xfrm>
            <a:off x="3708400" y="19050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明显效果优势</a:t>
            </a:r>
            <a:endParaRPr lang="en-US" sz="1250"/>
          </a:p>
        </p:txBody>
      </p:sp>
      <p:sp>
        <p:nvSpPr>
          <p:cNvPr id="11" name="k3"/>
          <p:cNvSpPr/>
          <p:nvPr/>
        </p:nvSpPr>
        <p:spPr>
          <a:xfrm>
            <a:off x="6197600" y="1905000"/>
            <a:ext cx="2590800" cy="812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2" name="k3-t"/>
          <p:cNvSpPr txBox="1"/>
          <p:nvPr/>
        </p:nvSpPr>
        <p:spPr>
          <a:xfrm>
            <a:off x="6502400" y="19050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明显品质优势</a:t>
            </a:r>
            <a:endParaRPr lang="en-US" sz="1250"/>
          </a:p>
        </p:txBody>
      </p:sp>
      <p:sp>
        <p:nvSpPr>
          <p:cNvPr id="13" name="k4"/>
          <p:cNvSpPr/>
          <p:nvPr/>
        </p:nvSpPr>
        <p:spPr>
          <a:xfrm>
            <a:off x="8991600" y="1905000"/>
            <a:ext cx="2590800" cy="812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4" name="k4-t"/>
          <p:cNvSpPr txBox="1"/>
          <p:nvPr/>
        </p:nvSpPr>
        <p:spPr>
          <a:xfrm>
            <a:off x="9296400" y="19050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明显交付优势</a:t>
            </a:r>
            <a:endParaRPr lang="en-US" sz="1250"/>
          </a:p>
        </p:txBody>
      </p:sp>
      <p:sp>
        <p:nvSpPr>
          <p:cNvPr id="15" name="k5"/>
          <p:cNvSpPr/>
          <p:nvPr/>
        </p:nvSpPr>
        <p:spPr>
          <a:xfrm>
            <a:off x="609600" y="2921000"/>
            <a:ext cx="2590800" cy="812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6" name="k5-t"/>
          <p:cNvSpPr txBox="1"/>
          <p:nvPr/>
        </p:nvSpPr>
        <p:spPr>
          <a:xfrm>
            <a:off x="914400" y="29210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明显差异化</a:t>
            </a:r>
            <a:endParaRPr lang="en-US" sz="1250"/>
          </a:p>
        </p:txBody>
      </p:sp>
      <p:sp>
        <p:nvSpPr>
          <p:cNvPr id="17" name="k6"/>
          <p:cNvSpPr/>
          <p:nvPr/>
        </p:nvSpPr>
        <p:spPr>
          <a:xfrm>
            <a:off x="3403600" y="2921000"/>
            <a:ext cx="2590800" cy="812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8" name="k6-t"/>
          <p:cNvSpPr txBox="1"/>
          <p:nvPr/>
        </p:nvSpPr>
        <p:spPr>
          <a:xfrm>
            <a:off x="3708400" y="29210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客户当前有强烈痛点</a:t>
            </a:r>
            <a:endParaRPr lang="en-US" sz="1250"/>
          </a:p>
        </p:txBody>
      </p:sp>
      <p:sp>
        <p:nvSpPr>
          <p:cNvPr id="19" name="k7"/>
          <p:cNvSpPr/>
          <p:nvPr/>
        </p:nvSpPr>
        <p:spPr>
          <a:xfrm>
            <a:off x="6197600" y="2921000"/>
            <a:ext cx="2590800" cy="812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0" name="k7-t"/>
          <p:cNvSpPr txBox="1"/>
          <p:nvPr/>
        </p:nvSpPr>
        <p:spPr>
          <a:xfrm>
            <a:off x="6502400" y="29210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现有供应商解决不了</a:t>
            </a:r>
            <a:endParaRPr lang="en-US" sz="1250"/>
          </a:p>
        </p:txBody>
      </p:sp>
      <p:sp>
        <p:nvSpPr>
          <p:cNvPr id="21" name="k8"/>
          <p:cNvSpPr/>
          <p:nvPr/>
        </p:nvSpPr>
        <p:spPr>
          <a:xfrm>
            <a:off x="8991600" y="2921000"/>
            <a:ext cx="2590800" cy="812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2" name="k8-t"/>
          <p:cNvSpPr txBox="1"/>
          <p:nvPr/>
        </p:nvSpPr>
        <p:spPr>
          <a:xfrm>
            <a:off x="9296400" y="29210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容易让客户快速感知价值</a:t>
            </a:r>
            <a:endParaRPr lang="en-US" sz="1250"/>
          </a:p>
        </p:txBody>
      </p:sp>
      <p:sp>
        <p:nvSpPr>
          <p:cNvPr id="23" name="concl"/>
          <p:cNvSpPr txBox="1"/>
          <p:nvPr/>
        </p:nvSpPr>
        <p:spPr>
          <a:xfrm>
            <a:off x="609600" y="4445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600" b="1">
                <a:solidFill>
                  <a:srgbClr val="140B0A"/>
                </a:solidFill>
                <a:latin typeface="MiSans"/>
                <a:ea typeface="MiSans"/>
              </a:rPr>
              <a:t>切入产品不一定是利润最高的，</a:t>
            </a:r>
            <a:endParaRPr lang="en-US" sz="1600"/>
          </a:p>
          <a:p>
            <a:pPr>
              <a:lnSpc>
                <a:spcPct val="160000"/>
              </a:lnSpc>
            </a:pPr>
            <a:r>
              <a:rPr lang="en-US" sz="1600" b="1">
                <a:solidFill>
                  <a:srgbClr val="140B0A"/>
                </a:solidFill>
                <a:latin typeface="MiSans"/>
                <a:ea typeface="MiSans"/>
              </a:rPr>
              <a:t>但一定是最容易</a:t>
            </a:r>
            <a:r>
              <a:rPr lang="en-US" sz="1600" b="1">
                <a:solidFill>
                  <a:srgbClr val="FF4D4D"/>
                </a:solidFill>
                <a:latin typeface="MiSans"/>
                <a:ea typeface="MiSans"/>
              </a:rPr>
              <a:t>建立认知和信任</a:t>
            </a:r>
            <a:r>
              <a:rPr lang="en-US" sz="1600" b="1">
                <a:solidFill>
                  <a:srgbClr val="140B0A"/>
                </a:solidFill>
                <a:latin typeface="MiSans"/>
                <a:ea typeface="MiSans"/>
              </a:rPr>
              <a:t>的。</a:t>
            </a:r>
            <a:endParaRPr lang="en-US" sz="1600"/>
          </a:p>
        </p:txBody>
      </p:sp>
      <p:sp>
        <p:nvSpPr>
          <p:cNvPr id="24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5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16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04 · 切入路径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为什么要了解客户背景？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同一个产品，面对不同客户，报价逻辑完全不同</a:t>
            </a:r>
            <a:endParaRPr lang="en-US" sz="1250"/>
          </a:p>
        </p:txBody>
      </p:sp>
      <p:sp>
        <p:nvSpPr>
          <p:cNvPr id="7" name="q1-n"/>
          <p:cNvSpPr txBox="1"/>
          <p:nvPr/>
        </p:nvSpPr>
        <p:spPr>
          <a:xfrm>
            <a:off x="609600" y="18542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01</a:t>
            </a:r>
            <a:endParaRPr lang="en-US" sz="1500"/>
          </a:p>
        </p:txBody>
      </p:sp>
      <p:sp>
        <p:nvSpPr>
          <p:cNvPr id="8" name="q1"/>
          <p:cNvSpPr txBox="1"/>
          <p:nvPr/>
        </p:nvSpPr>
        <p:spPr>
          <a:xfrm>
            <a:off x="1092200" y="1879600"/>
            <a:ext cx="30353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F2929"/>
                </a:solidFill>
                <a:latin typeface="MiSans"/>
                <a:ea typeface="MiSans"/>
              </a:rPr>
              <a:t>客户是工厂还是品牌方</a:t>
            </a:r>
            <a:endParaRPr lang="en-US" sz="1250"/>
          </a:p>
        </p:txBody>
      </p:sp>
      <p:sp>
        <p:nvSpPr>
          <p:cNvPr id="9" name="q2-n"/>
          <p:cNvSpPr txBox="1"/>
          <p:nvPr/>
        </p:nvSpPr>
        <p:spPr>
          <a:xfrm>
            <a:off x="4330700" y="18542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02</a:t>
            </a:r>
            <a:endParaRPr lang="en-US" sz="1500"/>
          </a:p>
        </p:txBody>
      </p:sp>
      <p:sp>
        <p:nvSpPr>
          <p:cNvPr id="10" name="q2"/>
          <p:cNvSpPr txBox="1"/>
          <p:nvPr/>
        </p:nvSpPr>
        <p:spPr>
          <a:xfrm>
            <a:off x="4813300" y="1879600"/>
            <a:ext cx="30353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F2929"/>
                </a:solidFill>
                <a:latin typeface="MiSans"/>
                <a:ea typeface="MiSans"/>
              </a:rPr>
              <a:t>客户的销售规模</a:t>
            </a:r>
            <a:endParaRPr lang="en-US" sz="1250"/>
          </a:p>
        </p:txBody>
      </p:sp>
      <p:sp>
        <p:nvSpPr>
          <p:cNvPr id="11" name="q3-n"/>
          <p:cNvSpPr txBox="1"/>
          <p:nvPr/>
        </p:nvSpPr>
        <p:spPr>
          <a:xfrm>
            <a:off x="8051800" y="18542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03</a:t>
            </a:r>
            <a:endParaRPr lang="en-US" sz="1500"/>
          </a:p>
        </p:txBody>
      </p:sp>
      <p:sp>
        <p:nvSpPr>
          <p:cNvPr id="12" name="q3"/>
          <p:cNvSpPr txBox="1"/>
          <p:nvPr/>
        </p:nvSpPr>
        <p:spPr>
          <a:xfrm>
            <a:off x="8534400" y="18796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F2929"/>
                </a:solidFill>
                <a:latin typeface="MiSans"/>
                <a:ea typeface="MiSans"/>
              </a:rPr>
              <a:t>客户产品定位</a:t>
            </a:r>
            <a:endParaRPr lang="en-US" sz="1250"/>
          </a:p>
        </p:txBody>
      </p:sp>
      <p:sp>
        <p:nvSpPr>
          <p:cNvPr id="13" name="q4-n"/>
          <p:cNvSpPr txBox="1"/>
          <p:nvPr/>
        </p:nvSpPr>
        <p:spPr>
          <a:xfrm>
            <a:off x="609600" y="30226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04</a:t>
            </a:r>
            <a:endParaRPr lang="en-US" sz="1500"/>
          </a:p>
        </p:txBody>
      </p:sp>
      <p:sp>
        <p:nvSpPr>
          <p:cNvPr id="14" name="q4"/>
          <p:cNvSpPr txBox="1"/>
          <p:nvPr/>
        </p:nvSpPr>
        <p:spPr>
          <a:xfrm>
            <a:off x="1092200" y="3048000"/>
            <a:ext cx="30353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F2929"/>
                </a:solidFill>
                <a:latin typeface="MiSans"/>
                <a:ea typeface="MiSans"/>
              </a:rPr>
              <a:t>客户终端售价</a:t>
            </a:r>
            <a:endParaRPr lang="en-US" sz="1250"/>
          </a:p>
        </p:txBody>
      </p:sp>
      <p:sp>
        <p:nvSpPr>
          <p:cNvPr id="15" name="q5-n"/>
          <p:cNvSpPr txBox="1"/>
          <p:nvPr/>
        </p:nvSpPr>
        <p:spPr>
          <a:xfrm>
            <a:off x="4330700" y="30226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05</a:t>
            </a:r>
            <a:endParaRPr lang="en-US" sz="1500"/>
          </a:p>
        </p:txBody>
      </p:sp>
      <p:sp>
        <p:nvSpPr>
          <p:cNvPr id="16" name="q5"/>
          <p:cNvSpPr txBox="1"/>
          <p:nvPr/>
        </p:nvSpPr>
        <p:spPr>
          <a:xfrm>
            <a:off x="4813300" y="3048000"/>
            <a:ext cx="30353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F2929"/>
                </a:solidFill>
                <a:latin typeface="MiSans"/>
                <a:ea typeface="MiSans"/>
              </a:rPr>
              <a:t>客户原供应商</a:t>
            </a:r>
            <a:endParaRPr lang="en-US" sz="1250"/>
          </a:p>
        </p:txBody>
      </p:sp>
      <p:sp>
        <p:nvSpPr>
          <p:cNvPr id="17" name="q6-n"/>
          <p:cNvSpPr txBox="1"/>
          <p:nvPr/>
        </p:nvSpPr>
        <p:spPr>
          <a:xfrm>
            <a:off x="8051800" y="30226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06</a:t>
            </a:r>
            <a:endParaRPr lang="en-US" sz="1500"/>
          </a:p>
        </p:txBody>
      </p:sp>
      <p:sp>
        <p:nvSpPr>
          <p:cNvPr id="18" name="q6"/>
          <p:cNvSpPr txBox="1"/>
          <p:nvPr/>
        </p:nvSpPr>
        <p:spPr>
          <a:xfrm>
            <a:off x="8534400" y="30480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F2929"/>
                </a:solidFill>
                <a:latin typeface="MiSans"/>
                <a:ea typeface="MiSans"/>
              </a:rPr>
              <a:t>客户当前采购价格</a:t>
            </a:r>
            <a:endParaRPr lang="en-US" sz="1250"/>
          </a:p>
        </p:txBody>
      </p:sp>
      <p:sp>
        <p:nvSpPr>
          <p:cNvPr id="19" name="q7-n"/>
          <p:cNvSpPr txBox="1"/>
          <p:nvPr/>
        </p:nvSpPr>
        <p:spPr>
          <a:xfrm>
            <a:off x="609600" y="41910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07</a:t>
            </a:r>
            <a:endParaRPr lang="en-US" sz="1500"/>
          </a:p>
        </p:txBody>
      </p:sp>
      <p:sp>
        <p:nvSpPr>
          <p:cNvPr id="20" name="q7"/>
          <p:cNvSpPr txBox="1"/>
          <p:nvPr/>
        </p:nvSpPr>
        <p:spPr>
          <a:xfrm>
            <a:off x="1092200" y="4216400"/>
            <a:ext cx="30353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F2929"/>
                </a:solidFill>
                <a:latin typeface="MiSans"/>
                <a:ea typeface="MiSans"/>
              </a:rPr>
              <a:t>客户的质量要求</a:t>
            </a:r>
            <a:endParaRPr lang="en-US" sz="1250"/>
          </a:p>
        </p:txBody>
      </p:sp>
      <p:sp>
        <p:nvSpPr>
          <p:cNvPr id="21" name="q8-n"/>
          <p:cNvSpPr txBox="1"/>
          <p:nvPr/>
        </p:nvSpPr>
        <p:spPr>
          <a:xfrm>
            <a:off x="4330700" y="41910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08</a:t>
            </a:r>
            <a:endParaRPr lang="en-US" sz="1500"/>
          </a:p>
        </p:txBody>
      </p:sp>
      <p:sp>
        <p:nvSpPr>
          <p:cNvPr id="22" name="q8"/>
          <p:cNvSpPr txBox="1"/>
          <p:nvPr/>
        </p:nvSpPr>
        <p:spPr>
          <a:xfrm>
            <a:off x="4813300" y="4216400"/>
            <a:ext cx="30353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F2929"/>
                </a:solidFill>
                <a:latin typeface="MiSans"/>
                <a:ea typeface="MiSans"/>
              </a:rPr>
              <a:t>客户的回款能力</a:t>
            </a:r>
            <a:endParaRPr lang="en-US" sz="1250"/>
          </a:p>
        </p:txBody>
      </p:sp>
      <p:sp>
        <p:nvSpPr>
          <p:cNvPr id="23" name="q9-n"/>
          <p:cNvSpPr txBox="1"/>
          <p:nvPr/>
        </p:nvSpPr>
        <p:spPr>
          <a:xfrm>
            <a:off x="8051800" y="4191000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09</a:t>
            </a:r>
            <a:endParaRPr lang="en-US" sz="1500"/>
          </a:p>
        </p:txBody>
      </p:sp>
      <p:sp>
        <p:nvSpPr>
          <p:cNvPr id="24" name="q9"/>
          <p:cNvSpPr txBox="1"/>
          <p:nvPr/>
        </p:nvSpPr>
        <p:spPr>
          <a:xfrm>
            <a:off x="8534400" y="42164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F2929"/>
                </a:solidFill>
                <a:latin typeface="MiSans"/>
                <a:ea typeface="MiSans"/>
              </a:rPr>
              <a:t>客户未来增长空间</a:t>
            </a:r>
            <a:endParaRPr lang="en-US" sz="1250"/>
          </a:p>
        </p:txBody>
      </p:sp>
      <p:sp>
        <p:nvSpPr>
          <p:cNvPr id="25" name="strip"/>
          <p:cNvSpPr/>
          <p:nvPr/>
        </p:nvSpPr>
        <p:spPr>
          <a:xfrm>
            <a:off x="609600" y="5435600"/>
            <a:ext cx="10972800" cy="7112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26" name="strip-bar"/>
          <p:cNvSpPr/>
          <p:nvPr/>
        </p:nvSpPr>
        <p:spPr>
          <a:xfrm>
            <a:off x="609600" y="5435600"/>
            <a:ext cx="50800" cy="711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7" name="strip-t"/>
          <p:cNvSpPr txBox="1"/>
          <p:nvPr/>
        </p:nvSpPr>
        <p:spPr>
          <a:xfrm>
            <a:off x="965200" y="54356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不了解客户背景，就</a:t>
            </a:r>
            <a:r>
              <a:rPr lang="en-US" sz="1500" b="1">
                <a:solidFill>
                  <a:srgbClr val="FF4D4D"/>
                </a:solidFill>
                <a:latin typeface="MiSans"/>
                <a:ea typeface="MiSans"/>
              </a:rPr>
              <a:t>无法做经营判断</a:t>
            </a: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。</a:t>
            </a:r>
            <a:endParaRPr lang="en-US" sz="1500"/>
          </a:p>
        </p:txBody>
      </p:sp>
      <p:sp>
        <p:nvSpPr>
          <p:cNvPr id="28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9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17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04 · 切入路径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客户价格不是由我们的成本决定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成本决定底线，客户价值和市场位置决定价格空间</a:t>
            </a:r>
            <a:endParaRPr lang="en-US" sz="1250"/>
          </a:p>
        </p:txBody>
      </p:sp>
      <p:sp>
        <p:nvSpPr>
          <p:cNvPr id="7" name="row1-label"/>
          <p:cNvSpPr txBox="1"/>
          <p:nvPr/>
        </p:nvSpPr>
        <p:spPr>
          <a:xfrm>
            <a:off x="609600" y="1778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6E6666"/>
                </a:solidFill>
                <a:latin typeface="MiSans"/>
                <a:ea typeface="MiSans"/>
              </a:rPr>
              <a:t>传统报价逻辑：成本加成</a:t>
            </a:r>
            <a:endParaRPr lang="en-US" sz="1100"/>
          </a:p>
        </p:txBody>
      </p:sp>
      <p:sp>
        <p:nvSpPr>
          <p:cNvPr id="8" name="a1"/>
          <p:cNvSpPr/>
          <p:nvPr/>
        </p:nvSpPr>
        <p:spPr>
          <a:xfrm>
            <a:off x="609600" y="2082800"/>
            <a:ext cx="1651000" cy="4572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9" name="a1-t"/>
          <p:cNvSpPr txBox="1"/>
          <p:nvPr/>
        </p:nvSpPr>
        <p:spPr>
          <a:xfrm>
            <a:off x="609600" y="2082800"/>
            <a:ext cx="1651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成本</a:t>
            </a:r>
            <a:endParaRPr lang="en-US" sz="1250"/>
          </a:p>
        </p:txBody>
      </p:sp>
      <p:sp>
        <p:nvSpPr>
          <p:cNvPr id="10" name="a-p1"/>
          <p:cNvSpPr txBox="1"/>
          <p:nvPr/>
        </p:nvSpPr>
        <p:spPr>
          <a:xfrm>
            <a:off x="2260600" y="2082800"/>
            <a:ext cx="330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9B9595"/>
                </a:solidFill>
                <a:latin typeface="MiSans"/>
                <a:ea typeface="MiSans"/>
              </a:rPr>
              <a:t>＋</a:t>
            </a:r>
            <a:endParaRPr lang="en-US" sz="1400"/>
          </a:p>
        </p:txBody>
      </p:sp>
      <p:sp>
        <p:nvSpPr>
          <p:cNvPr id="11" name="a2"/>
          <p:cNvSpPr/>
          <p:nvPr/>
        </p:nvSpPr>
        <p:spPr>
          <a:xfrm>
            <a:off x="2590800" y="2082800"/>
            <a:ext cx="1651000" cy="4572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2" name="a2-t"/>
          <p:cNvSpPr txBox="1"/>
          <p:nvPr/>
        </p:nvSpPr>
        <p:spPr>
          <a:xfrm>
            <a:off x="2590800" y="2082800"/>
            <a:ext cx="1651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毛利</a:t>
            </a:r>
            <a:endParaRPr lang="en-US" sz="1250"/>
          </a:p>
        </p:txBody>
      </p:sp>
      <p:sp>
        <p:nvSpPr>
          <p:cNvPr id="13" name="a-eq"/>
          <p:cNvSpPr txBox="1"/>
          <p:nvPr/>
        </p:nvSpPr>
        <p:spPr>
          <a:xfrm>
            <a:off x="4241800" y="2082800"/>
            <a:ext cx="330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9B9595"/>
                </a:solidFill>
                <a:latin typeface="MiSans"/>
                <a:ea typeface="MiSans"/>
              </a:rPr>
              <a:t>＝</a:t>
            </a:r>
            <a:endParaRPr lang="en-US" sz="1400"/>
          </a:p>
        </p:txBody>
      </p:sp>
      <p:sp>
        <p:nvSpPr>
          <p:cNvPr id="14" name="a3"/>
          <p:cNvSpPr/>
          <p:nvPr/>
        </p:nvSpPr>
        <p:spPr>
          <a:xfrm>
            <a:off x="4572000" y="2082800"/>
            <a:ext cx="1651000" cy="4572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5" name="a3-t"/>
          <p:cNvSpPr txBox="1"/>
          <p:nvPr/>
        </p:nvSpPr>
        <p:spPr>
          <a:xfrm>
            <a:off x="4572000" y="2082800"/>
            <a:ext cx="1651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售价</a:t>
            </a:r>
            <a:endParaRPr lang="en-US" sz="1250"/>
          </a:p>
        </p:txBody>
      </p:sp>
      <p:sp>
        <p:nvSpPr>
          <p:cNvPr id="16" name="a-note"/>
          <p:cNvSpPr txBox="1"/>
          <p:nvPr/>
        </p:nvSpPr>
        <p:spPr>
          <a:xfrm>
            <a:off x="6629400" y="20828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9B9595"/>
                </a:solidFill>
                <a:latin typeface="MiSans"/>
                <a:ea typeface="MiSans"/>
              </a:rPr>
              <a:t>报价 ＝ 成本 ＋ 固定毛利，与客户价值无关</a:t>
            </a:r>
            <a:endParaRPr lang="en-US" sz="1100"/>
          </a:p>
        </p:txBody>
      </p:sp>
      <p:sp>
        <p:nvSpPr>
          <p:cNvPr id="17" name="row2-label"/>
          <p:cNvSpPr txBox="1"/>
          <p:nvPr/>
        </p:nvSpPr>
        <p:spPr>
          <a:xfrm>
            <a:off x="609600" y="2997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6E6666"/>
                </a:solidFill>
                <a:latin typeface="MiSans"/>
                <a:ea typeface="MiSans"/>
              </a:rPr>
              <a:t>经营型报价逻辑：价值定价</a:t>
            </a:r>
            <a:endParaRPr lang="en-US" sz="1100"/>
          </a:p>
        </p:txBody>
      </p:sp>
      <p:sp>
        <p:nvSpPr>
          <p:cNvPr id="18" name="b1"/>
          <p:cNvSpPr/>
          <p:nvPr/>
        </p:nvSpPr>
        <p:spPr>
          <a:xfrm>
            <a:off x="609600" y="3302000"/>
            <a:ext cx="14986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9" name="b1-t"/>
          <p:cNvSpPr txBox="1"/>
          <p:nvPr/>
        </p:nvSpPr>
        <p:spPr>
          <a:xfrm>
            <a:off x="609600" y="3302000"/>
            <a:ext cx="1498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2F2929"/>
                </a:solidFill>
                <a:latin typeface="MiSans"/>
                <a:ea typeface="MiSans"/>
              </a:rPr>
              <a:t>客户价值</a:t>
            </a:r>
            <a:endParaRPr lang="en-US" sz="1200"/>
          </a:p>
        </p:txBody>
      </p:sp>
      <p:sp>
        <p:nvSpPr>
          <p:cNvPr id="20" name="b-p1"/>
          <p:cNvSpPr txBox="1"/>
          <p:nvPr/>
        </p:nvSpPr>
        <p:spPr>
          <a:xfrm>
            <a:off x="2108200" y="3302000"/>
            <a:ext cx="304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9B9595"/>
                </a:solidFill>
                <a:latin typeface="MiSans"/>
                <a:ea typeface="MiSans"/>
              </a:rPr>
              <a:t>＋</a:t>
            </a:r>
            <a:endParaRPr lang="en-US" sz="1300"/>
          </a:p>
        </p:txBody>
      </p:sp>
      <p:sp>
        <p:nvSpPr>
          <p:cNvPr id="21" name="b2"/>
          <p:cNvSpPr/>
          <p:nvPr/>
        </p:nvSpPr>
        <p:spPr>
          <a:xfrm>
            <a:off x="2413000" y="3302000"/>
            <a:ext cx="14986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2" name="b2-t"/>
          <p:cNvSpPr txBox="1"/>
          <p:nvPr/>
        </p:nvSpPr>
        <p:spPr>
          <a:xfrm>
            <a:off x="2413000" y="3302000"/>
            <a:ext cx="1498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2F2929"/>
                </a:solidFill>
                <a:latin typeface="MiSans"/>
                <a:ea typeface="MiSans"/>
              </a:rPr>
              <a:t>市场价格</a:t>
            </a:r>
            <a:endParaRPr lang="en-US" sz="1200"/>
          </a:p>
        </p:txBody>
      </p:sp>
      <p:sp>
        <p:nvSpPr>
          <p:cNvPr id="23" name="b-p2"/>
          <p:cNvSpPr txBox="1"/>
          <p:nvPr/>
        </p:nvSpPr>
        <p:spPr>
          <a:xfrm>
            <a:off x="3911600" y="3302000"/>
            <a:ext cx="304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9B9595"/>
                </a:solidFill>
                <a:latin typeface="MiSans"/>
                <a:ea typeface="MiSans"/>
              </a:rPr>
              <a:t>＋</a:t>
            </a:r>
            <a:endParaRPr lang="en-US" sz="1300"/>
          </a:p>
        </p:txBody>
      </p:sp>
      <p:sp>
        <p:nvSpPr>
          <p:cNvPr id="24" name="b3"/>
          <p:cNvSpPr/>
          <p:nvPr/>
        </p:nvSpPr>
        <p:spPr>
          <a:xfrm>
            <a:off x="4216400" y="3302000"/>
            <a:ext cx="14986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5" name="b3-t"/>
          <p:cNvSpPr txBox="1"/>
          <p:nvPr/>
        </p:nvSpPr>
        <p:spPr>
          <a:xfrm>
            <a:off x="4216400" y="3302000"/>
            <a:ext cx="1498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2F2929"/>
                </a:solidFill>
                <a:latin typeface="MiSans"/>
                <a:ea typeface="MiSans"/>
              </a:rPr>
              <a:t>替代成本</a:t>
            </a:r>
            <a:endParaRPr lang="en-US" sz="1200"/>
          </a:p>
        </p:txBody>
      </p:sp>
      <p:sp>
        <p:nvSpPr>
          <p:cNvPr id="26" name="b-p3"/>
          <p:cNvSpPr txBox="1"/>
          <p:nvPr/>
        </p:nvSpPr>
        <p:spPr>
          <a:xfrm>
            <a:off x="5715000" y="3302000"/>
            <a:ext cx="304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9B9595"/>
                </a:solidFill>
                <a:latin typeface="MiSans"/>
                <a:ea typeface="MiSans"/>
              </a:rPr>
              <a:t>＋</a:t>
            </a:r>
            <a:endParaRPr lang="en-US" sz="1300"/>
          </a:p>
        </p:txBody>
      </p:sp>
      <p:sp>
        <p:nvSpPr>
          <p:cNvPr id="27" name="b4"/>
          <p:cNvSpPr/>
          <p:nvPr/>
        </p:nvSpPr>
        <p:spPr>
          <a:xfrm>
            <a:off x="6019800" y="3302000"/>
            <a:ext cx="14986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8" name="b4-t"/>
          <p:cNvSpPr txBox="1"/>
          <p:nvPr/>
        </p:nvSpPr>
        <p:spPr>
          <a:xfrm>
            <a:off x="6019800" y="3302000"/>
            <a:ext cx="1498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50">
                <a:solidFill>
                  <a:srgbClr val="2F2929"/>
                </a:solidFill>
                <a:latin typeface="MiSans"/>
                <a:ea typeface="MiSans"/>
              </a:rPr>
              <a:t>我们的供应链优势</a:t>
            </a:r>
            <a:endParaRPr lang="en-US" sz="1150"/>
          </a:p>
        </p:txBody>
      </p:sp>
      <p:sp>
        <p:nvSpPr>
          <p:cNvPr id="29" name="b-p4"/>
          <p:cNvSpPr txBox="1"/>
          <p:nvPr/>
        </p:nvSpPr>
        <p:spPr>
          <a:xfrm>
            <a:off x="7518400" y="3302000"/>
            <a:ext cx="304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9B9595"/>
                </a:solidFill>
                <a:latin typeface="MiSans"/>
                <a:ea typeface="MiSans"/>
              </a:rPr>
              <a:t>＋</a:t>
            </a:r>
            <a:endParaRPr lang="en-US" sz="1300"/>
          </a:p>
        </p:txBody>
      </p:sp>
      <p:sp>
        <p:nvSpPr>
          <p:cNvPr id="30" name="b5"/>
          <p:cNvSpPr/>
          <p:nvPr/>
        </p:nvSpPr>
        <p:spPr>
          <a:xfrm>
            <a:off x="7823200" y="3302000"/>
            <a:ext cx="1498600" cy="482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31" name="b5-t"/>
          <p:cNvSpPr txBox="1"/>
          <p:nvPr/>
        </p:nvSpPr>
        <p:spPr>
          <a:xfrm>
            <a:off x="7823200" y="3302000"/>
            <a:ext cx="1498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2F2929"/>
                </a:solidFill>
                <a:latin typeface="MiSans"/>
                <a:ea typeface="MiSans"/>
              </a:rPr>
              <a:t>合作战略</a:t>
            </a:r>
            <a:endParaRPr lang="en-US" sz="1200"/>
          </a:p>
        </p:txBody>
      </p:sp>
      <p:sp>
        <p:nvSpPr>
          <p:cNvPr id="32" name="b-eq"/>
          <p:cNvSpPr txBox="1"/>
          <p:nvPr/>
        </p:nvSpPr>
        <p:spPr>
          <a:xfrm>
            <a:off x="9321800" y="3302000"/>
            <a:ext cx="3302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9B9595"/>
                </a:solidFill>
                <a:latin typeface="MiSans"/>
                <a:ea typeface="MiSans"/>
              </a:rPr>
              <a:t>＝</a:t>
            </a:r>
            <a:endParaRPr lang="en-US" sz="1400"/>
          </a:p>
        </p:txBody>
      </p:sp>
      <p:sp>
        <p:nvSpPr>
          <p:cNvPr id="33" name="b6"/>
          <p:cNvSpPr/>
          <p:nvPr/>
        </p:nvSpPr>
        <p:spPr>
          <a:xfrm>
            <a:off x="9702800" y="3302000"/>
            <a:ext cx="1879600" cy="482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34" name="b6-t"/>
          <p:cNvSpPr txBox="1"/>
          <p:nvPr/>
        </p:nvSpPr>
        <p:spPr>
          <a:xfrm>
            <a:off x="9702800" y="3302000"/>
            <a:ext cx="187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最终报价</a:t>
            </a:r>
            <a:endParaRPr lang="en-US" sz="1300"/>
          </a:p>
        </p:txBody>
      </p:sp>
      <p:sp>
        <p:nvSpPr>
          <p:cNvPr id="35" name="line1"/>
          <p:cNvSpPr txBox="1"/>
          <p:nvPr/>
        </p:nvSpPr>
        <p:spPr>
          <a:xfrm>
            <a:off x="609600" y="4368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6E6666"/>
                </a:solidFill>
                <a:latin typeface="MiSans"/>
                <a:ea typeface="MiSans"/>
              </a:rPr>
              <a:t>成本决定底线。</a:t>
            </a:r>
            <a:endParaRPr lang="en-US" sz="1300"/>
          </a:p>
        </p:txBody>
      </p:sp>
      <p:sp>
        <p:nvSpPr>
          <p:cNvPr id="36" name="line2"/>
          <p:cNvSpPr txBox="1"/>
          <p:nvPr/>
        </p:nvSpPr>
        <p:spPr>
          <a:xfrm>
            <a:off x="609600" y="47244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40B0A"/>
                </a:solidFill>
                <a:latin typeface="MiSans"/>
                <a:ea typeface="MiSans"/>
              </a:rPr>
              <a:t>客户价值和市场位置，</a:t>
            </a:r>
            <a:r>
              <a:rPr lang="en-US" sz="1700" b="1">
                <a:solidFill>
                  <a:srgbClr val="FF4D4D"/>
                </a:solidFill>
                <a:latin typeface="MiSans"/>
                <a:ea typeface="MiSans"/>
              </a:rPr>
              <a:t>决定价格空间</a:t>
            </a:r>
            <a:r>
              <a:rPr lang="en-US" sz="1700" b="1">
                <a:solidFill>
                  <a:srgbClr val="140B0A"/>
                </a:solidFill>
                <a:latin typeface="MiSans"/>
                <a:ea typeface="MiSans"/>
              </a:rPr>
              <a:t>。</a:t>
            </a:r>
            <a:endParaRPr lang="en-US" sz="1700"/>
          </a:p>
        </p:txBody>
      </p:sp>
      <p:sp>
        <p:nvSpPr>
          <p:cNvPr id="37" name="note"/>
          <p:cNvSpPr txBox="1"/>
          <p:nvPr/>
        </p:nvSpPr>
        <p:spPr>
          <a:xfrm>
            <a:off x="609600" y="5308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E6666"/>
                </a:solidFill>
                <a:latin typeface="MiSans"/>
                <a:ea typeface="MiSans"/>
              </a:rPr>
              <a:t>传统逻辑里，销售是成本的搬运工；经营逻辑里，销售是价值的定价者。</a:t>
            </a:r>
            <a:endParaRPr lang="en-US" sz="1100"/>
          </a:p>
        </p:txBody>
      </p:sp>
      <p:sp>
        <p:nvSpPr>
          <p:cNvPr id="38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39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18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04 · 切入路径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不要急着卖所有产品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第一次见面就介绍几十个产品，客户什么都记不住</a:t>
            </a:r>
            <a:endParaRPr lang="en-US" sz="1250"/>
          </a:p>
        </p:txBody>
      </p:sp>
      <p:sp>
        <p:nvSpPr>
          <p:cNvPr id="7" name="b1"/>
          <p:cNvSpPr/>
          <p:nvPr/>
        </p:nvSpPr>
        <p:spPr>
          <a:xfrm>
            <a:off x="609600" y="2286000"/>
            <a:ext cx="2540000" cy="19050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8" name="b1-ch"/>
          <p:cNvSpPr txBox="1"/>
          <p:nvPr/>
        </p:nvSpPr>
        <p:spPr>
          <a:xfrm>
            <a:off x="863600" y="2514600"/>
            <a:ext cx="101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140B0A"/>
                </a:solidFill>
                <a:latin typeface="MiSans"/>
                <a:ea typeface="MiSans"/>
              </a:rPr>
              <a:t>点</a:t>
            </a:r>
            <a:endParaRPr lang="en-US" sz="2800"/>
          </a:p>
        </p:txBody>
      </p:sp>
      <p:sp>
        <p:nvSpPr>
          <p:cNvPr id="9" name="b1-t"/>
          <p:cNvSpPr txBox="1"/>
          <p:nvPr/>
        </p:nvSpPr>
        <p:spPr>
          <a:xfrm>
            <a:off x="863600" y="3149600"/>
            <a:ext cx="20828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先找到客户最痛的一个问题，</a:t>
            </a:r>
            <a:endParaRPr lang="en-US" sz="1150"/>
          </a:p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用一个具体产品解决它。</a:t>
            </a:r>
            <a:endParaRPr lang="en-US" sz="1150"/>
          </a:p>
        </p:txBody>
      </p:sp>
      <p:sp>
        <p:nvSpPr>
          <p:cNvPr id="10" name="ar1"/>
          <p:cNvSpPr/>
          <p:nvPr/>
        </p:nvSpPr>
        <p:spPr>
          <a:xfrm>
            <a:off x="3352800" y="3048000"/>
            <a:ext cx="558800" cy="279400"/>
          </a:xfrm>
          <a:prstGeom prst="rightArrow">
            <a:avLst/>
          </a:prstGeom>
          <a:solidFill>
            <a:srgbClr val="C7C4C4"/>
          </a:solidFill>
          <a:ln>
            <a:noFill/>
          </a:ln>
        </p:spPr>
      </p:sp>
      <p:sp>
        <p:nvSpPr>
          <p:cNvPr id="11" name="b2"/>
          <p:cNvSpPr/>
          <p:nvPr/>
        </p:nvSpPr>
        <p:spPr>
          <a:xfrm>
            <a:off x="4114800" y="2133600"/>
            <a:ext cx="3048000" cy="2209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2" name="b2-ch"/>
          <p:cNvSpPr txBox="1"/>
          <p:nvPr/>
        </p:nvSpPr>
        <p:spPr>
          <a:xfrm>
            <a:off x="4368800" y="2362200"/>
            <a:ext cx="101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140B0A"/>
                </a:solidFill>
                <a:latin typeface="MiSans"/>
                <a:ea typeface="MiSans"/>
              </a:rPr>
              <a:t>线</a:t>
            </a:r>
            <a:endParaRPr lang="en-US" sz="2800"/>
          </a:p>
        </p:txBody>
      </p:sp>
      <p:sp>
        <p:nvSpPr>
          <p:cNvPr id="13" name="b2-t"/>
          <p:cNvSpPr txBox="1"/>
          <p:nvPr/>
        </p:nvSpPr>
        <p:spPr>
          <a:xfrm>
            <a:off x="4368800" y="2997200"/>
            <a:ext cx="2590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让客户感受到真实价值，</a:t>
            </a:r>
            <a:endParaRPr lang="en-US" sz="1150"/>
          </a:p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再逐步延伸相关产品。</a:t>
            </a:r>
            <a:endParaRPr lang="en-US" sz="1150"/>
          </a:p>
        </p:txBody>
      </p:sp>
      <p:sp>
        <p:nvSpPr>
          <p:cNvPr id="14" name="ar2"/>
          <p:cNvSpPr/>
          <p:nvPr/>
        </p:nvSpPr>
        <p:spPr>
          <a:xfrm>
            <a:off x="7366000" y="3048000"/>
            <a:ext cx="558800" cy="279400"/>
          </a:xfrm>
          <a:prstGeom prst="rightArrow">
            <a:avLst/>
          </a:prstGeom>
          <a:solidFill>
            <a:srgbClr val="C7C4C4"/>
          </a:solidFill>
          <a:ln>
            <a:noFill/>
          </a:ln>
        </p:spPr>
      </p:sp>
      <p:sp>
        <p:nvSpPr>
          <p:cNvPr id="15" name="b3"/>
          <p:cNvSpPr/>
          <p:nvPr/>
        </p:nvSpPr>
        <p:spPr>
          <a:xfrm>
            <a:off x="8128000" y="1981200"/>
            <a:ext cx="3454400" cy="25146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16" name="b3-bar"/>
          <p:cNvSpPr/>
          <p:nvPr/>
        </p:nvSpPr>
        <p:spPr>
          <a:xfrm>
            <a:off x="8128000" y="1981200"/>
            <a:ext cx="50800" cy="2514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7" name="b3-ch"/>
          <p:cNvSpPr txBox="1"/>
          <p:nvPr/>
        </p:nvSpPr>
        <p:spPr>
          <a:xfrm>
            <a:off x="8483600" y="2209800"/>
            <a:ext cx="101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FF4D4D"/>
                </a:solidFill>
                <a:latin typeface="MiSans"/>
                <a:ea typeface="MiSans"/>
              </a:rPr>
              <a:t>面</a:t>
            </a:r>
            <a:endParaRPr lang="en-US" sz="2800"/>
          </a:p>
        </p:txBody>
      </p:sp>
      <p:sp>
        <p:nvSpPr>
          <p:cNvPr id="18" name="b3-t"/>
          <p:cNvSpPr txBox="1"/>
          <p:nvPr/>
        </p:nvSpPr>
        <p:spPr>
          <a:xfrm>
            <a:off x="8483600" y="2870200"/>
            <a:ext cx="2844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>
                <a:solidFill>
                  <a:srgbClr val="2F2929"/>
                </a:solidFill>
                <a:latin typeface="MiSans"/>
                <a:ea typeface="MiSans"/>
              </a:rPr>
              <a:t>逐步延伸其他产品，</a:t>
            </a:r>
            <a:endParaRPr lang="en-US" sz="1200"/>
          </a:p>
          <a:p>
            <a:pPr>
              <a:lnSpc>
                <a:spcPct val="160000"/>
              </a:lnSpc>
            </a:pPr>
            <a:r>
              <a:rPr lang="en-US" sz="1200">
                <a:solidFill>
                  <a:srgbClr val="2F2929"/>
                </a:solidFill>
                <a:latin typeface="MiSans"/>
                <a:ea typeface="MiSans"/>
              </a:rPr>
              <a:t>经营客户整体供应链。</a:t>
            </a:r>
            <a:endParaRPr lang="en-US" sz="1200"/>
          </a:p>
        </p:txBody>
      </p:sp>
      <p:sp>
        <p:nvSpPr>
          <p:cNvPr id="19" name="concl"/>
          <p:cNvSpPr txBox="1"/>
          <p:nvPr/>
        </p:nvSpPr>
        <p:spPr>
          <a:xfrm>
            <a:off x="609600" y="53340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140B0A"/>
                </a:solidFill>
                <a:latin typeface="MiSans"/>
                <a:ea typeface="MiSans"/>
              </a:rPr>
              <a:t>先打透一个</a:t>
            </a:r>
            <a:r>
              <a:rPr lang="en-US" sz="1800" b="1">
                <a:solidFill>
                  <a:srgbClr val="FF4D4D"/>
                </a:solidFill>
                <a:latin typeface="MiSans"/>
                <a:ea typeface="MiSans"/>
              </a:rPr>
              <a:t>点</a:t>
            </a:r>
            <a:r>
              <a:rPr lang="en-US" sz="1800" b="1">
                <a:solidFill>
                  <a:srgbClr val="140B0A"/>
                </a:solidFill>
                <a:latin typeface="MiSans"/>
                <a:ea typeface="MiSans"/>
              </a:rPr>
              <a:t>，再进入一条</a:t>
            </a:r>
            <a:r>
              <a:rPr lang="en-US" sz="1800" b="1">
                <a:solidFill>
                  <a:srgbClr val="FF4D4D"/>
                </a:solidFill>
                <a:latin typeface="MiSans"/>
                <a:ea typeface="MiSans"/>
              </a:rPr>
              <a:t>线</a:t>
            </a:r>
            <a:r>
              <a:rPr lang="en-US" sz="1800" b="1">
                <a:solidFill>
                  <a:srgbClr val="140B0A"/>
                </a:solidFill>
                <a:latin typeface="MiSans"/>
                <a:ea typeface="MiSans"/>
              </a:rPr>
              <a:t>，最后经营一个</a:t>
            </a:r>
            <a:r>
              <a:rPr lang="en-US" sz="1800" b="1">
                <a:solidFill>
                  <a:srgbClr val="FF4D4D"/>
                </a:solidFill>
                <a:latin typeface="MiSans"/>
                <a:ea typeface="MiSans"/>
              </a:rPr>
              <a:t>面</a:t>
            </a:r>
            <a:r>
              <a:rPr lang="en-US" sz="1800" b="1">
                <a:solidFill>
                  <a:srgbClr val="140B0A"/>
                </a:solidFill>
                <a:latin typeface="MiSans"/>
                <a:ea typeface="MiSans"/>
              </a:rPr>
              <a:t>。</a:t>
            </a:r>
            <a:endParaRPr lang="en-US" sz="1800"/>
          </a:p>
        </p:txBody>
      </p:sp>
      <p:sp>
        <p:nvSpPr>
          <p:cNvPr id="20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1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19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05 · 客户经营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什么叫经营一个客户？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经营客户不是每天催订单，而是持续理解七件事</a:t>
            </a:r>
            <a:endParaRPr lang="en-US" sz="1250"/>
          </a:p>
        </p:txBody>
      </p:sp>
      <p:sp>
        <p:nvSpPr>
          <p:cNvPr id="7" name="r1-n"/>
          <p:cNvSpPr txBox="1"/>
          <p:nvPr/>
        </p:nvSpPr>
        <p:spPr>
          <a:xfrm>
            <a:off x="609600" y="19304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01</a:t>
            </a:r>
            <a:endParaRPr lang="en-US" sz="1500"/>
          </a:p>
        </p:txBody>
      </p:sp>
      <p:sp>
        <p:nvSpPr>
          <p:cNvPr id="8" name="r1"/>
          <p:cNvSpPr txBox="1"/>
          <p:nvPr/>
        </p:nvSpPr>
        <p:spPr>
          <a:xfrm>
            <a:off x="1092200" y="19558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40B0A"/>
                </a:solidFill>
                <a:latin typeface="MiSans"/>
                <a:ea typeface="MiSans"/>
              </a:rPr>
              <a:t>客户在做什么</a:t>
            </a:r>
            <a:endParaRPr lang="en-US" sz="1350"/>
          </a:p>
        </p:txBody>
      </p:sp>
      <p:sp>
        <p:nvSpPr>
          <p:cNvPr id="9" name="r2-n"/>
          <p:cNvSpPr txBox="1"/>
          <p:nvPr/>
        </p:nvSpPr>
        <p:spPr>
          <a:xfrm>
            <a:off x="609600" y="26416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02</a:t>
            </a:r>
            <a:endParaRPr lang="en-US" sz="1500"/>
          </a:p>
        </p:txBody>
      </p:sp>
      <p:sp>
        <p:nvSpPr>
          <p:cNvPr id="10" name="r2"/>
          <p:cNvSpPr txBox="1"/>
          <p:nvPr/>
        </p:nvSpPr>
        <p:spPr>
          <a:xfrm>
            <a:off x="1092200" y="26670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40B0A"/>
                </a:solidFill>
                <a:latin typeface="MiSans"/>
                <a:ea typeface="MiSans"/>
              </a:rPr>
              <a:t>客户准备做什么</a:t>
            </a:r>
            <a:endParaRPr lang="en-US" sz="1350"/>
          </a:p>
        </p:txBody>
      </p:sp>
      <p:sp>
        <p:nvSpPr>
          <p:cNvPr id="11" name="r3-n"/>
          <p:cNvSpPr txBox="1"/>
          <p:nvPr/>
        </p:nvSpPr>
        <p:spPr>
          <a:xfrm>
            <a:off x="609600" y="3352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03</a:t>
            </a:r>
            <a:endParaRPr lang="en-US" sz="1500"/>
          </a:p>
        </p:txBody>
      </p:sp>
      <p:sp>
        <p:nvSpPr>
          <p:cNvPr id="12" name="r3"/>
          <p:cNvSpPr txBox="1"/>
          <p:nvPr/>
        </p:nvSpPr>
        <p:spPr>
          <a:xfrm>
            <a:off x="1092200" y="33782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40B0A"/>
                </a:solidFill>
                <a:latin typeface="MiSans"/>
                <a:ea typeface="MiSans"/>
              </a:rPr>
              <a:t>客户遇到了什么困难</a:t>
            </a:r>
            <a:endParaRPr lang="en-US" sz="1350"/>
          </a:p>
        </p:txBody>
      </p:sp>
      <p:sp>
        <p:nvSpPr>
          <p:cNvPr id="13" name="r4-n"/>
          <p:cNvSpPr txBox="1"/>
          <p:nvPr/>
        </p:nvSpPr>
        <p:spPr>
          <a:xfrm>
            <a:off x="609600" y="40640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04</a:t>
            </a:r>
            <a:endParaRPr lang="en-US" sz="1500"/>
          </a:p>
        </p:txBody>
      </p:sp>
      <p:sp>
        <p:nvSpPr>
          <p:cNvPr id="14" name="r4"/>
          <p:cNvSpPr txBox="1"/>
          <p:nvPr/>
        </p:nvSpPr>
        <p:spPr>
          <a:xfrm>
            <a:off x="1092200" y="40894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40B0A"/>
                </a:solidFill>
                <a:latin typeface="MiSans"/>
                <a:ea typeface="MiSans"/>
              </a:rPr>
              <a:t>客户哪些产品利润高</a:t>
            </a:r>
            <a:endParaRPr lang="en-US" sz="1350"/>
          </a:p>
        </p:txBody>
      </p:sp>
      <p:sp>
        <p:nvSpPr>
          <p:cNvPr id="15" name="r5-n"/>
          <p:cNvSpPr txBox="1"/>
          <p:nvPr/>
        </p:nvSpPr>
        <p:spPr>
          <a:xfrm>
            <a:off x="6375400" y="19304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05</a:t>
            </a:r>
            <a:endParaRPr lang="en-US" sz="1500"/>
          </a:p>
        </p:txBody>
      </p:sp>
      <p:sp>
        <p:nvSpPr>
          <p:cNvPr id="16" name="r5"/>
          <p:cNvSpPr txBox="1"/>
          <p:nvPr/>
        </p:nvSpPr>
        <p:spPr>
          <a:xfrm>
            <a:off x="6858000" y="19558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40B0A"/>
                </a:solidFill>
                <a:latin typeface="MiSans"/>
                <a:ea typeface="MiSans"/>
              </a:rPr>
              <a:t>客户哪些产品成本高</a:t>
            </a:r>
            <a:endParaRPr lang="en-US" sz="1350"/>
          </a:p>
        </p:txBody>
      </p:sp>
      <p:sp>
        <p:nvSpPr>
          <p:cNvPr id="17" name="r6-n"/>
          <p:cNvSpPr txBox="1"/>
          <p:nvPr/>
        </p:nvSpPr>
        <p:spPr>
          <a:xfrm>
            <a:off x="6375400" y="26416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06</a:t>
            </a:r>
            <a:endParaRPr lang="en-US" sz="1500"/>
          </a:p>
        </p:txBody>
      </p:sp>
      <p:sp>
        <p:nvSpPr>
          <p:cNvPr id="18" name="r6"/>
          <p:cNvSpPr txBox="1"/>
          <p:nvPr/>
        </p:nvSpPr>
        <p:spPr>
          <a:xfrm>
            <a:off x="6858000" y="26670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40B0A"/>
                </a:solidFill>
                <a:latin typeface="MiSans"/>
                <a:ea typeface="MiSans"/>
              </a:rPr>
              <a:t>客户哪些供应商不稳定</a:t>
            </a:r>
            <a:endParaRPr lang="en-US" sz="1350"/>
          </a:p>
        </p:txBody>
      </p:sp>
      <p:sp>
        <p:nvSpPr>
          <p:cNvPr id="19" name="r7-n"/>
          <p:cNvSpPr txBox="1"/>
          <p:nvPr/>
        </p:nvSpPr>
        <p:spPr>
          <a:xfrm>
            <a:off x="6375400" y="3352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9B9595"/>
                </a:solidFill>
                <a:latin typeface="MiSans"/>
                <a:ea typeface="MiSans"/>
              </a:rPr>
              <a:t>07</a:t>
            </a:r>
            <a:endParaRPr lang="en-US" sz="1500"/>
          </a:p>
        </p:txBody>
      </p:sp>
      <p:sp>
        <p:nvSpPr>
          <p:cNvPr id="20" name="r7"/>
          <p:cNvSpPr txBox="1"/>
          <p:nvPr/>
        </p:nvSpPr>
        <p:spPr>
          <a:xfrm>
            <a:off x="6858000" y="33782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40B0A"/>
                </a:solidFill>
                <a:latin typeface="MiSans"/>
                <a:ea typeface="MiSans"/>
              </a:rPr>
              <a:t>我们能够替他解决什么问题</a:t>
            </a:r>
            <a:endParaRPr lang="en-US" sz="1350"/>
          </a:p>
        </p:txBody>
      </p:sp>
      <p:sp>
        <p:nvSpPr>
          <p:cNvPr id="21" name="concl"/>
          <p:cNvSpPr txBox="1"/>
          <p:nvPr/>
        </p:nvSpPr>
        <p:spPr>
          <a:xfrm>
            <a:off x="609600" y="53848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40B0A"/>
                </a:solidFill>
                <a:latin typeface="MiSans"/>
                <a:ea typeface="MiSans"/>
              </a:rPr>
              <a:t>销售要从“等询盘”，升级为</a:t>
            </a:r>
            <a:r>
              <a:rPr lang="en-US" sz="1700" b="1">
                <a:solidFill>
                  <a:srgbClr val="FF4D4D"/>
                </a:solidFill>
                <a:latin typeface="MiSans"/>
                <a:ea typeface="MiSans"/>
              </a:rPr>
              <a:t>“主动发现机会”</a:t>
            </a:r>
            <a:r>
              <a:rPr lang="en-US" sz="1700" b="1">
                <a:solidFill>
                  <a:srgbClr val="140B0A"/>
                </a:solidFill>
                <a:latin typeface="MiSans"/>
                <a:ea typeface="MiSans"/>
              </a:rPr>
              <a:t>。</a:t>
            </a:r>
            <a:endParaRPr lang="en-US" sz="1700"/>
          </a:p>
        </p:txBody>
      </p:sp>
      <p:sp>
        <p:nvSpPr>
          <p:cNvPr id="22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3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20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05 · 客户经营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定期拜访为什么重要？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老板和采购每天接触大量供应商——你不出现，客户就会忘记你</a:t>
            </a:r>
            <a:endParaRPr lang="en-US" sz="1250"/>
          </a:p>
        </p:txBody>
      </p:sp>
      <p:sp>
        <p:nvSpPr>
          <p:cNvPr id="7" name="sub-label"/>
          <p:cNvSpPr txBox="1"/>
          <p:nvPr/>
        </p:nvSpPr>
        <p:spPr>
          <a:xfrm>
            <a:off x="609600" y="177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40B0A"/>
                </a:solidFill>
                <a:latin typeface="MiSans"/>
                <a:ea typeface="MiSans"/>
              </a:rPr>
              <a:t>拜访不是硬推销，而是交换信息——</a:t>
            </a:r>
            <a:endParaRPr lang="en-US" sz="1300"/>
          </a:p>
        </p:txBody>
      </p:sp>
      <p:sp>
        <p:nvSpPr>
          <p:cNvPr id="8" name="k1"/>
          <p:cNvSpPr/>
          <p:nvPr/>
        </p:nvSpPr>
        <p:spPr>
          <a:xfrm>
            <a:off x="609600" y="2235200"/>
            <a:ext cx="3517900" cy="812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9" name="k1-t"/>
          <p:cNvSpPr txBox="1"/>
          <p:nvPr/>
        </p:nvSpPr>
        <p:spPr>
          <a:xfrm>
            <a:off x="914400" y="2235200"/>
            <a:ext cx="304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最近行业有什么变化</a:t>
            </a:r>
            <a:endParaRPr lang="en-US" sz="1250"/>
          </a:p>
        </p:txBody>
      </p:sp>
      <p:sp>
        <p:nvSpPr>
          <p:cNvPr id="10" name="k2"/>
          <p:cNvSpPr/>
          <p:nvPr/>
        </p:nvSpPr>
        <p:spPr>
          <a:xfrm>
            <a:off x="4330700" y="2235200"/>
            <a:ext cx="3517900" cy="812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1" name="k2-t"/>
          <p:cNvSpPr txBox="1"/>
          <p:nvPr/>
        </p:nvSpPr>
        <p:spPr>
          <a:xfrm>
            <a:off x="4635500" y="2235200"/>
            <a:ext cx="304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市场出现了什么新品</a:t>
            </a:r>
            <a:endParaRPr lang="en-US" sz="1250"/>
          </a:p>
        </p:txBody>
      </p:sp>
      <p:sp>
        <p:nvSpPr>
          <p:cNvPr id="12" name="k3"/>
          <p:cNvSpPr/>
          <p:nvPr/>
        </p:nvSpPr>
        <p:spPr>
          <a:xfrm>
            <a:off x="8051800" y="2235200"/>
            <a:ext cx="3530600" cy="812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3" name="k3-t"/>
          <p:cNvSpPr txBox="1"/>
          <p:nvPr/>
        </p:nvSpPr>
        <p:spPr>
          <a:xfrm>
            <a:off x="8356600" y="2235200"/>
            <a:ext cx="304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哪些成本正在变化</a:t>
            </a:r>
            <a:endParaRPr lang="en-US" sz="1250"/>
          </a:p>
        </p:txBody>
      </p:sp>
      <p:sp>
        <p:nvSpPr>
          <p:cNvPr id="14" name="k4"/>
          <p:cNvSpPr/>
          <p:nvPr/>
        </p:nvSpPr>
        <p:spPr>
          <a:xfrm>
            <a:off x="609600" y="3251200"/>
            <a:ext cx="3517900" cy="812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5" name="k4-t"/>
          <p:cNvSpPr txBox="1"/>
          <p:nvPr/>
        </p:nvSpPr>
        <p:spPr>
          <a:xfrm>
            <a:off x="914400" y="3251200"/>
            <a:ext cx="304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我们建立了哪些新能力</a:t>
            </a:r>
            <a:endParaRPr lang="en-US" sz="1250"/>
          </a:p>
        </p:txBody>
      </p:sp>
      <p:sp>
        <p:nvSpPr>
          <p:cNvPr id="16" name="k5"/>
          <p:cNvSpPr/>
          <p:nvPr/>
        </p:nvSpPr>
        <p:spPr>
          <a:xfrm>
            <a:off x="4330700" y="3251200"/>
            <a:ext cx="3517900" cy="812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7" name="k5-t"/>
          <p:cNvSpPr txBox="1"/>
          <p:nvPr/>
        </p:nvSpPr>
        <p:spPr>
          <a:xfrm>
            <a:off x="4635500" y="3251200"/>
            <a:ext cx="304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客户接下来有什么规划</a:t>
            </a:r>
            <a:endParaRPr lang="en-US" sz="1250"/>
          </a:p>
        </p:txBody>
      </p:sp>
      <p:sp>
        <p:nvSpPr>
          <p:cNvPr id="18" name="k6"/>
          <p:cNvSpPr/>
          <p:nvPr/>
        </p:nvSpPr>
        <p:spPr>
          <a:xfrm>
            <a:off x="8051800" y="3251200"/>
            <a:ext cx="3530600" cy="8128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9" name="k6-t"/>
          <p:cNvSpPr txBox="1"/>
          <p:nvPr/>
        </p:nvSpPr>
        <p:spPr>
          <a:xfrm>
            <a:off x="8356600" y="3251200"/>
            <a:ext cx="304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哪些项目可以共同测试</a:t>
            </a:r>
            <a:endParaRPr lang="en-US" sz="1250"/>
          </a:p>
        </p:txBody>
      </p:sp>
      <p:sp>
        <p:nvSpPr>
          <p:cNvPr id="20" name="strip"/>
          <p:cNvSpPr/>
          <p:nvPr/>
        </p:nvSpPr>
        <p:spPr>
          <a:xfrm>
            <a:off x="609600" y="5435600"/>
            <a:ext cx="10972800" cy="7112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21" name="strip-bar"/>
          <p:cNvSpPr/>
          <p:nvPr/>
        </p:nvSpPr>
        <p:spPr>
          <a:xfrm>
            <a:off x="609600" y="5435600"/>
            <a:ext cx="50800" cy="711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2" name="strip-t"/>
          <p:cNvSpPr txBox="1"/>
          <p:nvPr/>
        </p:nvSpPr>
        <p:spPr>
          <a:xfrm>
            <a:off x="965200" y="54356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真正的拜访，要让客户得到</a:t>
            </a:r>
            <a:r>
              <a:rPr lang="en-US" sz="1500" b="1">
                <a:solidFill>
                  <a:srgbClr val="FF4D4D"/>
                </a:solidFill>
                <a:latin typeface="MiSans"/>
                <a:ea typeface="MiSans"/>
              </a:rPr>
              <a:t>新的判断</a:t>
            </a: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。</a:t>
            </a:r>
            <a:endParaRPr lang="en-US" sz="1500"/>
          </a:p>
        </p:txBody>
      </p:sp>
      <p:sp>
        <p:nvSpPr>
          <p:cNvPr id="23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4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21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05 · 客户经营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拜访必须带着价值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客户愿意见的，不是销售，而是能够带来价值的人</a:t>
            </a:r>
            <a:endParaRPr lang="en-US" sz="1250"/>
          </a:p>
        </p:txBody>
      </p:sp>
      <p:sp>
        <p:nvSpPr>
          <p:cNvPr id="7" name="pl"/>
          <p:cNvSpPr/>
          <p:nvPr/>
        </p:nvSpPr>
        <p:spPr>
          <a:xfrm>
            <a:off x="609600" y="1778000"/>
            <a:ext cx="3810000" cy="38100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8" name="pl-cap"/>
          <p:cNvSpPr/>
          <p:nvPr/>
        </p:nvSpPr>
        <p:spPr>
          <a:xfrm>
            <a:off x="914400" y="2082800"/>
            <a:ext cx="1397000" cy="330200"/>
          </a:xfrm>
          <a:prstGeom prst="rect">
            <a:avLst/>
          </a:prstGeom>
          <a:solidFill>
            <a:srgbClr val="D9D6D6"/>
          </a:solidFill>
          <a:ln>
            <a:noFill/>
          </a:ln>
        </p:spPr>
      </p:sp>
      <p:sp>
        <p:nvSpPr>
          <p:cNvPr id="9" name="pl-cap-t"/>
          <p:cNvSpPr txBox="1"/>
          <p:nvPr/>
        </p:nvSpPr>
        <p:spPr>
          <a:xfrm>
            <a:off x="914400" y="20828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140B0A"/>
                </a:solidFill>
                <a:latin typeface="MiSans"/>
                <a:ea typeface="MiSans"/>
              </a:rPr>
              <a:t>低价值拜访</a:t>
            </a:r>
            <a:endParaRPr lang="en-US" sz="1100"/>
          </a:p>
        </p:txBody>
      </p:sp>
      <p:sp>
        <p:nvSpPr>
          <p:cNvPr id="10" name="pl-quote"/>
          <p:cNvSpPr txBox="1"/>
          <p:nvPr/>
        </p:nvSpPr>
        <p:spPr>
          <a:xfrm>
            <a:off x="914400" y="2692400"/>
            <a:ext cx="3200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900" b="1">
                <a:solidFill>
                  <a:srgbClr val="6E6666"/>
                </a:solidFill>
                <a:latin typeface="MiSans"/>
                <a:ea typeface="MiSans"/>
              </a:rPr>
              <a:t>“最近有没有订单？”</a:t>
            </a:r>
            <a:endParaRPr lang="en-US" sz="1900"/>
          </a:p>
        </p:txBody>
      </p:sp>
      <p:sp>
        <p:nvSpPr>
          <p:cNvPr id="11" name="pl-note"/>
          <p:cNvSpPr txBox="1"/>
          <p:nvPr/>
        </p:nvSpPr>
        <p:spPr>
          <a:xfrm>
            <a:off x="914400" y="3708400"/>
            <a:ext cx="3200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只索取、不给予——</a:t>
            </a:r>
            <a:endParaRPr lang="en-US" sz="1150"/>
          </a:p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客户很快不愿再见你。</a:t>
            </a:r>
            <a:endParaRPr lang="en-US" sz="1150"/>
          </a:p>
        </p:txBody>
      </p:sp>
      <p:sp>
        <p:nvSpPr>
          <p:cNvPr id="12" name="pr"/>
          <p:cNvSpPr/>
          <p:nvPr/>
        </p:nvSpPr>
        <p:spPr>
          <a:xfrm>
            <a:off x="4826000" y="1778000"/>
            <a:ext cx="67564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7E7"/>
            </a:solidFill>
          </a:ln>
        </p:spPr>
      </p:sp>
      <p:sp>
        <p:nvSpPr>
          <p:cNvPr id="13" name="pr-cap"/>
          <p:cNvSpPr/>
          <p:nvPr/>
        </p:nvSpPr>
        <p:spPr>
          <a:xfrm>
            <a:off x="5130800" y="2082800"/>
            <a:ext cx="1524000" cy="330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14" name="pr-cap-t"/>
          <p:cNvSpPr txBox="1"/>
          <p:nvPr/>
        </p:nvSpPr>
        <p:spPr>
          <a:xfrm>
            <a:off x="5130800" y="208280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高价值拜访</a:t>
            </a:r>
            <a:endParaRPr lang="en-US" sz="1100"/>
          </a:p>
        </p:txBody>
      </p:sp>
      <p:sp>
        <p:nvSpPr>
          <p:cNvPr id="15" name="v1-sq"/>
          <p:cNvSpPr/>
          <p:nvPr/>
        </p:nvSpPr>
        <p:spPr>
          <a:xfrm>
            <a:off x="5130800" y="2781300"/>
            <a:ext cx="76200" cy="76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6" name="v1"/>
          <p:cNvSpPr txBox="1"/>
          <p:nvPr/>
        </p:nvSpPr>
        <p:spPr>
          <a:xfrm>
            <a:off x="5334000" y="26924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“最近我们发现这个品类成本有新的优化空间。”</a:t>
            </a:r>
            <a:endParaRPr lang="en-US" sz="1250"/>
          </a:p>
        </p:txBody>
      </p:sp>
      <p:sp>
        <p:nvSpPr>
          <p:cNvPr id="17" name="v2-sq"/>
          <p:cNvSpPr/>
          <p:nvPr/>
        </p:nvSpPr>
        <p:spPr>
          <a:xfrm>
            <a:off x="5130800" y="3314700"/>
            <a:ext cx="76200" cy="76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8" name="v2"/>
          <p:cNvSpPr txBox="1"/>
          <p:nvPr/>
        </p:nvSpPr>
        <p:spPr>
          <a:xfrm>
            <a:off x="5334000" y="32258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“我们测试了一种新的交付方案。”</a:t>
            </a:r>
            <a:endParaRPr lang="en-US" sz="1250"/>
          </a:p>
        </p:txBody>
      </p:sp>
      <p:sp>
        <p:nvSpPr>
          <p:cNvPr id="19" name="v3-sq"/>
          <p:cNvSpPr/>
          <p:nvPr/>
        </p:nvSpPr>
        <p:spPr>
          <a:xfrm>
            <a:off x="5130800" y="3848100"/>
            <a:ext cx="76200" cy="76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0" name="v3"/>
          <p:cNvSpPr txBox="1"/>
          <p:nvPr/>
        </p:nvSpPr>
        <p:spPr>
          <a:xfrm>
            <a:off x="5334000" y="37592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“这个产品最近市场反馈不错。”</a:t>
            </a:r>
            <a:endParaRPr lang="en-US" sz="1250"/>
          </a:p>
        </p:txBody>
      </p:sp>
      <p:sp>
        <p:nvSpPr>
          <p:cNvPr id="21" name="v4-sq"/>
          <p:cNvSpPr/>
          <p:nvPr/>
        </p:nvSpPr>
        <p:spPr>
          <a:xfrm>
            <a:off x="5130800" y="4381500"/>
            <a:ext cx="76200" cy="76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2" name="v4"/>
          <p:cNvSpPr txBox="1"/>
          <p:nvPr/>
        </p:nvSpPr>
        <p:spPr>
          <a:xfrm>
            <a:off x="5334000" y="42926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“你现在的产品结构里，可能有一个风险。”</a:t>
            </a:r>
            <a:endParaRPr lang="en-US" sz="1250"/>
          </a:p>
        </p:txBody>
      </p:sp>
      <p:sp>
        <p:nvSpPr>
          <p:cNvPr id="23" name="v5-sq"/>
          <p:cNvSpPr/>
          <p:nvPr/>
        </p:nvSpPr>
        <p:spPr>
          <a:xfrm>
            <a:off x="5130800" y="4914900"/>
            <a:ext cx="76200" cy="76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4" name="v5"/>
          <p:cNvSpPr txBox="1"/>
          <p:nvPr/>
        </p:nvSpPr>
        <p:spPr>
          <a:xfrm>
            <a:off x="5334000" y="48260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“我们根据你的产品线，整理了一个优化建议。”</a:t>
            </a:r>
            <a:endParaRPr lang="en-US" sz="1250"/>
          </a:p>
        </p:txBody>
      </p:sp>
      <p:sp>
        <p:nvSpPr>
          <p:cNvPr id="25" name="concl"/>
          <p:cNvSpPr txBox="1"/>
          <p:nvPr/>
        </p:nvSpPr>
        <p:spPr>
          <a:xfrm>
            <a:off x="609600" y="58674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每次拜访前问自己：这一次见面，</a:t>
            </a:r>
            <a:r>
              <a:rPr lang="en-US" sz="1500" b="1">
                <a:solidFill>
                  <a:srgbClr val="FF4D4D"/>
                </a:solidFill>
                <a:latin typeface="MiSans"/>
                <a:ea typeface="MiSans"/>
              </a:rPr>
              <a:t>客户能得到什么</a:t>
            </a: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？</a:t>
            </a:r>
            <a:endParaRPr lang="en-US" sz="1500"/>
          </a:p>
        </p:txBody>
      </p:sp>
      <p:sp>
        <p:nvSpPr>
          <p:cNvPr id="26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7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22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05 · 客户经营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供应链销售的核心身份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普通销售是产品报价员，经营型销售是客户供应链顾问</a:t>
            </a:r>
            <a:endParaRPr lang="en-US" sz="1250"/>
          </a:p>
        </p:txBody>
      </p:sp>
      <p:sp>
        <p:nvSpPr>
          <p:cNvPr id="7" name="cap-l"/>
          <p:cNvSpPr/>
          <p:nvPr/>
        </p:nvSpPr>
        <p:spPr>
          <a:xfrm>
            <a:off x="609600" y="1778000"/>
            <a:ext cx="5207000" cy="5842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8" name="cap-l-t"/>
          <p:cNvSpPr txBox="1"/>
          <p:nvPr/>
        </p:nvSpPr>
        <p:spPr>
          <a:xfrm>
            <a:off x="609600" y="1778000"/>
            <a:ext cx="5207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6E6666"/>
                </a:solidFill>
                <a:latin typeface="MiSans"/>
                <a:ea typeface="MiSans"/>
              </a:rPr>
              <a:t>普通销售 ＝ 产品报价员</a:t>
            </a:r>
            <a:endParaRPr lang="en-US" sz="1400"/>
          </a:p>
        </p:txBody>
      </p:sp>
      <p:sp>
        <p:nvSpPr>
          <p:cNvPr id="9" name="cap-r"/>
          <p:cNvSpPr/>
          <p:nvPr/>
        </p:nvSpPr>
        <p:spPr>
          <a:xfrm>
            <a:off x="6375400" y="1778000"/>
            <a:ext cx="5207000" cy="584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0" name="cap-r-t"/>
          <p:cNvSpPr txBox="1"/>
          <p:nvPr/>
        </p:nvSpPr>
        <p:spPr>
          <a:xfrm>
            <a:off x="6375400" y="1778000"/>
            <a:ext cx="5207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经营型销售 ＝ 客户供应链顾问</a:t>
            </a:r>
            <a:endParaRPr lang="en-US" sz="1400"/>
          </a:p>
        </p:txBody>
      </p:sp>
      <p:sp>
        <p:nvSpPr>
          <p:cNvPr id="11" name="list-label"/>
          <p:cNvSpPr txBox="1"/>
          <p:nvPr/>
        </p:nvSpPr>
        <p:spPr>
          <a:xfrm>
            <a:off x="609600" y="2870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6E6666"/>
                </a:solidFill>
                <a:latin typeface="MiSans"/>
                <a:ea typeface="MiSans"/>
              </a:rPr>
              <a:t>未来销售必须具备的七种能力</a:t>
            </a:r>
            <a:endParaRPr lang="en-US" sz="1100"/>
          </a:p>
        </p:txBody>
      </p:sp>
      <p:sp>
        <p:nvSpPr>
          <p:cNvPr id="12" name="a1"/>
          <p:cNvSpPr/>
          <p:nvPr/>
        </p:nvSpPr>
        <p:spPr>
          <a:xfrm>
            <a:off x="609600" y="3225800"/>
            <a:ext cx="1422400" cy="533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3" name="a1-t"/>
          <p:cNvSpPr txBox="1"/>
          <p:nvPr/>
        </p:nvSpPr>
        <p:spPr>
          <a:xfrm>
            <a:off x="609600" y="3225800"/>
            <a:ext cx="1422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产品知识</a:t>
            </a:r>
            <a:endParaRPr lang="en-US" sz="1250"/>
          </a:p>
        </p:txBody>
      </p:sp>
      <p:sp>
        <p:nvSpPr>
          <p:cNvPr id="14" name="a2"/>
          <p:cNvSpPr/>
          <p:nvPr/>
        </p:nvSpPr>
        <p:spPr>
          <a:xfrm>
            <a:off x="2197100" y="3225800"/>
            <a:ext cx="1422400" cy="533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5" name="a2-t"/>
          <p:cNvSpPr txBox="1"/>
          <p:nvPr/>
        </p:nvSpPr>
        <p:spPr>
          <a:xfrm>
            <a:off x="2197100" y="3225800"/>
            <a:ext cx="1422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工艺知识</a:t>
            </a:r>
            <a:endParaRPr lang="en-US" sz="1250"/>
          </a:p>
        </p:txBody>
      </p:sp>
      <p:sp>
        <p:nvSpPr>
          <p:cNvPr id="16" name="a3"/>
          <p:cNvSpPr/>
          <p:nvPr/>
        </p:nvSpPr>
        <p:spPr>
          <a:xfrm>
            <a:off x="3784600" y="3225800"/>
            <a:ext cx="1422400" cy="533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7" name="a3-t"/>
          <p:cNvSpPr txBox="1"/>
          <p:nvPr/>
        </p:nvSpPr>
        <p:spPr>
          <a:xfrm>
            <a:off x="3784600" y="3225800"/>
            <a:ext cx="1422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成本知识</a:t>
            </a:r>
            <a:endParaRPr lang="en-US" sz="1250"/>
          </a:p>
        </p:txBody>
      </p:sp>
      <p:sp>
        <p:nvSpPr>
          <p:cNvPr id="18" name="a4"/>
          <p:cNvSpPr/>
          <p:nvPr/>
        </p:nvSpPr>
        <p:spPr>
          <a:xfrm>
            <a:off x="5384800" y="3225800"/>
            <a:ext cx="1422400" cy="533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9" name="a4-t"/>
          <p:cNvSpPr txBox="1"/>
          <p:nvPr/>
        </p:nvSpPr>
        <p:spPr>
          <a:xfrm>
            <a:off x="5384800" y="3225800"/>
            <a:ext cx="1422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采购能力</a:t>
            </a:r>
            <a:endParaRPr lang="en-US" sz="1250"/>
          </a:p>
        </p:txBody>
      </p:sp>
      <p:sp>
        <p:nvSpPr>
          <p:cNvPr id="20" name="a5"/>
          <p:cNvSpPr/>
          <p:nvPr/>
        </p:nvSpPr>
        <p:spPr>
          <a:xfrm>
            <a:off x="6972300" y="3225800"/>
            <a:ext cx="1422400" cy="533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1" name="a5-t"/>
          <p:cNvSpPr txBox="1"/>
          <p:nvPr/>
        </p:nvSpPr>
        <p:spPr>
          <a:xfrm>
            <a:off x="6972300" y="3225800"/>
            <a:ext cx="1422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市场判断</a:t>
            </a:r>
            <a:endParaRPr lang="en-US" sz="1250"/>
          </a:p>
        </p:txBody>
      </p:sp>
      <p:sp>
        <p:nvSpPr>
          <p:cNvPr id="22" name="a6"/>
          <p:cNvSpPr/>
          <p:nvPr/>
        </p:nvSpPr>
        <p:spPr>
          <a:xfrm>
            <a:off x="8559800" y="3225800"/>
            <a:ext cx="1422400" cy="533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3" name="a6-t"/>
          <p:cNvSpPr txBox="1"/>
          <p:nvPr/>
        </p:nvSpPr>
        <p:spPr>
          <a:xfrm>
            <a:off x="8559800" y="3225800"/>
            <a:ext cx="1422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140B0A"/>
                </a:solidFill>
                <a:latin typeface="MiSans"/>
                <a:ea typeface="MiSans"/>
              </a:rPr>
              <a:t>客户经营能力</a:t>
            </a:r>
            <a:endParaRPr lang="en-US" sz="1200"/>
          </a:p>
        </p:txBody>
      </p:sp>
      <p:sp>
        <p:nvSpPr>
          <p:cNvPr id="24" name="a7"/>
          <p:cNvSpPr/>
          <p:nvPr/>
        </p:nvSpPr>
        <p:spPr>
          <a:xfrm>
            <a:off x="10160000" y="3225800"/>
            <a:ext cx="1422400" cy="533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25" name="a7-t"/>
          <p:cNvSpPr txBox="1"/>
          <p:nvPr/>
        </p:nvSpPr>
        <p:spPr>
          <a:xfrm>
            <a:off x="10160000" y="3225800"/>
            <a:ext cx="1422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140B0A"/>
                </a:solidFill>
                <a:latin typeface="MiSans"/>
                <a:ea typeface="MiSans"/>
              </a:rPr>
              <a:t>资源整合能力</a:t>
            </a:r>
            <a:endParaRPr lang="en-US" sz="1200"/>
          </a:p>
        </p:txBody>
      </p:sp>
      <p:sp>
        <p:nvSpPr>
          <p:cNvPr id="26" name="goal"/>
          <p:cNvSpPr txBox="1"/>
          <p:nvPr/>
        </p:nvSpPr>
        <p:spPr>
          <a:xfrm>
            <a:off x="609600" y="45720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140B0A"/>
                </a:solidFill>
                <a:latin typeface="MiSans"/>
                <a:ea typeface="MiSans"/>
              </a:rPr>
              <a:t>最终目标：让客户在遇到供应链问题时，</a:t>
            </a:r>
            <a:r>
              <a:rPr lang="en-US" sz="2100" b="1">
                <a:solidFill>
                  <a:srgbClr val="FF4D4D"/>
                </a:solidFill>
                <a:latin typeface="MiSans"/>
                <a:ea typeface="MiSans"/>
              </a:rPr>
              <a:t>第一个想到你</a:t>
            </a:r>
            <a:r>
              <a:rPr lang="en-US" sz="2100" b="1">
                <a:solidFill>
                  <a:srgbClr val="140B0A"/>
                </a:solidFill>
                <a:latin typeface="MiSans"/>
                <a:ea typeface="MiSans"/>
              </a:rPr>
              <a:t>。</a:t>
            </a:r>
            <a:endParaRPr lang="en-US" sz="2100"/>
          </a:p>
        </p:txBody>
      </p:sp>
      <p:sp>
        <p:nvSpPr>
          <p:cNvPr id="27" name="note"/>
          <p:cNvSpPr txBox="1"/>
          <p:nvPr/>
        </p:nvSpPr>
        <p:spPr>
          <a:xfrm>
            <a:off x="609600" y="51562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E6666"/>
                </a:solidFill>
                <a:latin typeface="MiSans"/>
                <a:ea typeface="MiSans"/>
              </a:rPr>
              <a:t>身份决定价值——顾问型销售，才能拿到客户供应链的入场券。</a:t>
            </a:r>
            <a:endParaRPr lang="en-US" sz="1100"/>
          </a:p>
        </p:txBody>
      </p:sp>
      <p:sp>
        <p:nvSpPr>
          <p:cNvPr id="28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9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23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05 · 客户经营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哪些客户值得深度切入？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深度经营是稀缺资源，只投给值得的客户</a:t>
            </a:r>
            <a:endParaRPr lang="en-US" sz="1250"/>
          </a:p>
        </p:txBody>
      </p:sp>
      <p:sp>
        <p:nvSpPr>
          <p:cNvPr id="7" name="pl"/>
          <p:cNvSpPr/>
          <p:nvPr/>
        </p:nvSpPr>
        <p:spPr>
          <a:xfrm>
            <a:off x="609600" y="1778000"/>
            <a:ext cx="5207000" cy="40894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8" name="pl-cap"/>
          <p:cNvSpPr/>
          <p:nvPr/>
        </p:nvSpPr>
        <p:spPr>
          <a:xfrm>
            <a:off x="914400" y="2057400"/>
            <a:ext cx="1778000" cy="330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9" name="pl-cap-t"/>
          <p:cNvSpPr txBox="1"/>
          <p:nvPr/>
        </p:nvSpPr>
        <p:spPr>
          <a:xfrm>
            <a:off x="914400" y="2057400"/>
            <a:ext cx="177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值得深度经营的客户</a:t>
            </a:r>
            <a:endParaRPr lang="en-US" sz="1100"/>
          </a:p>
        </p:txBody>
      </p:sp>
      <p:sp>
        <p:nvSpPr>
          <p:cNvPr id="10" name="pl1"/>
          <p:cNvSpPr txBox="1"/>
          <p:nvPr/>
        </p:nvSpPr>
        <p:spPr>
          <a:xfrm>
            <a:off x="914400" y="2616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· 有稳定业务</a:t>
            </a:r>
            <a:endParaRPr lang="en-US" sz="1250"/>
          </a:p>
        </p:txBody>
      </p:sp>
      <p:sp>
        <p:nvSpPr>
          <p:cNvPr id="11" name="pl2"/>
          <p:cNvSpPr txBox="1"/>
          <p:nvPr/>
        </p:nvSpPr>
        <p:spPr>
          <a:xfrm>
            <a:off x="914400" y="3022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· 有持续产品需求</a:t>
            </a:r>
            <a:endParaRPr lang="en-US" sz="1250"/>
          </a:p>
        </p:txBody>
      </p:sp>
      <p:sp>
        <p:nvSpPr>
          <p:cNvPr id="12" name="pl3"/>
          <p:cNvSpPr txBox="1"/>
          <p:nvPr/>
        </p:nvSpPr>
        <p:spPr>
          <a:xfrm>
            <a:off x="914400" y="3429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· 有较好的信用</a:t>
            </a:r>
            <a:endParaRPr lang="en-US" sz="1250"/>
          </a:p>
        </p:txBody>
      </p:sp>
      <p:sp>
        <p:nvSpPr>
          <p:cNvPr id="13" name="pl4"/>
          <p:cNvSpPr txBox="1"/>
          <p:nvPr/>
        </p:nvSpPr>
        <p:spPr>
          <a:xfrm>
            <a:off x="914400" y="38354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· 有较高毛利产品</a:t>
            </a:r>
            <a:endParaRPr lang="en-US" sz="1250"/>
          </a:p>
        </p:txBody>
      </p:sp>
      <p:sp>
        <p:nvSpPr>
          <p:cNvPr id="14" name="pl5"/>
          <p:cNvSpPr txBox="1"/>
          <p:nvPr/>
        </p:nvSpPr>
        <p:spPr>
          <a:xfrm>
            <a:off x="914400" y="4241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· 有清晰增长方向</a:t>
            </a:r>
            <a:endParaRPr lang="en-US" sz="1250"/>
          </a:p>
        </p:txBody>
      </p:sp>
      <p:sp>
        <p:nvSpPr>
          <p:cNvPr id="15" name="pl6"/>
          <p:cNvSpPr txBox="1"/>
          <p:nvPr/>
        </p:nvSpPr>
        <p:spPr>
          <a:xfrm>
            <a:off x="914400" y="464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· 愿意建立长期合作</a:t>
            </a:r>
            <a:endParaRPr lang="en-US" sz="1250"/>
          </a:p>
        </p:txBody>
      </p:sp>
      <p:sp>
        <p:nvSpPr>
          <p:cNvPr id="16" name="pl7"/>
          <p:cNvSpPr txBox="1"/>
          <p:nvPr/>
        </p:nvSpPr>
        <p:spPr>
          <a:xfrm>
            <a:off x="914400" y="5054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· 有多品类采购空间</a:t>
            </a:r>
            <a:endParaRPr lang="en-US" sz="1250"/>
          </a:p>
        </p:txBody>
      </p:sp>
      <p:sp>
        <p:nvSpPr>
          <p:cNvPr id="17" name="pl8"/>
          <p:cNvSpPr txBox="1"/>
          <p:nvPr/>
        </p:nvSpPr>
        <p:spPr>
          <a:xfrm>
            <a:off x="914400" y="5461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· 能够认可专业价值</a:t>
            </a:r>
            <a:endParaRPr lang="en-US" sz="1250"/>
          </a:p>
        </p:txBody>
      </p:sp>
      <p:sp>
        <p:nvSpPr>
          <p:cNvPr id="18" name="pr"/>
          <p:cNvSpPr/>
          <p:nvPr/>
        </p:nvSpPr>
        <p:spPr>
          <a:xfrm>
            <a:off x="6375400" y="1778000"/>
            <a:ext cx="5207000" cy="4089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9" name="pr-cap"/>
          <p:cNvSpPr/>
          <p:nvPr/>
        </p:nvSpPr>
        <p:spPr>
          <a:xfrm>
            <a:off x="6680200" y="2057400"/>
            <a:ext cx="1778000" cy="330200"/>
          </a:xfrm>
          <a:prstGeom prst="rect">
            <a:avLst/>
          </a:prstGeom>
          <a:solidFill>
            <a:srgbClr val="D9D6D6"/>
          </a:solidFill>
          <a:ln>
            <a:noFill/>
          </a:ln>
        </p:spPr>
      </p:sp>
      <p:sp>
        <p:nvSpPr>
          <p:cNvPr id="20" name="pr-cap-t"/>
          <p:cNvSpPr txBox="1"/>
          <p:nvPr/>
        </p:nvSpPr>
        <p:spPr>
          <a:xfrm>
            <a:off x="6680200" y="2057400"/>
            <a:ext cx="177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140B0A"/>
                </a:solidFill>
                <a:latin typeface="MiSans"/>
                <a:ea typeface="MiSans"/>
              </a:rPr>
              <a:t>不值得深度经营的客户</a:t>
            </a:r>
            <a:endParaRPr lang="en-US" sz="1100"/>
          </a:p>
        </p:txBody>
      </p:sp>
      <p:sp>
        <p:nvSpPr>
          <p:cNvPr id="21" name="pr1"/>
          <p:cNvSpPr txBox="1"/>
          <p:nvPr/>
        </p:nvSpPr>
        <p:spPr>
          <a:xfrm>
            <a:off x="6680200" y="2616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· 只比较最低价</a:t>
            </a:r>
            <a:endParaRPr lang="en-US" sz="1250"/>
          </a:p>
        </p:txBody>
      </p:sp>
      <p:sp>
        <p:nvSpPr>
          <p:cNvPr id="22" name="pr2"/>
          <p:cNvSpPr txBox="1"/>
          <p:nvPr/>
        </p:nvSpPr>
        <p:spPr>
          <a:xfrm>
            <a:off x="6680200" y="3022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· 长期拖欠货款</a:t>
            </a:r>
            <a:endParaRPr lang="en-US" sz="1250"/>
          </a:p>
        </p:txBody>
      </p:sp>
      <p:sp>
        <p:nvSpPr>
          <p:cNvPr id="23" name="pr3"/>
          <p:cNvSpPr txBox="1"/>
          <p:nvPr/>
        </p:nvSpPr>
        <p:spPr>
          <a:xfrm>
            <a:off x="6680200" y="3429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· 售后风险极高</a:t>
            </a:r>
            <a:endParaRPr lang="en-US" sz="1250"/>
          </a:p>
        </p:txBody>
      </p:sp>
      <p:sp>
        <p:nvSpPr>
          <p:cNvPr id="24" name="pr4"/>
          <p:cNvSpPr txBox="1"/>
          <p:nvPr/>
        </p:nvSpPr>
        <p:spPr>
          <a:xfrm>
            <a:off x="6680200" y="38354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· 没有稳定业务</a:t>
            </a:r>
            <a:endParaRPr lang="en-US" sz="1250"/>
          </a:p>
        </p:txBody>
      </p:sp>
      <p:sp>
        <p:nvSpPr>
          <p:cNvPr id="25" name="pr5"/>
          <p:cNvSpPr txBox="1"/>
          <p:nvPr/>
        </p:nvSpPr>
        <p:spPr>
          <a:xfrm>
            <a:off x="6680200" y="4241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· 不断索取免费服务</a:t>
            </a:r>
            <a:endParaRPr lang="en-US" sz="1250"/>
          </a:p>
        </p:txBody>
      </p:sp>
      <p:sp>
        <p:nvSpPr>
          <p:cNvPr id="26" name="pr6"/>
          <p:cNvSpPr txBox="1"/>
          <p:nvPr/>
        </p:nvSpPr>
        <p:spPr>
          <a:xfrm>
            <a:off x="6680200" y="464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· 没有其他合作空间</a:t>
            </a:r>
            <a:endParaRPr lang="en-US" sz="1250"/>
          </a:p>
        </p:txBody>
      </p:sp>
      <p:sp>
        <p:nvSpPr>
          <p:cNvPr id="27" name="note"/>
          <p:cNvSpPr txBox="1"/>
          <p:nvPr/>
        </p:nvSpPr>
        <p:spPr>
          <a:xfrm>
            <a:off x="609600" y="61722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E6666"/>
                </a:solidFill>
                <a:latin typeface="MiSans"/>
                <a:ea typeface="MiSans"/>
              </a:rPr>
              <a:t>把有限的时间，投给能共同成长的客户。</a:t>
            </a:r>
            <a:endParaRPr lang="en-US" sz="1100"/>
          </a:p>
        </p:txBody>
      </p:sp>
      <p:sp>
        <p:nvSpPr>
          <p:cNvPr id="28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9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24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05 · 客户经营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低毛利订单，什么时候可以接？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低毛利不是原罪，没有战略价值才是</a:t>
            </a:r>
            <a:endParaRPr lang="en-US" sz="1250"/>
          </a:p>
        </p:txBody>
      </p:sp>
      <p:sp>
        <p:nvSpPr>
          <p:cNvPr id="7" name="pl"/>
          <p:cNvSpPr/>
          <p:nvPr/>
        </p:nvSpPr>
        <p:spPr>
          <a:xfrm>
            <a:off x="609600" y="1778000"/>
            <a:ext cx="5207000" cy="40894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8" name="pl-cap"/>
          <p:cNvSpPr/>
          <p:nvPr/>
        </p:nvSpPr>
        <p:spPr>
          <a:xfrm>
            <a:off x="914400" y="2057400"/>
            <a:ext cx="2413000" cy="330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9" name="pl-cap-t"/>
          <p:cNvSpPr txBox="1"/>
          <p:nvPr/>
        </p:nvSpPr>
        <p:spPr>
          <a:xfrm>
            <a:off x="914400" y="20574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可以接：满足至少一个条件</a:t>
            </a:r>
            <a:endParaRPr lang="en-US" sz="1100"/>
          </a:p>
        </p:txBody>
      </p:sp>
      <p:sp>
        <p:nvSpPr>
          <p:cNvPr id="10" name="pl1"/>
          <p:cNvSpPr txBox="1"/>
          <p:nvPr/>
        </p:nvSpPr>
        <p:spPr>
          <a:xfrm>
            <a:off x="914400" y="2616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· 客户整体价值高</a:t>
            </a:r>
            <a:endParaRPr lang="en-US" sz="1250"/>
          </a:p>
        </p:txBody>
      </p:sp>
      <p:sp>
        <p:nvSpPr>
          <p:cNvPr id="11" name="pl2"/>
          <p:cNvSpPr txBox="1"/>
          <p:nvPr/>
        </p:nvSpPr>
        <p:spPr>
          <a:xfrm>
            <a:off x="914400" y="3022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· 可以带动高毛利产品</a:t>
            </a:r>
            <a:endParaRPr lang="en-US" sz="1250"/>
          </a:p>
        </p:txBody>
      </p:sp>
      <p:sp>
        <p:nvSpPr>
          <p:cNvPr id="12" name="pl3"/>
          <p:cNvSpPr txBox="1"/>
          <p:nvPr/>
        </p:nvSpPr>
        <p:spPr>
          <a:xfrm>
            <a:off x="914400" y="3429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· 可以进入客户核心供应链</a:t>
            </a:r>
            <a:endParaRPr lang="en-US" sz="1250"/>
          </a:p>
        </p:txBody>
      </p:sp>
      <p:sp>
        <p:nvSpPr>
          <p:cNvPr id="13" name="pl4"/>
          <p:cNvSpPr txBox="1"/>
          <p:nvPr/>
        </p:nvSpPr>
        <p:spPr>
          <a:xfrm>
            <a:off x="914400" y="38354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· 可以建立长期合作关系</a:t>
            </a:r>
            <a:endParaRPr lang="en-US" sz="1250"/>
          </a:p>
        </p:txBody>
      </p:sp>
      <p:sp>
        <p:nvSpPr>
          <p:cNvPr id="14" name="pl5"/>
          <p:cNvSpPr txBox="1"/>
          <p:nvPr/>
        </p:nvSpPr>
        <p:spPr>
          <a:xfrm>
            <a:off x="914400" y="4241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· 可以形成规模效应</a:t>
            </a:r>
            <a:endParaRPr lang="en-US" sz="1250"/>
          </a:p>
        </p:txBody>
      </p:sp>
      <p:sp>
        <p:nvSpPr>
          <p:cNvPr id="15" name="pl6"/>
          <p:cNvSpPr txBox="1"/>
          <p:nvPr/>
        </p:nvSpPr>
        <p:spPr>
          <a:xfrm>
            <a:off x="914400" y="464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· 可以打开新的产品线</a:t>
            </a:r>
            <a:endParaRPr lang="en-US" sz="1250"/>
          </a:p>
        </p:txBody>
      </p:sp>
      <p:sp>
        <p:nvSpPr>
          <p:cNvPr id="16" name="pl7"/>
          <p:cNvSpPr txBox="1"/>
          <p:nvPr/>
        </p:nvSpPr>
        <p:spPr>
          <a:xfrm>
            <a:off x="914400" y="5054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· 可以积累重要行业能力</a:t>
            </a:r>
            <a:endParaRPr lang="en-US" sz="1250"/>
          </a:p>
        </p:txBody>
      </p:sp>
      <p:sp>
        <p:nvSpPr>
          <p:cNvPr id="17" name="pr"/>
          <p:cNvSpPr/>
          <p:nvPr/>
        </p:nvSpPr>
        <p:spPr>
          <a:xfrm>
            <a:off x="6375400" y="1778000"/>
            <a:ext cx="5207000" cy="40894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8" name="pr-cap"/>
          <p:cNvSpPr/>
          <p:nvPr/>
        </p:nvSpPr>
        <p:spPr>
          <a:xfrm>
            <a:off x="6680200" y="2057400"/>
            <a:ext cx="1651000" cy="330200"/>
          </a:xfrm>
          <a:prstGeom prst="rect">
            <a:avLst/>
          </a:prstGeom>
          <a:solidFill>
            <a:srgbClr val="D9D6D6"/>
          </a:solidFill>
          <a:ln>
            <a:noFill/>
          </a:ln>
        </p:spPr>
      </p:sp>
      <p:sp>
        <p:nvSpPr>
          <p:cNvPr id="19" name="pr-cap-t"/>
          <p:cNvSpPr txBox="1"/>
          <p:nvPr/>
        </p:nvSpPr>
        <p:spPr>
          <a:xfrm>
            <a:off x="6680200" y="20574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140B0A"/>
                </a:solidFill>
                <a:latin typeface="MiSans"/>
                <a:ea typeface="MiSans"/>
              </a:rPr>
              <a:t>不能接的情况</a:t>
            </a:r>
            <a:endParaRPr lang="en-US" sz="1100"/>
          </a:p>
        </p:txBody>
      </p:sp>
      <p:sp>
        <p:nvSpPr>
          <p:cNvPr id="20" name="pr1"/>
          <p:cNvSpPr txBox="1"/>
          <p:nvPr/>
        </p:nvSpPr>
        <p:spPr>
          <a:xfrm>
            <a:off x="6680200" y="2616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· 客户只想薅低价</a:t>
            </a:r>
            <a:endParaRPr lang="en-US" sz="1250"/>
          </a:p>
        </p:txBody>
      </p:sp>
      <p:sp>
        <p:nvSpPr>
          <p:cNvPr id="21" name="pr2"/>
          <p:cNvSpPr txBox="1"/>
          <p:nvPr/>
        </p:nvSpPr>
        <p:spPr>
          <a:xfrm>
            <a:off x="6680200" y="3022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· 没有后续产品空间</a:t>
            </a:r>
            <a:endParaRPr lang="en-US" sz="1250"/>
          </a:p>
        </p:txBody>
      </p:sp>
      <p:sp>
        <p:nvSpPr>
          <p:cNvPr id="22" name="pr3"/>
          <p:cNvSpPr txBox="1"/>
          <p:nvPr/>
        </p:nvSpPr>
        <p:spPr>
          <a:xfrm>
            <a:off x="6680200" y="3429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· 回款风险高</a:t>
            </a:r>
            <a:endParaRPr lang="en-US" sz="1250"/>
          </a:p>
        </p:txBody>
      </p:sp>
      <p:sp>
        <p:nvSpPr>
          <p:cNvPr id="23" name="pr4"/>
          <p:cNvSpPr txBox="1"/>
          <p:nvPr/>
        </p:nvSpPr>
        <p:spPr>
          <a:xfrm>
            <a:off x="6680200" y="38354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· 服务成本高</a:t>
            </a:r>
            <a:endParaRPr lang="en-US" sz="1250"/>
          </a:p>
        </p:txBody>
      </p:sp>
      <p:sp>
        <p:nvSpPr>
          <p:cNvPr id="24" name="pr5"/>
          <p:cNvSpPr txBox="1"/>
          <p:nvPr/>
        </p:nvSpPr>
        <p:spPr>
          <a:xfrm>
            <a:off x="6680200" y="4241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· 售后风险高</a:t>
            </a:r>
            <a:endParaRPr lang="en-US" sz="1250"/>
          </a:p>
        </p:txBody>
      </p:sp>
      <p:sp>
        <p:nvSpPr>
          <p:cNvPr id="25" name="pr6"/>
          <p:cNvSpPr txBox="1"/>
          <p:nvPr/>
        </p:nvSpPr>
        <p:spPr>
          <a:xfrm>
            <a:off x="6680200" y="464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· 没有战略价值</a:t>
            </a:r>
            <a:endParaRPr lang="en-US" sz="1250"/>
          </a:p>
        </p:txBody>
      </p:sp>
      <p:sp>
        <p:nvSpPr>
          <p:cNvPr id="26" name="note"/>
          <p:cNvSpPr txBox="1"/>
          <p:nvPr/>
        </p:nvSpPr>
        <p:spPr>
          <a:xfrm>
            <a:off x="609600" y="61722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E6666"/>
                </a:solidFill>
                <a:latin typeface="MiSans"/>
                <a:ea typeface="MiSans"/>
              </a:rPr>
              <a:t>判断标准在订单之外——客户价值与战略价值。</a:t>
            </a:r>
            <a:endParaRPr lang="en-US" sz="1100"/>
          </a:p>
        </p:txBody>
      </p:sp>
      <p:sp>
        <p:nvSpPr>
          <p:cNvPr id="27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8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25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05 · 客户经营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订单价值评估模型：不只看毛利率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一个订单值不值得做，要同时评估五个维度</a:t>
            </a:r>
            <a:endParaRPr lang="en-US" sz="1250"/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609600" y="1778000"/>
          <a:ext cx="10972800" cy="3632200"/>
        </p:xfrm>
        <a:graphic>
          <a:graphicData uri="http://schemas.openxmlformats.org/drawingml/2006/table">
            <a:tbl>
              <a:tblPr/>
              <a:tblGrid>
                <a:gridCol w="1645920"/>
                <a:gridCol w="4169664"/>
                <a:gridCol w="5157216"/>
              </a:tblGrid>
              <a:tr h="47218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评估维度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评估内容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关键问题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solidFill>
                      <a:srgbClr val="F4F3F3"/>
                    </a:solidFill>
                  </a:tcPr>
                </a:tc>
              </a:tr>
              <a:tr h="63200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直接价值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2F2929"/>
                          </a:solidFill>
                          <a:latin typeface="Times New Roman"/>
                          <a:ea typeface="Times New Roman"/>
                        </a:rPr>
                        <a:t>销售额、毛利、现金流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2F2929"/>
                          </a:solidFill>
                          <a:latin typeface="Times New Roman"/>
                          <a:ea typeface="Times New Roman"/>
                        </a:rPr>
                        <a:t>这一单本身赚钱吗？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</a:tr>
              <a:tr h="63200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客户价值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2F2929"/>
                          </a:solidFill>
                          <a:latin typeface="Times New Roman"/>
                          <a:ea typeface="Times New Roman"/>
                        </a:rPr>
                        <a:t>规模、信用、发展空间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2F2929"/>
                          </a:solidFill>
                          <a:latin typeface="Times New Roman"/>
                          <a:ea typeface="Times New Roman"/>
                        </a:rPr>
                        <a:t>这个客户值得长期投入吗？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</a:tr>
              <a:tr h="63200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延伸价值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2F2929"/>
                          </a:solidFill>
                          <a:latin typeface="Times New Roman"/>
                          <a:ea typeface="Times New Roman"/>
                        </a:rPr>
                        <a:t>其他产品、其他部门、其他项目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2F2929"/>
                          </a:solidFill>
                          <a:latin typeface="Times New Roman"/>
                          <a:ea typeface="Times New Roman"/>
                        </a:rPr>
                        <a:t>它能带来更多合作吗？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</a:tr>
              <a:tr h="63200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能力价值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2F2929"/>
                          </a:solidFill>
                          <a:latin typeface="Times New Roman"/>
                          <a:ea typeface="Times New Roman"/>
                        </a:rPr>
                        <a:t>是否帮助公司建立新的供应链能力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2F2929"/>
                          </a:solidFill>
                          <a:latin typeface="Times New Roman"/>
                          <a:ea typeface="Times New Roman"/>
                        </a:rPr>
                        <a:t>做完这一单，我们会更强吗？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</a:tr>
              <a:tr h="63200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风险成本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2F2929"/>
                          </a:solidFill>
                          <a:latin typeface="Times New Roman"/>
                          <a:ea typeface="Times New Roman"/>
                        </a:rPr>
                        <a:t>坏账、售后、交期、品控、沟通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2F2929"/>
                          </a:solidFill>
                          <a:latin typeface="Times New Roman"/>
                          <a:ea typeface="Times New Roman"/>
                        </a:rPr>
                        <a:t>看不见的隐性成本有多高？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strip"/>
          <p:cNvSpPr/>
          <p:nvPr/>
        </p:nvSpPr>
        <p:spPr>
          <a:xfrm>
            <a:off x="609600" y="5715000"/>
            <a:ext cx="10972800" cy="6604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9" name="strip-bar"/>
          <p:cNvSpPr/>
          <p:nvPr/>
        </p:nvSpPr>
        <p:spPr>
          <a:xfrm>
            <a:off x="609600" y="5715000"/>
            <a:ext cx="50800" cy="6604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0" name="strip-t"/>
          <p:cNvSpPr txBox="1"/>
          <p:nvPr/>
        </p:nvSpPr>
        <p:spPr>
          <a:xfrm>
            <a:off x="965200" y="5715000"/>
            <a:ext cx="1041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最终判断：这个订单，是否有利于我们和客户的</a:t>
            </a:r>
            <a:r>
              <a:rPr lang="en-US" sz="1500" b="1">
                <a:solidFill>
                  <a:srgbClr val="FF4D4D"/>
                </a:solidFill>
                <a:latin typeface="MiSans"/>
                <a:ea typeface="MiSans"/>
              </a:rPr>
              <a:t>长期经营</a:t>
            </a:r>
            <a:r>
              <a:rPr lang="en-US" sz="1500" b="1">
                <a:solidFill>
                  <a:srgbClr val="140B0A"/>
                </a:solidFill>
                <a:latin typeface="MiSans"/>
                <a:ea typeface="MiSans"/>
              </a:rPr>
              <a:t>？</a:t>
            </a:r>
            <a:endParaRPr lang="en-US" sz="1500"/>
          </a:p>
        </p:txBody>
      </p:sp>
      <p:sp>
        <p:nvSpPr>
          <p:cNvPr id="11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12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26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05 · 客户经营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从报价员，到供应链专家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两种身份，两种生存空间</a:t>
            </a:r>
            <a:endParaRPr lang="en-US" sz="1250"/>
          </a:p>
        </p:txBody>
      </p:sp>
      <p:sp>
        <p:nvSpPr>
          <p:cNvPr id="7" name="pl"/>
          <p:cNvSpPr/>
          <p:nvPr/>
        </p:nvSpPr>
        <p:spPr>
          <a:xfrm>
            <a:off x="609600" y="1778000"/>
            <a:ext cx="4064000" cy="36830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8" name="pl-cap"/>
          <p:cNvSpPr/>
          <p:nvPr/>
        </p:nvSpPr>
        <p:spPr>
          <a:xfrm>
            <a:off x="914400" y="2082800"/>
            <a:ext cx="1270000" cy="330200"/>
          </a:xfrm>
          <a:prstGeom prst="rect">
            <a:avLst/>
          </a:prstGeom>
          <a:solidFill>
            <a:srgbClr val="D9D6D6"/>
          </a:solidFill>
          <a:ln>
            <a:noFill/>
          </a:ln>
        </p:spPr>
      </p:sp>
      <p:sp>
        <p:nvSpPr>
          <p:cNvPr id="9" name="pl-cap-t"/>
          <p:cNvSpPr txBox="1"/>
          <p:nvPr/>
        </p:nvSpPr>
        <p:spPr>
          <a:xfrm>
            <a:off x="914400" y="20828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140B0A"/>
                </a:solidFill>
                <a:latin typeface="MiSans"/>
                <a:ea typeface="MiSans"/>
              </a:rPr>
              <a:t>报价员</a:t>
            </a:r>
            <a:endParaRPr lang="en-US" sz="1100"/>
          </a:p>
        </p:txBody>
      </p:sp>
      <p:sp>
        <p:nvSpPr>
          <p:cNvPr id="10" name="pl-quote"/>
          <p:cNvSpPr txBox="1"/>
          <p:nvPr/>
        </p:nvSpPr>
        <p:spPr>
          <a:xfrm>
            <a:off x="914400" y="26416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700" b="1">
                <a:solidFill>
                  <a:srgbClr val="140B0A"/>
                </a:solidFill>
                <a:latin typeface="MiSans"/>
                <a:ea typeface="MiSans"/>
              </a:rPr>
              <a:t>客户问什么，</a:t>
            </a:r>
            <a:endParaRPr lang="en-US" sz="1700"/>
          </a:p>
          <a:p>
            <a:pPr>
              <a:lnSpc>
                <a:spcPct val="155000"/>
              </a:lnSpc>
            </a:pPr>
            <a:r>
              <a:rPr lang="en-US" sz="1700" b="1">
                <a:solidFill>
                  <a:srgbClr val="140B0A"/>
                </a:solidFill>
                <a:latin typeface="MiSans"/>
                <a:ea typeface="MiSans"/>
              </a:rPr>
              <a:t>就报价什么。</a:t>
            </a:r>
            <a:endParaRPr lang="en-US" sz="1700"/>
          </a:p>
        </p:txBody>
      </p:sp>
      <p:sp>
        <p:nvSpPr>
          <p:cNvPr id="11" name="pl-note"/>
          <p:cNvSpPr txBox="1"/>
          <p:nvPr/>
        </p:nvSpPr>
        <p:spPr>
          <a:xfrm>
            <a:off x="914400" y="36576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价值止步于传递价格，</a:t>
            </a:r>
            <a:endParaRPr lang="en-US" sz="1150"/>
          </a:p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可替代性最高。</a:t>
            </a:r>
            <a:endParaRPr lang="en-US" sz="1150"/>
          </a:p>
        </p:txBody>
      </p:sp>
      <p:sp>
        <p:nvSpPr>
          <p:cNvPr id="12" name="arrow"/>
          <p:cNvSpPr/>
          <p:nvPr/>
        </p:nvSpPr>
        <p:spPr>
          <a:xfrm>
            <a:off x="4876800" y="3429000"/>
            <a:ext cx="508000" cy="279400"/>
          </a:xfrm>
          <a:prstGeom prst="rightArrow">
            <a:avLst/>
          </a:prstGeom>
          <a:solidFill>
            <a:srgbClr val="C7C4C4"/>
          </a:solidFill>
          <a:ln>
            <a:noFill/>
          </a:ln>
        </p:spPr>
      </p:sp>
      <p:sp>
        <p:nvSpPr>
          <p:cNvPr id="13" name="pr"/>
          <p:cNvSpPr/>
          <p:nvPr/>
        </p:nvSpPr>
        <p:spPr>
          <a:xfrm>
            <a:off x="5588000" y="1778000"/>
            <a:ext cx="5994400" cy="368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7E7"/>
            </a:solidFill>
          </a:ln>
        </p:spPr>
      </p:sp>
      <p:sp>
        <p:nvSpPr>
          <p:cNvPr id="14" name="pr-cap"/>
          <p:cNvSpPr/>
          <p:nvPr/>
        </p:nvSpPr>
        <p:spPr>
          <a:xfrm>
            <a:off x="5892800" y="2082800"/>
            <a:ext cx="1524000" cy="330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15" name="pr-cap-t"/>
          <p:cNvSpPr txBox="1"/>
          <p:nvPr/>
        </p:nvSpPr>
        <p:spPr>
          <a:xfrm>
            <a:off x="5892800" y="208280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供应链专家</a:t>
            </a:r>
            <a:endParaRPr lang="en-US" sz="1100"/>
          </a:p>
        </p:txBody>
      </p:sp>
      <p:sp>
        <p:nvSpPr>
          <p:cNvPr id="16" name="e1-sq"/>
          <p:cNvSpPr/>
          <p:nvPr/>
        </p:nvSpPr>
        <p:spPr>
          <a:xfrm>
            <a:off x="5892800" y="27813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17" name="e1"/>
          <p:cNvSpPr txBox="1"/>
          <p:nvPr/>
        </p:nvSpPr>
        <p:spPr>
          <a:xfrm>
            <a:off x="6096000" y="26924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帮客户分析需求</a:t>
            </a:r>
            <a:endParaRPr lang="en-US" sz="1250"/>
          </a:p>
        </p:txBody>
      </p:sp>
      <p:sp>
        <p:nvSpPr>
          <p:cNvPr id="18" name="e2-sq"/>
          <p:cNvSpPr/>
          <p:nvPr/>
        </p:nvSpPr>
        <p:spPr>
          <a:xfrm>
            <a:off x="8890000" y="27813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19" name="e2"/>
          <p:cNvSpPr txBox="1"/>
          <p:nvPr/>
        </p:nvSpPr>
        <p:spPr>
          <a:xfrm>
            <a:off x="9093200" y="26924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帮客户拆解成本</a:t>
            </a:r>
            <a:endParaRPr lang="en-US" sz="1250"/>
          </a:p>
        </p:txBody>
      </p:sp>
      <p:sp>
        <p:nvSpPr>
          <p:cNvPr id="20" name="e3-sq"/>
          <p:cNvSpPr/>
          <p:nvPr/>
        </p:nvSpPr>
        <p:spPr>
          <a:xfrm>
            <a:off x="5892800" y="33909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1" name="e3"/>
          <p:cNvSpPr txBox="1"/>
          <p:nvPr/>
        </p:nvSpPr>
        <p:spPr>
          <a:xfrm>
            <a:off x="6096000" y="33020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帮客户优化产品</a:t>
            </a:r>
            <a:endParaRPr lang="en-US" sz="1250"/>
          </a:p>
        </p:txBody>
      </p:sp>
      <p:sp>
        <p:nvSpPr>
          <p:cNvPr id="22" name="e4-sq"/>
          <p:cNvSpPr/>
          <p:nvPr/>
        </p:nvSpPr>
        <p:spPr>
          <a:xfrm>
            <a:off x="8890000" y="33909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3" name="e4"/>
          <p:cNvSpPr txBox="1"/>
          <p:nvPr/>
        </p:nvSpPr>
        <p:spPr>
          <a:xfrm>
            <a:off x="9093200" y="33020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帮客户整合供应商</a:t>
            </a:r>
            <a:endParaRPr lang="en-US" sz="1250"/>
          </a:p>
        </p:txBody>
      </p:sp>
      <p:sp>
        <p:nvSpPr>
          <p:cNvPr id="24" name="e5-sq"/>
          <p:cNvSpPr/>
          <p:nvPr/>
        </p:nvSpPr>
        <p:spPr>
          <a:xfrm>
            <a:off x="5892800" y="40005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5" name="e5"/>
          <p:cNvSpPr txBox="1"/>
          <p:nvPr/>
        </p:nvSpPr>
        <p:spPr>
          <a:xfrm>
            <a:off x="6096000" y="39116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帮客户降低经营风险</a:t>
            </a:r>
            <a:endParaRPr lang="en-US" sz="1250"/>
          </a:p>
        </p:txBody>
      </p:sp>
      <p:sp>
        <p:nvSpPr>
          <p:cNvPr id="26" name="e6-sq"/>
          <p:cNvSpPr/>
          <p:nvPr/>
        </p:nvSpPr>
        <p:spPr>
          <a:xfrm>
            <a:off x="8890000" y="4000500"/>
            <a:ext cx="76200" cy="76200"/>
          </a:xfrm>
          <a:prstGeom prst="rect">
            <a:avLst/>
          </a:prstGeom>
          <a:solidFill>
            <a:srgbClr val="140B0A"/>
          </a:solidFill>
          <a:ln>
            <a:noFill/>
          </a:ln>
        </p:spPr>
      </p:sp>
      <p:sp>
        <p:nvSpPr>
          <p:cNvPr id="27" name="e6"/>
          <p:cNvSpPr txBox="1"/>
          <p:nvPr/>
        </p:nvSpPr>
        <p:spPr>
          <a:xfrm>
            <a:off x="9093200" y="39116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2F2929"/>
                </a:solidFill>
                <a:latin typeface="MiSans"/>
                <a:ea typeface="MiSans"/>
              </a:rPr>
              <a:t>帮客户提高产品竞争力</a:t>
            </a:r>
            <a:endParaRPr lang="en-US" sz="1250"/>
          </a:p>
        </p:txBody>
      </p:sp>
      <p:sp>
        <p:nvSpPr>
          <p:cNvPr id="28" name="concl"/>
          <p:cNvSpPr txBox="1"/>
          <p:nvPr/>
        </p:nvSpPr>
        <p:spPr>
          <a:xfrm>
            <a:off x="609600" y="57404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40B0A"/>
                </a:solidFill>
                <a:latin typeface="MiSans"/>
                <a:ea typeface="MiSans"/>
              </a:rPr>
              <a:t>未来，没有价值的转手报价，</a:t>
            </a:r>
            <a:r>
              <a:rPr lang="en-US" sz="1600" b="1">
                <a:solidFill>
                  <a:srgbClr val="FF4D4D"/>
                </a:solidFill>
                <a:latin typeface="MiSans"/>
                <a:ea typeface="MiSans"/>
              </a:rPr>
              <a:t>会越来越难生存</a:t>
            </a:r>
            <a:r>
              <a:rPr lang="en-US" sz="1600" b="1">
                <a:solidFill>
                  <a:srgbClr val="140B0A"/>
                </a:solidFill>
                <a:latin typeface="MiSans"/>
                <a:ea typeface="MiSans"/>
              </a:rPr>
              <a:t>。</a:t>
            </a:r>
            <a:endParaRPr lang="en-US" sz="1600"/>
          </a:p>
        </p:txBody>
      </p:sp>
      <p:sp>
        <p:nvSpPr>
          <p:cNvPr id="29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30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27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06 · 行动转化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供应链思维的三个升级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从价格执行者，到客户经营者</a:t>
            </a:r>
            <a:endParaRPr lang="en-US" sz="1250"/>
          </a:p>
        </p:txBody>
      </p:sp>
      <p:sp>
        <p:nvSpPr>
          <p:cNvPr id="7" name="c1"/>
          <p:cNvSpPr/>
          <p:nvPr/>
        </p:nvSpPr>
        <p:spPr>
          <a:xfrm>
            <a:off x="609600" y="1981200"/>
            <a:ext cx="3429000" cy="304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8" name="c1-n"/>
          <p:cNvSpPr txBox="1"/>
          <p:nvPr/>
        </p:nvSpPr>
        <p:spPr>
          <a:xfrm>
            <a:off x="914400" y="2286000"/>
            <a:ext cx="152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FFFFFF"/>
                </a:solidFill>
                <a:latin typeface="MiSans"/>
                <a:ea typeface="MiSans"/>
              </a:rPr>
              <a:t>01</a:t>
            </a:r>
            <a:endParaRPr lang="en-US" sz="2600"/>
          </a:p>
        </p:txBody>
      </p:sp>
      <p:sp>
        <p:nvSpPr>
          <p:cNvPr id="9" name="c1-from"/>
          <p:cNvSpPr txBox="1"/>
          <p:nvPr/>
        </p:nvSpPr>
        <p:spPr>
          <a:xfrm>
            <a:off x="914400" y="29464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FFD9D9"/>
                </a:solidFill>
                <a:latin typeface="MiSans"/>
                <a:ea typeface="MiSans"/>
              </a:rPr>
              <a:t>从　接受价格</a:t>
            </a:r>
            <a:endParaRPr lang="en-US" sz="1300"/>
          </a:p>
        </p:txBody>
      </p:sp>
      <p:sp>
        <p:nvSpPr>
          <p:cNvPr id="10" name="c1-to"/>
          <p:cNvSpPr txBox="1"/>
          <p:nvPr/>
        </p:nvSpPr>
        <p:spPr>
          <a:xfrm>
            <a:off x="914400" y="3302000"/>
            <a:ext cx="2819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FFFFFF"/>
                </a:solidFill>
                <a:latin typeface="MiSans"/>
                <a:ea typeface="MiSans"/>
              </a:rPr>
              <a:t>到　拆解价格</a:t>
            </a:r>
            <a:endParaRPr lang="en-US" sz="2000"/>
          </a:p>
        </p:txBody>
      </p:sp>
      <p:sp>
        <p:nvSpPr>
          <p:cNvPr id="11" name="c1-desc"/>
          <p:cNvSpPr txBox="1"/>
          <p:nvPr/>
        </p:nvSpPr>
        <p:spPr>
          <a:xfrm>
            <a:off x="914400" y="3962400"/>
            <a:ext cx="2819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>
                <a:solidFill>
                  <a:srgbClr val="FFE9E9"/>
                </a:solidFill>
                <a:latin typeface="MiSans"/>
                <a:ea typeface="MiSans"/>
              </a:rPr>
              <a:t>打开成本黑箱，</a:t>
            </a:r>
            <a:endParaRPr lang="en-US" sz="1150"/>
          </a:p>
          <a:p>
            <a:pPr>
              <a:lnSpc>
                <a:spcPct val="160000"/>
              </a:lnSpc>
            </a:pPr>
            <a:r>
              <a:rPr lang="en-US" sz="1150">
                <a:solidFill>
                  <a:srgbClr val="FFE9E9"/>
                </a:solidFill>
                <a:latin typeface="MiSans"/>
                <a:ea typeface="MiSans"/>
              </a:rPr>
              <a:t>看懂价格的由来。</a:t>
            </a:r>
            <a:endParaRPr lang="en-US" sz="1150"/>
          </a:p>
        </p:txBody>
      </p:sp>
      <p:sp>
        <p:nvSpPr>
          <p:cNvPr id="12" name="c2"/>
          <p:cNvSpPr/>
          <p:nvPr/>
        </p:nvSpPr>
        <p:spPr>
          <a:xfrm>
            <a:off x="4381500" y="1981200"/>
            <a:ext cx="3429000" cy="30480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3" name="c2-n"/>
          <p:cNvSpPr txBox="1"/>
          <p:nvPr/>
        </p:nvSpPr>
        <p:spPr>
          <a:xfrm>
            <a:off x="4686300" y="2286000"/>
            <a:ext cx="152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C7C4C4"/>
                </a:solidFill>
                <a:latin typeface="MiSans"/>
                <a:ea typeface="MiSans"/>
              </a:rPr>
              <a:t>02</a:t>
            </a:r>
            <a:endParaRPr lang="en-US" sz="2600"/>
          </a:p>
        </p:txBody>
      </p:sp>
      <p:sp>
        <p:nvSpPr>
          <p:cNvPr id="14" name="c2-from"/>
          <p:cNvSpPr txBox="1"/>
          <p:nvPr/>
        </p:nvSpPr>
        <p:spPr>
          <a:xfrm>
            <a:off x="4686300" y="29464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9B9595"/>
                </a:solidFill>
                <a:latin typeface="MiSans"/>
                <a:ea typeface="MiSans"/>
              </a:rPr>
              <a:t>从　经营单品</a:t>
            </a:r>
            <a:endParaRPr lang="en-US" sz="1300"/>
          </a:p>
        </p:txBody>
      </p:sp>
      <p:sp>
        <p:nvSpPr>
          <p:cNvPr id="15" name="c2-to"/>
          <p:cNvSpPr txBox="1"/>
          <p:nvPr/>
        </p:nvSpPr>
        <p:spPr>
          <a:xfrm>
            <a:off x="4686300" y="3302000"/>
            <a:ext cx="2819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140B0A"/>
                </a:solidFill>
                <a:latin typeface="MiSans"/>
                <a:ea typeface="MiSans"/>
              </a:rPr>
              <a:t>到　经营产品组合</a:t>
            </a:r>
            <a:endParaRPr lang="en-US" sz="2000"/>
          </a:p>
        </p:txBody>
      </p:sp>
      <p:sp>
        <p:nvSpPr>
          <p:cNvPr id="16" name="c2-desc"/>
          <p:cNvSpPr txBox="1"/>
          <p:nvPr/>
        </p:nvSpPr>
        <p:spPr>
          <a:xfrm>
            <a:off x="4686300" y="3962400"/>
            <a:ext cx="2819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算客户的总账，</a:t>
            </a:r>
            <a:endParaRPr lang="en-US" sz="1150"/>
          </a:p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而不是一件产品的账。</a:t>
            </a:r>
            <a:endParaRPr lang="en-US" sz="1150"/>
          </a:p>
        </p:txBody>
      </p:sp>
      <p:sp>
        <p:nvSpPr>
          <p:cNvPr id="17" name="c3"/>
          <p:cNvSpPr/>
          <p:nvPr/>
        </p:nvSpPr>
        <p:spPr>
          <a:xfrm>
            <a:off x="8153400" y="1981200"/>
            <a:ext cx="3429000" cy="30480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8" name="c3-n"/>
          <p:cNvSpPr txBox="1"/>
          <p:nvPr/>
        </p:nvSpPr>
        <p:spPr>
          <a:xfrm>
            <a:off x="8458200" y="2286000"/>
            <a:ext cx="152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C7C4C4"/>
                </a:solidFill>
                <a:latin typeface="MiSans"/>
                <a:ea typeface="MiSans"/>
              </a:rPr>
              <a:t>03</a:t>
            </a:r>
            <a:endParaRPr lang="en-US" sz="2600"/>
          </a:p>
        </p:txBody>
      </p:sp>
      <p:sp>
        <p:nvSpPr>
          <p:cNvPr id="19" name="c3-from"/>
          <p:cNvSpPr txBox="1"/>
          <p:nvPr/>
        </p:nvSpPr>
        <p:spPr>
          <a:xfrm>
            <a:off x="8458200" y="29464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9B9595"/>
                </a:solidFill>
                <a:latin typeface="MiSans"/>
                <a:ea typeface="MiSans"/>
              </a:rPr>
              <a:t>从　完成订单</a:t>
            </a:r>
            <a:endParaRPr lang="en-US" sz="1300"/>
          </a:p>
        </p:txBody>
      </p:sp>
      <p:sp>
        <p:nvSpPr>
          <p:cNvPr id="20" name="c3-to"/>
          <p:cNvSpPr txBox="1"/>
          <p:nvPr/>
        </p:nvSpPr>
        <p:spPr>
          <a:xfrm>
            <a:off x="8458200" y="3302000"/>
            <a:ext cx="2819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140B0A"/>
                </a:solidFill>
                <a:latin typeface="MiSans"/>
                <a:ea typeface="MiSans"/>
              </a:rPr>
              <a:t>到　进入客户供应链</a:t>
            </a:r>
            <a:endParaRPr lang="en-US" sz="2000"/>
          </a:p>
        </p:txBody>
      </p:sp>
      <p:sp>
        <p:nvSpPr>
          <p:cNvPr id="21" name="c3-desc"/>
          <p:cNvSpPr txBox="1"/>
          <p:nvPr/>
        </p:nvSpPr>
        <p:spPr>
          <a:xfrm>
            <a:off x="8458200" y="3962400"/>
            <a:ext cx="2819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把公司的能力，</a:t>
            </a:r>
            <a:endParaRPr lang="en-US" sz="1150"/>
          </a:p>
          <a:p>
            <a:pPr>
              <a:lnSpc>
                <a:spcPct val="16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嵌进客户的经营。</a:t>
            </a:r>
            <a:endParaRPr lang="en-US" sz="1150"/>
          </a:p>
        </p:txBody>
      </p:sp>
      <p:sp>
        <p:nvSpPr>
          <p:cNvPr id="22" name="note"/>
          <p:cNvSpPr txBox="1"/>
          <p:nvPr/>
        </p:nvSpPr>
        <p:spPr>
          <a:xfrm>
            <a:off x="609600" y="54864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三个升级层层递进——完成升级的销售，身份就从报价员变成了供应链伙伴。</a:t>
            </a:r>
            <a:endParaRPr lang="en-US" sz="1150"/>
          </a:p>
        </p:txBody>
      </p:sp>
      <p:sp>
        <p:nvSpPr>
          <p:cNvPr id="23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4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28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06 · 行动转化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label"/>
          <p:cNvSpPr txBox="1"/>
          <p:nvPr/>
        </p:nvSpPr>
        <p:spPr>
          <a:xfrm>
            <a:off x="609600" y="1498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4D4D"/>
                </a:solidFill>
                <a:latin typeface="MiSans"/>
                <a:ea typeface="MiSans"/>
              </a:rPr>
              <a:t>本课核心公式</a:t>
            </a:r>
            <a:endParaRPr lang="en-US" sz="1200"/>
          </a:p>
        </p:txBody>
      </p:sp>
      <p:sp>
        <p:nvSpPr>
          <p:cNvPr id="6" name="f1"/>
          <p:cNvSpPr/>
          <p:nvPr/>
        </p:nvSpPr>
        <p:spPr>
          <a:xfrm>
            <a:off x="838200" y="2286000"/>
            <a:ext cx="1397000" cy="609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7" name="f1-t"/>
          <p:cNvSpPr txBox="1"/>
          <p:nvPr/>
        </p:nvSpPr>
        <p:spPr>
          <a:xfrm>
            <a:off x="838200" y="2286000"/>
            <a:ext cx="1397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一个产品</a:t>
            </a:r>
            <a:endParaRPr lang="en-US" sz="1250"/>
          </a:p>
        </p:txBody>
      </p:sp>
      <p:sp>
        <p:nvSpPr>
          <p:cNvPr id="8" name="x1"/>
          <p:cNvSpPr txBox="1"/>
          <p:nvPr/>
        </p:nvSpPr>
        <p:spPr>
          <a:xfrm>
            <a:off x="2235200" y="2286000"/>
            <a:ext cx="279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9B9595"/>
                </a:solidFill>
                <a:latin typeface="MiSans"/>
                <a:ea typeface="MiSans"/>
              </a:rPr>
              <a:t>×</a:t>
            </a:r>
            <a:endParaRPr lang="en-US" sz="1600"/>
          </a:p>
        </p:txBody>
      </p:sp>
      <p:sp>
        <p:nvSpPr>
          <p:cNvPr id="9" name="f2"/>
          <p:cNvSpPr/>
          <p:nvPr/>
        </p:nvSpPr>
        <p:spPr>
          <a:xfrm>
            <a:off x="2514600" y="2286000"/>
            <a:ext cx="1397000" cy="609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0" name="f2-t"/>
          <p:cNvSpPr txBox="1"/>
          <p:nvPr/>
        </p:nvSpPr>
        <p:spPr>
          <a:xfrm>
            <a:off x="2514600" y="2286000"/>
            <a:ext cx="1397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建立信任</a:t>
            </a:r>
            <a:endParaRPr lang="en-US" sz="1250"/>
          </a:p>
        </p:txBody>
      </p:sp>
      <p:sp>
        <p:nvSpPr>
          <p:cNvPr id="11" name="x2"/>
          <p:cNvSpPr txBox="1"/>
          <p:nvPr/>
        </p:nvSpPr>
        <p:spPr>
          <a:xfrm>
            <a:off x="3911600" y="2286000"/>
            <a:ext cx="279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9B9595"/>
                </a:solidFill>
                <a:latin typeface="MiSans"/>
                <a:ea typeface="MiSans"/>
              </a:rPr>
              <a:t>×</a:t>
            </a:r>
            <a:endParaRPr lang="en-US" sz="1600"/>
          </a:p>
        </p:txBody>
      </p:sp>
      <p:sp>
        <p:nvSpPr>
          <p:cNvPr id="12" name="f3"/>
          <p:cNvSpPr/>
          <p:nvPr/>
        </p:nvSpPr>
        <p:spPr>
          <a:xfrm>
            <a:off x="4191000" y="2286000"/>
            <a:ext cx="1397000" cy="609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3" name="f3-t"/>
          <p:cNvSpPr txBox="1"/>
          <p:nvPr/>
        </p:nvSpPr>
        <p:spPr>
          <a:xfrm>
            <a:off x="4191000" y="2286000"/>
            <a:ext cx="1397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发现需求</a:t>
            </a:r>
            <a:endParaRPr lang="en-US" sz="1250"/>
          </a:p>
        </p:txBody>
      </p:sp>
      <p:sp>
        <p:nvSpPr>
          <p:cNvPr id="14" name="x3"/>
          <p:cNvSpPr txBox="1"/>
          <p:nvPr/>
        </p:nvSpPr>
        <p:spPr>
          <a:xfrm>
            <a:off x="5588000" y="2286000"/>
            <a:ext cx="279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9B9595"/>
                </a:solidFill>
                <a:latin typeface="MiSans"/>
                <a:ea typeface="MiSans"/>
              </a:rPr>
              <a:t>×</a:t>
            </a:r>
            <a:endParaRPr lang="en-US" sz="1600"/>
          </a:p>
        </p:txBody>
      </p:sp>
      <p:sp>
        <p:nvSpPr>
          <p:cNvPr id="15" name="f4"/>
          <p:cNvSpPr/>
          <p:nvPr/>
        </p:nvSpPr>
        <p:spPr>
          <a:xfrm>
            <a:off x="5867400" y="2286000"/>
            <a:ext cx="1397000" cy="609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6" name="f4-t"/>
          <p:cNvSpPr txBox="1"/>
          <p:nvPr/>
        </p:nvSpPr>
        <p:spPr>
          <a:xfrm>
            <a:off x="5867400" y="2286000"/>
            <a:ext cx="1397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整合供应链</a:t>
            </a:r>
            <a:endParaRPr lang="en-US" sz="1250"/>
          </a:p>
        </p:txBody>
      </p:sp>
      <p:sp>
        <p:nvSpPr>
          <p:cNvPr id="17" name="x4"/>
          <p:cNvSpPr txBox="1"/>
          <p:nvPr/>
        </p:nvSpPr>
        <p:spPr>
          <a:xfrm>
            <a:off x="7264400" y="2286000"/>
            <a:ext cx="279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9B9595"/>
                </a:solidFill>
                <a:latin typeface="MiSans"/>
                <a:ea typeface="MiSans"/>
              </a:rPr>
              <a:t>×</a:t>
            </a:r>
            <a:endParaRPr lang="en-US" sz="1600"/>
          </a:p>
        </p:txBody>
      </p:sp>
      <p:sp>
        <p:nvSpPr>
          <p:cNvPr id="18" name="f5"/>
          <p:cNvSpPr/>
          <p:nvPr/>
        </p:nvSpPr>
        <p:spPr>
          <a:xfrm>
            <a:off x="7543800" y="2286000"/>
            <a:ext cx="1397000" cy="609600"/>
          </a:xfrm>
          <a:prstGeom prst="rect">
            <a:avLst/>
          </a:prstGeom>
          <a:solidFill>
            <a:srgbClr val="F4F3F3"/>
          </a:solidFill>
          <a:ln>
            <a:noFill/>
          </a:ln>
        </p:spPr>
      </p:sp>
      <p:sp>
        <p:nvSpPr>
          <p:cNvPr id="19" name="f5-t"/>
          <p:cNvSpPr txBox="1"/>
          <p:nvPr/>
        </p:nvSpPr>
        <p:spPr>
          <a:xfrm>
            <a:off x="7543800" y="2286000"/>
            <a:ext cx="1397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b="1">
                <a:solidFill>
                  <a:srgbClr val="140B0A"/>
                </a:solidFill>
                <a:latin typeface="MiSans"/>
                <a:ea typeface="MiSans"/>
              </a:rPr>
              <a:t>扩大品类</a:t>
            </a:r>
            <a:endParaRPr lang="en-US" sz="1250"/>
          </a:p>
        </p:txBody>
      </p:sp>
      <p:sp>
        <p:nvSpPr>
          <p:cNvPr id="20" name="eq"/>
          <p:cNvSpPr txBox="1"/>
          <p:nvPr/>
        </p:nvSpPr>
        <p:spPr>
          <a:xfrm>
            <a:off x="8940800" y="2286000"/>
            <a:ext cx="381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9B9595"/>
                </a:solidFill>
                <a:latin typeface="MiSans"/>
                <a:ea typeface="MiSans"/>
              </a:rPr>
              <a:t>＝</a:t>
            </a:r>
            <a:endParaRPr lang="en-US" sz="1700"/>
          </a:p>
        </p:txBody>
      </p:sp>
      <p:sp>
        <p:nvSpPr>
          <p:cNvPr id="21" name="f6"/>
          <p:cNvSpPr/>
          <p:nvPr/>
        </p:nvSpPr>
        <p:spPr>
          <a:xfrm>
            <a:off x="9321800" y="2286000"/>
            <a:ext cx="2032000" cy="609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2" name="f6-t"/>
          <p:cNvSpPr txBox="1"/>
          <p:nvPr/>
        </p:nvSpPr>
        <p:spPr>
          <a:xfrm>
            <a:off x="9321800" y="2286000"/>
            <a:ext cx="203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长期客户价值</a:t>
            </a:r>
            <a:endParaRPr lang="en-US" sz="1350"/>
          </a:p>
        </p:txBody>
      </p:sp>
      <p:sp>
        <p:nvSpPr>
          <p:cNvPr id="23" name="main"/>
          <p:cNvSpPr txBox="1"/>
          <p:nvPr/>
        </p:nvSpPr>
        <p:spPr>
          <a:xfrm>
            <a:off x="609600" y="3708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140B0A"/>
                </a:solidFill>
                <a:latin typeface="MiSans"/>
                <a:ea typeface="MiSans"/>
              </a:rPr>
              <a:t>用一个产品</a:t>
            </a:r>
            <a:r>
              <a:rPr lang="en-US" sz="2200" b="1">
                <a:solidFill>
                  <a:srgbClr val="FF4D4D"/>
                </a:solidFill>
                <a:latin typeface="MiSans"/>
                <a:ea typeface="MiSans"/>
              </a:rPr>
              <a:t>打开门</a:t>
            </a:r>
            <a:r>
              <a:rPr lang="en-US" sz="2200" b="1">
                <a:solidFill>
                  <a:srgbClr val="140B0A"/>
                </a:solidFill>
                <a:latin typeface="MiSans"/>
                <a:ea typeface="MiSans"/>
              </a:rPr>
              <a:t>，用供应链能力</a:t>
            </a:r>
            <a:r>
              <a:rPr lang="en-US" sz="2200" b="1">
                <a:solidFill>
                  <a:srgbClr val="FF4D4D"/>
                </a:solidFill>
                <a:latin typeface="MiSans"/>
                <a:ea typeface="MiSans"/>
              </a:rPr>
              <a:t>留下来</a:t>
            </a:r>
            <a:r>
              <a:rPr lang="en-US" sz="2200" b="1">
                <a:solidFill>
                  <a:srgbClr val="140B0A"/>
                </a:solidFill>
                <a:latin typeface="MiSans"/>
                <a:ea typeface="MiSans"/>
              </a:rPr>
              <a:t>。</a:t>
            </a:r>
            <a:endParaRPr lang="en-US" sz="2200"/>
          </a:p>
        </p:txBody>
      </p:sp>
      <p:sp>
        <p:nvSpPr>
          <p:cNvPr id="24" name="note"/>
          <p:cNvSpPr txBox="1"/>
          <p:nvPr/>
        </p:nvSpPr>
        <p:spPr>
          <a:xfrm>
            <a:off x="609600" y="43688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50">
                <a:solidFill>
                  <a:srgbClr val="6E6666"/>
                </a:solidFill>
                <a:latin typeface="MiSans"/>
                <a:ea typeface="MiSans"/>
              </a:rPr>
              <a:t>乘法公式的含义：任何一项为零，长期价值都归零。</a:t>
            </a:r>
            <a:endParaRPr lang="en-US" sz="1150"/>
          </a:p>
        </p:txBody>
      </p:sp>
      <p:sp>
        <p:nvSpPr>
          <p:cNvPr id="25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6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29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3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06 · 行动转化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行动任务：选择一个现有客户，完成六项任务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每位销售选择一个现有客户，按步骤完成，并带到下次复盘</a:t>
            </a:r>
            <a:endParaRPr lang="en-US" sz="1250"/>
          </a:p>
        </p:txBody>
      </p:sp>
      <p:sp>
        <p:nvSpPr>
          <p:cNvPr id="7" name="t1-n"/>
          <p:cNvSpPr txBox="1"/>
          <p:nvPr/>
        </p:nvSpPr>
        <p:spPr>
          <a:xfrm>
            <a:off x="609600" y="19304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4D4D"/>
                </a:solidFill>
                <a:latin typeface="MiSans"/>
                <a:ea typeface="MiSans"/>
              </a:rPr>
              <a:t>01</a:t>
            </a:r>
            <a:endParaRPr lang="en-US" sz="3000"/>
          </a:p>
        </p:txBody>
      </p:sp>
      <p:sp>
        <p:nvSpPr>
          <p:cNvPr id="8" name="t1"/>
          <p:cNvSpPr txBox="1"/>
          <p:nvPr/>
        </p:nvSpPr>
        <p:spPr>
          <a:xfrm>
            <a:off x="1422400" y="2108200"/>
            <a:ext cx="4394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40B0A"/>
                </a:solidFill>
                <a:latin typeface="MiSans"/>
                <a:ea typeface="MiSans"/>
              </a:rPr>
              <a:t>找到客户当前合作最好的一个产品</a:t>
            </a:r>
            <a:endParaRPr lang="en-US" sz="1350"/>
          </a:p>
        </p:txBody>
      </p:sp>
      <p:sp>
        <p:nvSpPr>
          <p:cNvPr id="9" name="t2-n"/>
          <p:cNvSpPr txBox="1"/>
          <p:nvPr/>
        </p:nvSpPr>
        <p:spPr>
          <a:xfrm>
            <a:off x="6375400" y="19304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D9D6D6"/>
                </a:solidFill>
                <a:latin typeface="MiSans"/>
                <a:ea typeface="MiSans"/>
              </a:rPr>
              <a:t>02</a:t>
            </a:r>
            <a:endParaRPr lang="en-US" sz="3000"/>
          </a:p>
        </p:txBody>
      </p:sp>
      <p:sp>
        <p:nvSpPr>
          <p:cNvPr id="10" name="t2"/>
          <p:cNvSpPr txBox="1"/>
          <p:nvPr/>
        </p:nvSpPr>
        <p:spPr>
          <a:xfrm>
            <a:off x="7188200" y="2108200"/>
            <a:ext cx="4394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40B0A"/>
                </a:solidFill>
                <a:latin typeface="MiSans"/>
                <a:ea typeface="MiSans"/>
              </a:rPr>
              <a:t>梳理客户完整产品线</a:t>
            </a:r>
            <a:endParaRPr lang="en-US" sz="1350"/>
          </a:p>
        </p:txBody>
      </p:sp>
      <p:sp>
        <p:nvSpPr>
          <p:cNvPr id="11" name="t3-n"/>
          <p:cNvSpPr txBox="1"/>
          <p:nvPr/>
        </p:nvSpPr>
        <p:spPr>
          <a:xfrm>
            <a:off x="609600" y="33528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D9D6D6"/>
                </a:solidFill>
                <a:latin typeface="MiSans"/>
                <a:ea typeface="MiSans"/>
              </a:rPr>
              <a:t>03</a:t>
            </a:r>
            <a:endParaRPr lang="en-US" sz="3000"/>
          </a:p>
        </p:txBody>
      </p:sp>
      <p:sp>
        <p:nvSpPr>
          <p:cNvPr id="12" name="t3"/>
          <p:cNvSpPr txBox="1"/>
          <p:nvPr/>
        </p:nvSpPr>
        <p:spPr>
          <a:xfrm>
            <a:off x="1422400" y="3530600"/>
            <a:ext cx="4394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40B0A"/>
                </a:solidFill>
                <a:latin typeface="MiSans"/>
                <a:ea typeface="MiSans"/>
              </a:rPr>
              <a:t>列出客户三个供应链痛点</a:t>
            </a:r>
            <a:endParaRPr lang="en-US" sz="1350"/>
          </a:p>
        </p:txBody>
      </p:sp>
      <p:sp>
        <p:nvSpPr>
          <p:cNvPr id="13" name="t4-n"/>
          <p:cNvSpPr txBox="1"/>
          <p:nvPr/>
        </p:nvSpPr>
        <p:spPr>
          <a:xfrm>
            <a:off x="6375400" y="33528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D9D6D6"/>
                </a:solidFill>
                <a:latin typeface="MiSans"/>
                <a:ea typeface="MiSans"/>
              </a:rPr>
              <a:t>04</a:t>
            </a:r>
            <a:endParaRPr lang="en-US" sz="3000"/>
          </a:p>
        </p:txBody>
      </p:sp>
      <p:sp>
        <p:nvSpPr>
          <p:cNvPr id="14" name="t4"/>
          <p:cNvSpPr txBox="1"/>
          <p:nvPr/>
        </p:nvSpPr>
        <p:spPr>
          <a:xfrm>
            <a:off x="7188200" y="3530600"/>
            <a:ext cx="4394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40B0A"/>
                </a:solidFill>
                <a:latin typeface="MiSans"/>
                <a:ea typeface="MiSans"/>
              </a:rPr>
              <a:t>选择一个可以延伸的产品</a:t>
            </a:r>
            <a:endParaRPr lang="en-US" sz="1350"/>
          </a:p>
        </p:txBody>
      </p:sp>
      <p:sp>
        <p:nvSpPr>
          <p:cNvPr id="15" name="t5-n"/>
          <p:cNvSpPr txBox="1"/>
          <p:nvPr/>
        </p:nvSpPr>
        <p:spPr>
          <a:xfrm>
            <a:off x="609600" y="47752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D9D6D6"/>
                </a:solidFill>
                <a:latin typeface="MiSans"/>
                <a:ea typeface="MiSans"/>
              </a:rPr>
              <a:t>05</a:t>
            </a:r>
            <a:endParaRPr lang="en-US" sz="3000"/>
          </a:p>
        </p:txBody>
      </p:sp>
      <p:sp>
        <p:nvSpPr>
          <p:cNvPr id="16" name="t5"/>
          <p:cNvSpPr txBox="1"/>
          <p:nvPr/>
        </p:nvSpPr>
        <p:spPr>
          <a:xfrm>
            <a:off x="1422400" y="4953000"/>
            <a:ext cx="4394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40B0A"/>
                </a:solidFill>
                <a:latin typeface="MiSans"/>
                <a:ea typeface="MiSans"/>
              </a:rPr>
              <a:t>联合采购、产品、供应链负责人，设计解决方案</a:t>
            </a:r>
            <a:endParaRPr lang="en-US" sz="1350"/>
          </a:p>
        </p:txBody>
      </p:sp>
      <p:sp>
        <p:nvSpPr>
          <p:cNvPr id="17" name="t6-n"/>
          <p:cNvSpPr txBox="1"/>
          <p:nvPr/>
        </p:nvSpPr>
        <p:spPr>
          <a:xfrm>
            <a:off x="6375400" y="47752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D9D6D6"/>
                </a:solidFill>
                <a:latin typeface="MiSans"/>
                <a:ea typeface="MiSans"/>
              </a:rPr>
              <a:t>06</a:t>
            </a:r>
            <a:endParaRPr lang="en-US" sz="3000"/>
          </a:p>
        </p:txBody>
      </p:sp>
      <p:sp>
        <p:nvSpPr>
          <p:cNvPr id="18" name="t6"/>
          <p:cNvSpPr txBox="1"/>
          <p:nvPr/>
        </p:nvSpPr>
        <p:spPr>
          <a:xfrm>
            <a:off x="7188200" y="4953000"/>
            <a:ext cx="4394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40B0A"/>
                </a:solidFill>
                <a:latin typeface="MiSans"/>
                <a:ea typeface="MiSans"/>
              </a:rPr>
              <a:t>制定下一次客户拜访计划</a:t>
            </a:r>
            <a:endParaRPr lang="en-US" sz="1350"/>
          </a:p>
        </p:txBody>
      </p:sp>
      <p:sp>
        <p:nvSpPr>
          <p:cNvPr id="19" name="note"/>
          <p:cNvSpPr txBox="1"/>
          <p:nvPr/>
        </p:nvSpPr>
        <p:spPr>
          <a:xfrm>
            <a:off x="609600" y="60706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E6666"/>
                </a:solidFill>
                <a:latin typeface="MiSans"/>
                <a:ea typeface="MiSans"/>
              </a:rPr>
              <a:t>完成后，填写下一页的《客户供应链经营表》，带到复盘会。</a:t>
            </a:r>
            <a:endParaRPr lang="en-US" sz="1100"/>
          </a:p>
        </p:txBody>
      </p:sp>
      <p:sp>
        <p:nvSpPr>
          <p:cNvPr id="20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21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30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3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"/>
          <p:cNvSpPr txBox="1"/>
          <p:nvPr/>
        </p:nvSpPr>
        <p:spPr>
          <a:xfrm>
            <a:off x="609600" y="22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销售团队内训课程</a:t>
            </a:r>
            <a:endParaRPr lang="en-US" sz="900"/>
          </a:p>
        </p:txBody>
      </p:sp>
      <p:sp>
        <p:nvSpPr>
          <p:cNvPr id="3" name="hd-r"/>
          <p:cNvSpPr txBox="1"/>
          <p:nvPr/>
        </p:nvSpPr>
        <p:spPr>
          <a:xfrm>
            <a:off x="7112000" y="2286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06 · 行动转化</a:t>
            </a:r>
            <a:endParaRPr lang="en-US" sz="900"/>
          </a:p>
        </p:txBody>
      </p:sp>
      <p:sp>
        <p:nvSpPr>
          <p:cNvPr id="4" name="hd-line"/>
          <p:cNvSpPr/>
          <p:nvPr/>
        </p:nvSpPr>
        <p:spPr>
          <a:xfrm>
            <a:off x="609600" y="533400"/>
            <a:ext cx="10972800" cy="12700"/>
          </a:xfrm>
          <a:prstGeom prst="rect">
            <a:avLst/>
          </a:prstGeom>
          <a:solidFill>
            <a:srgbClr val="E9E7E7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7112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40B0A"/>
                </a:solidFill>
                <a:latin typeface="MiSans"/>
                <a:ea typeface="MiSans"/>
              </a:rPr>
              <a:t>工具：客户供应链经营表</a:t>
            </a:r>
            <a:endParaRPr lang="en-US" sz="2600"/>
          </a:p>
        </p:txBody>
      </p:sp>
      <p:sp>
        <p:nvSpPr>
          <p:cNvPr id="6" name="lead"/>
          <p:cNvSpPr txBox="1"/>
          <p:nvPr/>
        </p:nvSpPr>
        <p:spPr>
          <a:xfrm>
            <a:off x="609600" y="1244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E6666"/>
                </a:solidFill>
                <a:latin typeface="MiSans"/>
                <a:ea typeface="MiSans"/>
              </a:rPr>
              <a:t>把方法落到一张表上——填写它，就是完成一次客户经营设计</a:t>
            </a:r>
            <a:endParaRPr lang="en-US" sz="1250"/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609600" y="1727200"/>
          <a:ext cx="10972800" cy="4267200"/>
        </p:xfrm>
        <a:graphic>
          <a:graphicData uri="http://schemas.openxmlformats.org/drawingml/2006/table">
            <a:tbl>
              <a:tblPr/>
              <a:tblGrid>
                <a:gridCol w="1755648"/>
                <a:gridCol w="3730752"/>
                <a:gridCol w="1755648"/>
                <a:gridCol w="3730752"/>
              </a:tblGrid>
              <a:tr h="6102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客户名称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endParaRPr lang="en-US" sz="1200"/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客户类型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endParaRPr lang="en-US" sz="1200"/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noFill/>
                  </a:tcPr>
                </a:tc>
              </a:tr>
              <a:tr h="6102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当前合作产品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endParaRPr lang="en-US" sz="1200"/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当前合作金额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endParaRPr lang="en-US" sz="1200"/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noFill/>
                  </a:tcPr>
                </a:tc>
              </a:tr>
              <a:tr h="6102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客户主要产品线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endParaRPr lang="en-US" sz="1200"/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客户现有供应商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endParaRPr lang="en-US" sz="1200"/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noFill/>
                  </a:tcPr>
                </a:tc>
              </a:tr>
              <a:tr h="6102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客户主要供应链痛点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endParaRPr lang="en-US" sz="1200"/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我们的切入优势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endParaRPr lang="en-US" sz="1200"/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noFill/>
                  </a:tcPr>
                </a:tc>
              </a:tr>
              <a:tr h="6102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可以延伸的产品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endParaRPr lang="en-US" sz="1200"/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预计整体合作空间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endParaRPr lang="en-US" sz="1200"/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noFill/>
                  </a:tcPr>
                </a:tc>
              </a:tr>
              <a:tr h="6102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主要风险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endParaRPr lang="en-US" sz="1200"/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下一步行动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endParaRPr lang="en-US" sz="1200"/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noFill/>
                  </a:tcPr>
                </a:tc>
              </a:tr>
              <a:tr h="60594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负责人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endParaRPr lang="en-US" sz="1200"/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40B0A"/>
                          </a:solidFill>
                          <a:latin typeface="Times New Roman"/>
                          <a:ea typeface="Times New Roman"/>
                        </a:rPr>
                        <a:t>完成时间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solidFill>
                      <a:srgbClr val="F4F3F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endParaRPr lang="en-US" sz="1200"/>
                    </a:p>
                  </a:txBody>
                  <a:tcPr marL="91440" marR="91440" marT="45720" marB="45720" anchor="ctr">
                    <a:lnL w="12700">
                      <a:solidFill>
                        <a:srgbClr val="DDDBDB"/>
                      </a:solidFill>
                    </a:lnL>
                    <a:lnR w="12700">
                      <a:solidFill>
                        <a:srgbClr val="DDDBDB"/>
                      </a:solidFill>
                    </a:lnR>
                    <a:lnT w="12700">
                      <a:solidFill>
                        <a:srgbClr val="DDDBDB"/>
                      </a:solidFill>
                    </a:lnT>
                    <a:lnB w="12700">
                      <a:solidFill>
                        <a:srgbClr val="DDDBD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note"/>
          <p:cNvSpPr txBox="1"/>
          <p:nvPr/>
        </p:nvSpPr>
        <p:spPr>
          <a:xfrm>
            <a:off x="609600" y="61976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E6666"/>
                </a:solidFill>
                <a:latin typeface="MiSans"/>
                <a:ea typeface="MiSans"/>
              </a:rPr>
              <a:t>填写提示：痛点与优势必须具体——写不出具体内容的格子，就是还没经营到位的地方。</a:t>
            </a:r>
            <a:endParaRPr lang="en-US" sz="1100"/>
          </a:p>
        </p:txBody>
      </p:sp>
      <p:sp>
        <p:nvSpPr>
          <p:cNvPr id="9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10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31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3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"/>
          <p:cNvSpPr/>
          <p:nvPr/>
        </p:nvSpPr>
        <p:spPr>
          <a:xfrm>
            <a:off x="609600" y="762000"/>
            <a:ext cx="1016000" cy="330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3" name="cap-t"/>
          <p:cNvSpPr txBox="1"/>
          <p:nvPr/>
        </p:nvSpPr>
        <p:spPr>
          <a:xfrm>
            <a:off x="609600" y="762000"/>
            <a:ext cx="101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结语</a:t>
            </a:r>
            <a:endParaRPr lang="en-US" sz="1100"/>
          </a:p>
        </p:txBody>
      </p:sp>
      <p:sp>
        <p:nvSpPr>
          <p:cNvPr id="4" name="m1a"/>
          <p:cNvSpPr txBox="1"/>
          <p:nvPr/>
        </p:nvSpPr>
        <p:spPr>
          <a:xfrm>
            <a:off x="609600" y="16764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>
                <a:solidFill>
                  <a:srgbClr val="6E6666"/>
                </a:solidFill>
                <a:latin typeface="MiSans"/>
                <a:ea typeface="MiSans"/>
              </a:rPr>
              <a:t>不要满足于卖出一个产品。</a:t>
            </a:r>
            <a:endParaRPr lang="en-US" sz="1600"/>
          </a:p>
        </p:txBody>
      </p:sp>
      <p:sp>
        <p:nvSpPr>
          <p:cNvPr id="5" name="m1b"/>
          <p:cNvSpPr txBox="1"/>
          <p:nvPr/>
        </p:nvSpPr>
        <p:spPr>
          <a:xfrm>
            <a:off x="609600" y="20320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40B0A"/>
                </a:solidFill>
                <a:latin typeface="MiSans"/>
                <a:ea typeface="MiSans"/>
              </a:rPr>
              <a:t>要通过一个产品，进入一家企业。</a:t>
            </a:r>
            <a:endParaRPr lang="en-US" sz="2700"/>
          </a:p>
        </p:txBody>
      </p:sp>
      <p:sp>
        <p:nvSpPr>
          <p:cNvPr id="6" name="m2a"/>
          <p:cNvSpPr txBox="1"/>
          <p:nvPr/>
        </p:nvSpPr>
        <p:spPr>
          <a:xfrm>
            <a:off x="609600" y="30226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>
                <a:solidFill>
                  <a:srgbClr val="6E6666"/>
                </a:solidFill>
                <a:latin typeface="MiSans"/>
                <a:ea typeface="MiSans"/>
              </a:rPr>
              <a:t>不要满足于完成一次订单。</a:t>
            </a:r>
            <a:endParaRPr lang="en-US" sz="1600"/>
          </a:p>
        </p:txBody>
      </p:sp>
      <p:sp>
        <p:nvSpPr>
          <p:cNvPr id="7" name="m2b"/>
          <p:cNvSpPr txBox="1"/>
          <p:nvPr/>
        </p:nvSpPr>
        <p:spPr>
          <a:xfrm>
            <a:off x="609600" y="33782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40B0A"/>
                </a:solidFill>
                <a:latin typeface="MiSans"/>
                <a:ea typeface="MiSans"/>
              </a:rPr>
              <a:t>要成为客户长期信任的供应链伙伴。</a:t>
            </a:r>
            <a:endParaRPr lang="en-US" sz="2700"/>
          </a:p>
        </p:txBody>
      </p:sp>
      <p:sp>
        <p:nvSpPr>
          <p:cNvPr id="8" name="accent"/>
          <p:cNvSpPr/>
          <p:nvPr/>
        </p:nvSpPr>
        <p:spPr>
          <a:xfrm>
            <a:off x="609600" y="4419600"/>
            <a:ext cx="1524000" cy="381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9" name="final"/>
          <p:cNvSpPr txBox="1"/>
          <p:nvPr/>
        </p:nvSpPr>
        <p:spPr>
          <a:xfrm>
            <a:off x="609600" y="48006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900" b="1">
                <a:solidFill>
                  <a:srgbClr val="140B0A"/>
                </a:solidFill>
                <a:latin typeface="MiSans"/>
                <a:ea typeface="MiSans"/>
              </a:rPr>
              <a:t>真正的供应链销售，不是把产品卖给客户，</a:t>
            </a:r>
            <a:endParaRPr lang="en-US" sz="1900"/>
          </a:p>
          <a:p>
            <a:pPr>
              <a:lnSpc>
                <a:spcPct val="160000"/>
              </a:lnSpc>
            </a:pPr>
            <a:r>
              <a:rPr lang="en-US" sz="1900" b="1">
                <a:solidFill>
                  <a:srgbClr val="140B0A"/>
                </a:solidFill>
                <a:latin typeface="MiSans"/>
                <a:ea typeface="MiSans"/>
              </a:rPr>
              <a:t>而是</a:t>
            </a:r>
            <a:r>
              <a:rPr lang="en-US" sz="1900" b="1">
                <a:solidFill>
                  <a:srgbClr val="FF4D4D"/>
                </a:solidFill>
                <a:latin typeface="MiSans"/>
                <a:ea typeface="MiSans"/>
              </a:rPr>
              <a:t>把公司的能力嵌入客户的经营</a:t>
            </a:r>
            <a:r>
              <a:rPr lang="en-US" sz="1900" b="1">
                <a:solidFill>
                  <a:srgbClr val="140B0A"/>
                </a:solidFill>
                <a:latin typeface="MiSans"/>
                <a:ea typeface="MiSans"/>
              </a:rPr>
              <a:t>。</a:t>
            </a:r>
            <a:endParaRPr lang="en-US" sz="1900"/>
          </a:p>
        </p:txBody>
      </p:sp>
      <p:sp>
        <p:nvSpPr>
          <p:cNvPr id="10" name="thanks"/>
          <p:cNvSpPr txBox="1"/>
          <p:nvPr/>
        </p:nvSpPr>
        <p:spPr>
          <a:xfrm>
            <a:off x="609600" y="5969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E6666"/>
                </a:solidFill>
                <a:latin typeface="MiSans"/>
                <a:ea typeface="MiSans"/>
              </a:rPr>
              <a:t>谢谢参与——接下来，请完成你的《客户供应链经营表》。</a:t>
            </a:r>
            <a:endParaRPr lang="en-US" sz="1100"/>
          </a:p>
        </p:txBody>
      </p:sp>
      <p:sp>
        <p:nvSpPr>
          <p:cNvPr id="11" name="ft-l"/>
          <p:cNvSpPr txBox="1"/>
          <p:nvPr/>
        </p:nvSpPr>
        <p:spPr>
          <a:xfrm>
            <a:off x="609600" y="65278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供应链思维 · 如何用一个产品切入客户供应链</a:t>
            </a:r>
            <a:endParaRPr lang="en-US" sz="900"/>
          </a:p>
        </p:txBody>
      </p:sp>
      <p:sp>
        <p:nvSpPr>
          <p:cNvPr id="12" name="ft-r"/>
          <p:cNvSpPr txBox="1"/>
          <p:nvPr/>
        </p:nvSpPr>
        <p:spPr>
          <a:xfrm>
            <a:off x="11176000" y="6527800"/>
            <a:ext cx="40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B9595"/>
                </a:solidFill>
                <a:latin typeface="MiSans"/>
                <a:ea typeface="MiSans"/>
              </a:rPr>
              <a:t>32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Company>Moonshot</Company>
  <Slides>32</Slides>
</Properties>
</file>

<file path=docProps/core.xml><?xml version="1.0" encoding="utf-8"?>
<cp:coreProperties xmlns:cp="http://schemas.openxmlformats.org/package/2006/metadata/core-properties" xmlns:dc="http://purl.org/dc/elements/1.1/">
  <dc:title>供应链思维：如何用一个产品切入客户供应链</dc:title>
  <dc:subject>供应链思维：如何用一个产品切入客户供应链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供应链思维：如何用一个产品切入客户供应链","ContentProducer":"001191110108MACG2KBH8F10000","ProduceID":"19f6d82a-0122-872c-8000-0000b3c18c6f","ReservedCode1":"","ContentPropagator":"001191110108MACG2KBH8F20000","PropagateID":"19f6d735-2092-88f5-8000-09c74b4fc032","ReservedCode2":""}</vt:lpwstr>
  </property>
</Properties>
</file>