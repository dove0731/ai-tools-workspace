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2921000"/>
            <a:ext cx="1270000" cy="381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302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2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销售经营思维升级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778000" y="4445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从订单响应到客户价值经营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0" y="5334000"/>
            <a:ext cx="2540000" cy="127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56515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七遇集团 · 管理层内部培训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为什么销售越来越努力，客户却越来越难做？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2540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651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过去销售每天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413000"/>
            <a:ext cx="609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找客户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报价格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跟订单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催回复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解决问题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74000" y="1651000"/>
            <a:ext cx="2540000" cy="4572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0" y="1651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但是现在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74000" y="2413000"/>
            <a:ext cx="736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老客户返单下降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新客户越来越难开发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产品越来越容易被比较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毛利越来越低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66000" y="1651000"/>
            <a:ext cx="0" cy="431800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16000" y="6477000"/>
            <a:ext cx="14224000" cy="127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6477000"/>
            <a:ext cx="50800" cy="1270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3" name="Text 11"/>
          <p:cNvSpPr/>
          <p:nvPr/>
        </p:nvSpPr>
        <p:spPr>
          <a:xfrm>
            <a:off x="1397000" y="67945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不是销售不努力，而是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销售经营模式需要升级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客户需求已经发生变化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6604000" cy="482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651000"/>
            <a:ext cx="1524000" cy="4572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过去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41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客户需要产品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70000" y="3048000"/>
            <a:ext cx="6096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302000"/>
            <a:ext cx="609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竞争维度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 + 价格 + 资源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24800" y="3937000"/>
            <a:ext cx="406400" cy="0"/>
          </a:xfrm>
          <a:prstGeom prst="straightConnector1">
            <a:avLst/>
          </a:prstGeom>
          <a:noFill/>
          <a:ln w="381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636000" y="1651000"/>
            <a:ext cx="6604000" cy="482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36000" y="1651000"/>
            <a:ext cx="1524000" cy="4572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现在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90000" y="241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客户需要经营结果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90000" y="3048000"/>
            <a:ext cx="6096000" cy="127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3302000"/>
            <a:ext cx="609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产品有没有竞争力</a:t>
            </a:r>
            <a:endParaRPr lang="en-US" sz="2000" dirty="0"/>
          </a:p>
          <a:p>
            <a:pPr algn="l"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有没有市场机会</a:t>
            </a:r>
            <a:endParaRPr lang="en-US" sz="2000" dirty="0"/>
          </a:p>
          <a:p>
            <a:pPr algn="l"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成本是否优化</a:t>
            </a:r>
            <a:endParaRPr lang="en-US" sz="2000" dirty="0"/>
          </a:p>
          <a:p>
            <a:pPr algn="l"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供应链是否稳定</a:t>
            </a:r>
            <a:endParaRPr lang="en-US" sz="2000" dirty="0"/>
          </a:p>
          <a:p>
            <a:pPr algn="l"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能否帮助增长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16000" y="6858000"/>
            <a:ext cx="14224000" cy="101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6858000"/>
            <a:ext cx="50800" cy="1016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9" name="Text 17"/>
          <p:cNvSpPr/>
          <p:nvPr/>
        </p:nvSpPr>
        <p:spPr>
          <a:xfrm>
            <a:off x="1397000" y="6959600"/>
            <a:ext cx="1346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未来竞争不是价格竞争，而是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价值创造竞争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销售正在从交易角色走向经营角色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6604000" cy="5842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651000"/>
            <a:ext cx="1524000" cy="4572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过去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41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 = 订单执行者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70000" y="3048000"/>
            <a:ext cx="6096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238500"/>
            <a:ext cx="609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客户询价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报价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等待回复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跟进订单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70000" y="69850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销售被客户需求推动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24800" y="4445000"/>
            <a:ext cx="406400" cy="0"/>
          </a:xfrm>
          <a:prstGeom prst="straightConnector1">
            <a:avLst/>
          </a:prstGeom>
          <a:noFill/>
          <a:ln w="381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8636000" y="1651000"/>
            <a:ext cx="6604000" cy="584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6000" y="1651000"/>
            <a:ext cx="1524000" cy="4572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90000" y="241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 = 客户供应链经营专家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890000" y="3048000"/>
            <a:ext cx="6096000" cy="127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3238500"/>
            <a:ext cx="609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理解客户目标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发现客户问题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设计解决方案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推动客户增长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90000" y="69850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销售主动推动客户经营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1778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销售的本质是什么？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778000" y="2794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不是卖产品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而是帮助客户解决经营问题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0" y="4699000"/>
            <a:ext cx="2540000" cy="127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5080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优秀销售不是客户需要时出现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而是在客户没有发现问题之前，帮助客户发现机会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6604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C4A26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286000" y="6731000"/>
            <a:ext cx="1168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优秀销售成交订单，优秀供应链专家帮助客户经营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970000" y="7112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6000" dirty="0">
                <a:solidFill>
                  <a:srgbClr val="C4A26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销售能力升级模型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4445000" cy="5461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90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70000" y="2540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产品销售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70000" y="3149600"/>
            <a:ext cx="3937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3655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关注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价格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70000" y="5588000"/>
            <a:ext cx="3937000" cy="635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397000" y="5651500"/>
            <a:ext cx="368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容易进入价格竞争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51500" y="4318000"/>
            <a:ext cx="381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223000" y="1651000"/>
            <a:ext cx="4445000" cy="5461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77000" y="1905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77000" y="2540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方案销售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77000" y="3149600"/>
            <a:ext cx="3937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0" y="33655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关注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客户需求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产品组合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解决方案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77000" y="5588000"/>
            <a:ext cx="3937000" cy="6350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8" name="Text 16"/>
          <p:cNvSpPr/>
          <p:nvPr/>
        </p:nvSpPr>
        <p:spPr>
          <a:xfrm>
            <a:off x="6604000" y="5651500"/>
            <a:ext cx="368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满足客户明确需求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58500" y="4318000"/>
            <a:ext cx="381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1430000" y="1651000"/>
            <a:ext cx="3810000" cy="546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1684000" y="1905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1684000" y="2540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经营型销售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684000" y="3149600"/>
            <a:ext cx="3302000" cy="127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24" name="Text 22"/>
          <p:cNvSpPr/>
          <p:nvPr/>
        </p:nvSpPr>
        <p:spPr>
          <a:xfrm>
            <a:off x="11684000" y="3365500"/>
            <a:ext cx="330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关注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客户未来方向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客户经营问题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客户增长机会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684000" y="5588000"/>
            <a:ext cx="3302000" cy="635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0" y="56515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形成长期合作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335000" y="1905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▲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9" name="Text 27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企业真正应该经营什么？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19200" y="1397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很多销售眼里只有订单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6000" y="2159000"/>
            <a:ext cx="6350000" cy="2032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28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订单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0000" y="2794000"/>
            <a:ext cx="584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一次交易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93000" y="2667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890000" y="2159000"/>
            <a:ext cx="6350000" cy="203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2286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0" y="2794000"/>
            <a:ext cx="584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长期资产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16000" y="469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客户价值演进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6000" y="5524500"/>
            <a:ext cx="2921000" cy="635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524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第一次合作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64000" y="5778500"/>
            <a:ext cx="508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699000" y="5524500"/>
            <a:ext cx="2921000" cy="635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4699000" y="5524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多个产品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47000" y="5778500"/>
            <a:ext cx="508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382000" y="5524500"/>
            <a:ext cx="2921000" cy="635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5524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多个项目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0" y="5778500"/>
            <a:ext cx="508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2065000" y="5524500"/>
            <a:ext cx="3175000" cy="635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23" name="Text 21"/>
          <p:cNvSpPr/>
          <p:nvPr/>
        </p:nvSpPr>
        <p:spPr>
          <a:xfrm>
            <a:off x="12065000" y="55245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长期伙伴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16000" y="6858000"/>
            <a:ext cx="14224000" cy="127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000" y="6858000"/>
            <a:ext cx="50800" cy="1270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26" name="Text 24"/>
          <p:cNvSpPr/>
          <p:nvPr/>
        </p:nvSpPr>
        <p:spPr>
          <a:xfrm>
            <a:off x="1397000" y="69850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管理者应该问：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"这个客户未来价值多少钱？"</a:t>
            </a:r>
            <a:endParaRPr lang="en-US" sz="2200" dirty="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而不是 "这个订单多少钱？"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客户价值创造四层模型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14224000" cy="1397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0" y="184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交易价值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2349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解决：客户买什么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16000" y="3238500"/>
            <a:ext cx="14224000" cy="1397000"/>
          </a:xfrm>
          <a:prstGeom prst="rect">
            <a:avLst/>
          </a:prstGeom>
          <a:solidFill>
            <a:srgbClr val="E5E5E3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429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3429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产品价值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3937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解决：客户需要什么产品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16000" y="4826000"/>
            <a:ext cx="14224000" cy="1397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5016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286000" y="5016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供应链价值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5524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解决：客户供应链问题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16000" y="6413500"/>
            <a:ext cx="14224000" cy="1397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7" name="Text 15"/>
          <p:cNvSpPr/>
          <p:nvPr/>
        </p:nvSpPr>
        <p:spPr>
          <a:xfrm>
            <a:off x="1270000" y="660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286000" y="6604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经营价值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286000" y="711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帮助客户获得更好的商业结果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销售不能只听客户需求，要理解需求背后的问题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14224000" cy="889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14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客户说：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"我要开发一个面霜"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2921000"/>
            <a:ext cx="6096000" cy="4572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921000"/>
            <a:ext cx="2032000" cy="4572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9210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普通销售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406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95250"/>
                </a:moveTo>
                <a:cubicBezTo>
                  <a:pt x="0" y="42714"/>
                  <a:pt x="56952" y="0"/>
                  <a:pt x="127000" y="0"/>
                </a:cubicBezTo>
                <a:lnTo>
                  <a:pt x="423664" y="0"/>
                </a:lnTo>
                <a:cubicBezTo>
                  <a:pt x="457398" y="0"/>
                  <a:pt x="489744" y="9971"/>
                  <a:pt x="513556" y="27831"/>
                </a:cubicBezTo>
                <a:lnTo>
                  <a:pt x="724892" y="186482"/>
                </a:lnTo>
                <a:cubicBezTo>
                  <a:pt x="748705" y="204341"/>
                  <a:pt x="762000" y="228600"/>
                  <a:pt x="762000" y="253901"/>
                </a:cubicBezTo>
                <a:lnTo>
                  <a:pt x="762000" y="666750"/>
                </a:lnTo>
                <a:cubicBezTo>
                  <a:pt x="762000" y="719286"/>
                  <a:pt x="705048" y="762000"/>
                  <a:pt x="635000" y="762000"/>
                </a:cubicBezTo>
                <a:lnTo>
                  <a:pt x="127000" y="762000"/>
                </a:lnTo>
                <a:cubicBezTo>
                  <a:pt x="56952" y="762000"/>
                  <a:pt x="0" y="719286"/>
                  <a:pt x="0" y="666750"/>
                </a:cubicBezTo>
                <a:lnTo>
                  <a:pt x="0" y="95250"/>
                </a:lnTo>
                <a:close/>
                <a:moveTo>
                  <a:pt x="412750" y="87064"/>
                </a:moveTo>
                <a:lnTo>
                  <a:pt x="412750" y="226219"/>
                </a:lnTo>
                <a:cubicBezTo>
                  <a:pt x="412750" y="246013"/>
                  <a:pt x="433983" y="261938"/>
                  <a:pt x="460375" y="261938"/>
                </a:cubicBezTo>
                <a:lnTo>
                  <a:pt x="645914" y="261938"/>
                </a:lnTo>
                <a:lnTo>
                  <a:pt x="412750" y="87064"/>
                </a:lnTo>
                <a:close/>
                <a:moveTo>
                  <a:pt x="127000" y="130969"/>
                </a:moveTo>
                <a:cubicBezTo>
                  <a:pt x="127000" y="150763"/>
                  <a:pt x="148233" y="166688"/>
                  <a:pt x="174625" y="166688"/>
                </a:cubicBezTo>
                <a:lnTo>
                  <a:pt x="269875" y="166688"/>
                </a:lnTo>
                <a:cubicBezTo>
                  <a:pt x="296267" y="166688"/>
                  <a:pt x="317500" y="150763"/>
                  <a:pt x="317500" y="130969"/>
                </a:cubicBezTo>
                <a:cubicBezTo>
                  <a:pt x="317500" y="111175"/>
                  <a:pt x="296267" y="95250"/>
                  <a:pt x="269875" y="95250"/>
                </a:cubicBezTo>
                <a:lnTo>
                  <a:pt x="174625" y="95250"/>
                </a:lnTo>
                <a:cubicBezTo>
                  <a:pt x="148233" y="95250"/>
                  <a:pt x="127000" y="111175"/>
                  <a:pt x="127000" y="130969"/>
                </a:cubicBezTo>
                <a:close/>
                <a:moveTo>
                  <a:pt x="127000" y="273844"/>
                </a:moveTo>
                <a:cubicBezTo>
                  <a:pt x="127000" y="293638"/>
                  <a:pt x="148233" y="309563"/>
                  <a:pt x="174625" y="309563"/>
                </a:cubicBezTo>
                <a:lnTo>
                  <a:pt x="269875" y="309563"/>
                </a:lnTo>
                <a:cubicBezTo>
                  <a:pt x="296267" y="309563"/>
                  <a:pt x="317500" y="293638"/>
                  <a:pt x="317500" y="273844"/>
                </a:cubicBezTo>
                <a:cubicBezTo>
                  <a:pt x="317500" y="254050"/>
                  <a:pt x="296267" y="238125"/>
                  <a:pt x="269875" y="238125"/>
                </a:cubicBezTo>
                <a:lnTo>
                  <a:pt x="174625" y="238125"/>
                </a:lnTo>
                <a:cubicBezTo>
                  <a:pt x="148233" y="238125"/>
                  <a:pt x="127000" y="254050"/>
                  <a:pt x="127000" y="273844"/>
                </a:cubicBezTo>
                <a:close/>
                <a:moveTo>
                  <a:pt x="349250" y="386953"/>
                </a:moveTo>
                <a:lnTo>
                  <a:pt x="349250" y="392906"/>
                </a:lnTo>
                <a:cubicBezTo>
                  <a:pt x="292100" y="393353"/>
                  <a:pt x="246063" y="428179"/>
                  <a:pt x="246063" y="471041"/>
                </a:cubicBezTo>
                <a:cubicBezTo>
                  <a:pt x="246063" y="509290"/>
                  <a:pt x="282773" y="541883"/>
                  <a:pt x="333177" y="548134"/>
                </a:cubicBezTo>
                <a:lnTo>
                  <a:pt x="415925" y="558552"/>
                </a:lnTo>
                <a:cubicBezTo>
                  <a:pt x="427831" y="560040"/>
                  <a:pt x="436563" y="567779"/>
                  <a:pt x="436563" y="576858"/>
                </a:cubicBezTo>
                <a:cubicBezTo>
                  <a:pt x="436563" y="587127"/>
                  <a:pt x="425450" y="595461"/>
                  <a:pt x="411758" y="595461"/>
                </a:cubicBezTo>
                <a:lnTo>
                  <a:pt x="301625" y="595313"/>
                </a:lnTo>
                <a:cubicBezTo>
                  <a:pt x="279797" y="595313"/>
                  <a:pt x="261937" y="608707"/>
                  <a:pt x="261937" y="625078"/>
                </a:cubicBezTo>
                <a:cubicBezTo>
                  <a:pt x="261937" y="641449"/>
                  <a:pt x="279797" y="654844"/>
                  <a:pt x="301625" y="654844"/>
                </a:cubicBezTo>
                <a:lnTo>
                  <a:pt x="349250" y="654844"/>
                </a:lnTo>
                <a:lnTo>
                  <a:pt x="349250" y="660797"/>
                </a:lnTo>
                <a:cubicBezTo>
                  <a:pt x="349250" y="677168"/>
                  <a:pt x="367109" y="690563"/>
                  <a:pt x="388938" y="690563"/>
                </a:cubicBezTo>
                <a:cubicBezTo>
                  <a:pt x="410766" y="690563"/>
                  <a:pt x="428625" y="677168"/>
                  <a:pt x="428625" y="660797"/>
                </a:cubicBezTo>
                <a:lnTo>
                  <a:pt x="428625" y="653802"/>
                </a:lnTo>
                <a:cubicBezTo>
                  <a:pt x="478234" y="647700"/>
                  <a:pt x="515938" y="615553"/>
                  <a:pt x="515938" y="576709"/>
                </a:cubicBezTo>
                <a:cubicBezTo>
                  <a:pt x="515938" y="538460"/>
                  <a:pt x="479227" y="505867"/>
                  <a:pt x="428823" y="499616"/>
                </a:cubicBezTo>
                <a:lnTo>
                  <a:pt x="346075" y="489198"/>
                </a:lnTo>
                <a:cubicBezTo>
                  <a:pt x="334169" y="487710"/>
                  <a:pt x="325437" y="479971"/>
                  <a:pt x="325437" y="470892"/>
                </a:cubicBezTo>
                <a:cubicBezTo>
                  <a:pt x="325437" y="460623"/>
                  <a:pt x="336550" y="452289"/>
                  <a:pt x="350242" y="452289"/>
                </a:cubicBezTo>
                <a:lnTo>
                  <a:pt x="444500" y="452289"/>
                </a:lnTo>
                <a:cubicBezTo>
                  <a:pt x="466328" y="452289"/>
                  <a:pt x="484187" y="438894"/>
                  <a:pt x="484187" y="422523"/>
                </a:cubicBezTo>
                <a:cubicBezTo>
                  <a:pt x="484187" y="406152"/>
                  <a:pt x="466328" y="392757"/>
                  <a:pt x="444500" y="392757"/>
                </a:cubicBezTo>
                <a:lnTo>
                  <a:pt x="428625" y="392757"/>
                </a:lnTo>
                <a:lnTo>
                  <a:pt x="428625" y="386804"/>
                </a:lnTo>
                <a:cubicBezTo>
                  <a:pt x="428625" y="370433"/>
                  <a:pt x="410766" y="357039"/>
                  <a:pt x="388937" y="357039"/>
                </a:cubicBezTo>
                <a:cubicBezTo>
                  <a:pt x="367109" y="357039"/>
                  <a:pt x="349250" y="370433"/>
                  <a:pt x="349250" y="386804"/>
                </a:cubicBezTo>
                <a:close/>
              </a:path>
            </a:pathLst>
          </a:custGeom>
          <a:solidFill>
            <a:srgbClr val="8A8A8A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5207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报价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70000" y="6096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一次交易，价格竞争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6000" y="2921000"/>
            <a:ext cx="0" cy="457200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874000" y="2921000"/>
            <a:ext cx="7366000" cy="457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7874000" y="2921000"/>
            <a:ext cx="2286000" cy="4572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5" name="Text 13"/>
          <p:cNvSpPr/>
          <p:nvPr/>
        </p:nvSpPr>
        <p:spPr>
          <a:xfrm>
            <a:off x="7874000" y="29210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经营型销售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0" y="36195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继续问：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为什么开发？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目标客户是谁？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准备卖多少钱？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渠道在哪里？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竞争产品是什么？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供应链最大的风险是什么？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8" name="Text 16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每个重点客户必须回答的问题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19200" y="1371600"/>
            <a:ext cx="139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客户诊断六问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6000" y="2032000"/>
            <a:ext cx="4572000" cy="177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1206500" y="2159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06500" y="2667000"/>
            <a:ext cx="412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客户真正经营目标是什么？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42000" y="2032000"/>
            <a:ext cx="4572000" cy="177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6032500" y="2159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32500" y="2667000"/>
            <a:ext cx="412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客户目前最大问题是什么？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668000" y="2032000"/>
            <a:ext cx="4572000" cy="177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858500" y="2159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858500" y="2667000"/>
            <a:ext cx="412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哪些是事实？哪些是假设？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16000" y="4064000"/>
            <a:ext cx="4572000" cy="177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1206500" y="4191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06500" y="4699000"/>
            <a:ext cx="412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我们可以提供什么方案？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842000" y="4064000"/>
            <a:ext cx="4572000" cy="1778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6032500" y="4191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2500" y="4699000"/>
            <a:ext cx="412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方案创造什么价值？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668000" y="4064000"/>
            <a:ext cx="4572000" cy="177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0858500" y="4191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858500" y="4699000"/>
            <a:ext cx="412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下一步谁负责推进？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16000" y="6350000"/>
            <a:ext cx="14224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6000" y="6350000"/>
            <a:ext cx="50800" cy="1524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25" name="Text 23"/>
          <p:cNvSpPr/>
          <p:nvPr/>
        </p:nvSpPr>
        <p:spPr>
          <a:xfrm>
            <a:off x="1397000" y="6540500"/>
            <a:ext cx="1346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每个重点客户都应该有一份完整的诊断档案，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而不是只有一份报价单。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不是所有客户都应该投入同样资源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4445000" cy="609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651000"/>
            <a:ext cx="4445000" cy="635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444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A类客户 · 战略经营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94000" y="2667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-39687"/>
                </a:moveTo>
                <a:cubicBezTo>
                  <a:pt x="342588" y="-39687"/>
                  <a:pt x="362857" y="-21952"/>
                  <a:pt x="362857" y="0"/>
                </a:cubicBezTo>
                <a:lnTo>
                  <a:pt x="362857" y="39688"/>
                </a:lnTo>
                <a:lnTo>
                  <a:pt x="408214" y="39688"/>
                </a:lnTo>
                <a:cubicBezTo>
                  <a:pt x="433302" y="39688"/>
                  <a:pt x="453571" y="57423"/>
                  <a:pt x="453571" y="79375"/>
                </a:cubicBezTo>
                <a:cubicBezTo>
                  <a:pt x="453571" y="101327"/>
                  <a:pt x="433302" y="119062"/>
                  <a:pt x="408214" y="119062"/>
                </a:cubicBezTo>
                <a:lnTo>
                  <a:pt x="362857" y="119062"/>
                </a:lnTo>
                <a:lnTo>
                  <a:pt x="362857" y="198438"/>
                </a:lnTo>
                <a:lnTo>
                  <a:pt x="580855" y="198438"/>
                </a:lnTo>
                <a:cubicBezTo>
                  <a:pt x="610762" y="198438"/>
                  <a:pt x="635000" y="219646"/>
                  <a:pt x="635000" y="245814"/>
                </a:cubicBezTo>
                <a:cubicBezTo>
                  <a:pt x="635000" y="253752"/>
                  <a:pt x="632732" y="261565"/>
                  <a:pt x="628338" y="268511"/>
                </a:cubicBezTo>
                <a:lnTo>
                  <a:pt x="498929" y="476250"/>
                </a:lnTo>
                <a:lnTo>
                  <a:pt x="578587" y="563438"/>
                </a:lnTo>
                <a:cubicBezTo>
                  <a:pt x="585674" y="571252"/>
                  <a:pt x="589643" y="580926"/>
                  <a:pt x="589643" y="590972"/>
                </a:cubicBezTo>
                <a:cubicBezTo>
                  <a:pt x="589643" y="615280"/>
                  <a:pt x="567106" y="635000"/>
                  <a:pt x="539325" y="635000"/>
                </a:cubicBezTo>
                <a:lnTo>
                  <a:pt x="95675" y="635000"/>
                </a:lnTo>
                <a:cubicBezTo>
                  <a:pt x="67894" y="635000"/>
                  <a:pt x="45357" y="615280"/>
                  <a:pt x="45357" y="590972"/>
                </a:cubicBezTo>
                <a:cubicBezTo>
                  <a:pt x="45357" y="580926"/>
                  <a:pt x="49184" y="571252"/>
                  <a:pt x="56413" y="563438"/>
                </a:cubicBezTo>
                <a:lnTo>
                  <a:pt x="136071" y="476250"/>
                </a:lnTo>
                <a:lnTo>
                  <a:pt x="6662" y="268635"/>
                </a:lnTo>
                <a:cubicBezTo>
                  <a:pt x="2268" y="261565"/>
                  <a:pt x="0" y="253752"/>
                  <a:pt x="0" y="245814"/>
                </a:cubicBezTo>
                <a:cubicBezTo>
                  <a:pt x="0" y="219646"/>
                  <a:pt x="24238" y="198438"/>
                  <a:pt x="54145" y="198438"/>
                </a:cubicBezTo>
                <a:lnTo>
                  <a:pt x="272143" y="198438"/>
                </a:lnTo>
                <a:lnTo>
                  <a:pt x="272143" y="119062"/>
                </a:lnTo>
                <a:lnTo>
                  <a:pt x="226786" y="119062"/>
                </a:lnTo>
                <a:cubicBezTo>
                  <a:pt x="201698" y="119062"/>
                  <a:pt x="181429" y="101327"/>
                  <a:pt x="181429" y="79375"/>
                </a:cubicBezTo>
                <a:cubicBezTo>
                  <a:pt x="181429" y="57423"/>
                  <a:pt x="201698" y="39688"/>
                  <a:pt x="226786" y="39688"/>
                </a:cubicBezTo>
                <a:lnTo>
                  <a:pt x="272143" y="39688"/>
                </a:lnTo>
                <a:lnTo>
                  <a:pt x="272143" y="0"/>
                </a:lnTo>
                <a:cubicBezTo>
                  <a:pt x="272143" y="-21952"/>
                  <a:pt x="292412" y="-39687"/>
                  <a:pt x="317500" y="-39687"/>
                </a:cubicBezTo>
                <a:close/>
              </a:path>
            </a:pathLst>
          </a:custGeom>
          <a:solidFill>
            <a:srgbClr val="C4A265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556000"/>
            <a:ext cx="3937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000" b="1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动作</a:t>
            </a:r>
            <a:endParaRPr lang="en-US" sz="2000" dirty="0"/>
          </a:p>
          <a:p>
            <a:pPr algn="l"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深度沟通</a:t>
            </a:r>
            <a:endParaRPr lang="en-US" sz="2000" dirty="0"/>
          </a:p>
          <a:p>
            <a:pPr algn="l"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主动规划</a:t>
            </a:r>
            <a:endParaRPr lang="en-US" sz="2000" dirty="0"/>
          </a:p>
          <a:p>
            <a:pPr algn="l"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长期合作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42000" y="1651000"/>
            <a:ext cx="4445000" cy="609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5842000" y="1651000"/>
            <a:ext cx="4445000" cy="6350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1" name="Text 9"/>
          <p:cNvSpPr/>
          <p:nvPr/>
        </p:nvSpPr>
        <p:spPr>
          <a:xfrm>
            <a:off x="5842000" y="1651000"/>
            <a:ext cx="444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B类客户 · 项目经营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0" y="2667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48047" y="59531"/>
                </a:moveTo>
                <a:lnTo>
                  <a:pt x="386953" y="59531"/>
                </a:lnTo>
                <a:cubicBezTo>
                  <a:pt x="392410" y="59531"/>
                  <a:pt x="396875" y="63996"/>
                  <a:pt x="396875" y="69453"/>
                </a:cubicBezTo>
                <a:lnTo>
                  <a:pt x="396875" y="119062"/>
                </a:lnTo>
                <a:lnTo>
                  <a:pt x="238125" y="119062"/>
                </a:lnTo>
                <a:lnTo>
                  <a:pt x="238125" y="69453"/>
                </a:lnTo>
                <a:cubicBezTo>
                  <a:pt x="238125" y="63996"/>
                  <a:pt x="242590" y="59531"/>
                  <a:pt x="248047" y="59531"/>
                </a:cubicBezTo>
                <a:close/>
                <a:moveTo>
                  <a:pt x="178594" y="69453"/>
                </a:moveTo>
                <a:lnTo>
                  <a:pt x="178594" y="119062"/>
                </a:lnTo>
                <a:lnTo>
                  <a:pt x="79375" y="119062"/>
                </a:lnTo>
                <a:cubicBezTo>
                  <a:pt x="35595" y="119062"/>
                  <a:pt x="0" y="154657"/>
                  <a:pt x="0" y="198438"/>
                </a:cubicBezTo>
                <a:lnTo>
                  <a:pt x="0" y="317500"/>
                </a:lnTo>
                <a:lnTo>
                  <a:pt x="635000" y="317500"/>
                </a:lnTo>
                <a:lnTo>
                  <a:pt x="635000" y="198438"/>
                </a:lnTo>
                <a:cubicBezTo>
                  <a:pt x="635000" y="154657"/>
                  <a:pt x="599405" y="119062"/>
                  <a:pt x="555625" y="119062"/>
                </a:cubicBezTo>
                <a:lnTo>
                  <a:pt x="456406" y="119062"/>
                </a:lnTo>
                <a:lnTo>
                  <a:pt x="456406" y="69453"/>
                </a:lnTo>
                <a:cubicBezTo>
                  <a:pt x="456406" y="31130"/>
                  <a:pt x="425276" y="0"/>
                  <a:pt x="386953" y="0"/>
                </a:cubicBezTo>
                <a:lnTo>
                  <a:pt x="248047" y="0"/>
                </a:lnTo>
                <a:cubicBezTo>
                  <a:pt x="209724" y="0"/>
                  <a:pt x="178594" y="31130"/>
                  <a:pt x="178594" y="69453"/>
                </a:cubicBezTo>
                <a:close/>
                <a:moveTo>
                  <a:pt x="635000" y="377031"/>
                </a:moveTo>
                <a:lnTo>
                  <a:pt x="396875" y="377031"/>
                </a:lnTo>
                <a:lnTo>
                  <a:pt x="396875" y="396875"/>
                </a:lnTo>
                <a:cubicBezTo>
                  <a:pt x="396875" y="418827"/>
                  <a:pt x="379140" y="436563"/>
                  <a:pt x="357188" y="436563"/>
                </a:cubicBezTo>
                <a:lnTo>
                  <a:pt x="277813" y="436563"/>
                </a:lnTo>
                <a:cubicBezTo>
                  <a:pt x="255860" y="436563"/>
                  <a:pt x="238125" y="418827"/>
                  <a:pt x="238125" y="396875"/>
                </a:cubicBezTo>
                <a:lnTo>
                  <a:pt x="238125" y="377031"/>
                </a:lnTo>
                <a:lnTo>
                  <a:pt x="0" y="377031"/>
                </a:lnTo>
                <a:lnTo>
                  <a:pt x="0" y="515937"/>
                </a:lnTo>
                <a:cubicBezTo>
                  <a:pt x="0" y="559718"/>
                  <a:pt x="35595" y="595313"/>
                  <a:pt x="79375" y="595313"/>
                </a:cubicBezTo>
                <a:lnTo>
                  <a:pt x="555625" y="595313"/>
                </a:lnTo>
                <a:cubicBezTo>
                  <a:pt x="599405" y="595313"/>
                  <a:pt x="635000" y="559718"/>
                  <a:pt x="635000" y="515937"/>
                </a:cubicBezTo>
                <a:lnTo>
                  <a:pt x="635000" y="377031"/>
                </a:lnTo>
                <a:close/>
              </a:path>
            </a:pathLst>
          </a:custGeom>
          <a:solidFill>
            <a:srgbClr val="8A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3556000"/>
            <a:ext cx="393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动作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围绕机会推进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668000" y="1651000"/>
            <a:ext cx="4572000" cy="609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68000" y="1651000"/>
            <a:ext cx="4572000" cy="63500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0" y="165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C类客户 · 标准服务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573000" y="2667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523592" y="158750"/>
                </a:moveTo>
                <a:lnTo>
                  <a:pt x="474974" y="99219"/>
                </a:lnTo>
                <a:lnTo>
                  <a:pt x="160167" y="99219"/>
                </a:lnTo>
                <a:lnTo>
                  <a:pt x="111550" y="158750"/>
                </a:lnTo>
                <a:lnTo>
                  <a:pt x="523592" y="158750"/>
                </a:lnTo>
                <a:close/>
                <a:moveTo>
                  <a:pt x="0" y="184175"/>
                </a:moveTo>
                <a:cubicBezTo>
                  <a:pt x="0" y="167680"/>
                  <a:pt x="5953" y="151557"/>
                  <a:pt x="16867" y="138038"/>
                </a:cubicBezTo>
                <a:lnTo>
                  <a:pt x="86320" y="53082"/>
                </a:lnTo>
                <a:cubicBezTo>
                  <a:pt x="103329" y="32246"/>
                  <a:pt x="130827" y="19844"/>
                  <a:pt x="160026" y="19844"/>
                </a:cubicBezTo>
                <a:lnTo>
                  <a:pt x="474833" y="19844"/>
                </a:lnTo>
                <a:cubicBezTo>
                  <a:pt x="504173" y="19844"/>
                  <a:pt x="531671" y="32246"/>
                  <a:pt x="548680" y="53082"/>
                </a:cubicBezTo>
                <a:lnTo>
                  <a:pt x="617991" y="138038"/>
                </a:lnTo>
                <a:cubicBezTo>
                  <a:pt x="629047" y="151557"/>
                  <a:pt x="634858" y="167680"/>
                  <a:pt x="634858" y="184175"/>
                </a:cubicBezTo>
                <a:lnTo>
                  <a:pt x="635000" y="515937"/>
                </a:lnTo>
                <a:cubicBezTo>
                  <a:pt x="635000" y="559718"/>
                  <a:pt x="594320" y="595313"/>
                  <a:pt x="544286" y="595313"/>
                </a:cubicBezTo>
                <a:lnTo>
                  <a:pt x="90714" y="595313"/>
                </a:lnTo>
                <a:cubicBezTo>
                  <a:pt x="40680" y="595313"/>
                  <a:pt x="0" y="559718"/>
                  <a:pt x="0" y="515937"/>
                </a:cubicBezTo>
                <a:lnTo>
                  <a:pt x="0" y="184175"/>
                </a:lnTo>
                <a:close/>
              </a:path>
            </a:pathLst>
          </a:custGeom>
          <a:solidFill>
            <a:srgbClr val="C0C0C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35560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动作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标准产品</a:t>
            </a:r>
            <a:endParaRPr lang="en-US" sz="2000" dirty="0"/>
          </a:p>
          <a:p>
            <a:pPr algn="l"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标准流程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销售管理指标升级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6604000" cy="5842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651000"/>
            <a:ext cx="1524000" cy="4572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过去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41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关注指标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70000" y="3048000"/>
            <a:ext cx="6096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Shape 7"/>
          <p:cNvSpPr/>
          <p:nvPr/>
        </p:nvSpPr>
        <p:spPr>
          <a:xfrm>
            <a:off x="1270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1025" y="50979"/>
                </a:moveTo>
                <a:cubicBezTo>
                  <a:pt x="39449" y="42297"/>
                  <a:pt x="20651" y="42297"/>
                  <a:pt x="9075" y="50979"/>
                </a:cubicBezTo>
                <a:cubicBezTo>
                  <a:pt x="-2500" y="59660"/>
                  <a:pt x="-2500" y="73759"/>
                  <a:pt x="9075" y="82441"/>
                </a:cubicBezTo>
                <a:lnTo>
                  <a:pt x="136313" y="177800"/>
                </a:lnTo>
                <a:lnTo>
                  <a:pt x="9168" y="273229"/>
                </a:lnTo>
                <a:cubicBezTo>
                  <a:pt x="-2408" y="281910"/>
                  <a:pt x="-2408" y="296009"/>
                  <a:pt x="9168" y="304691"/>
                </a:cubicBezTo>
                <a:cubicBezTo>
                  <a:pt x="20743" y="313373"/>
                  <a:pt x="39542" y="313373"/>
                  <a:pt x="51118" y="304691"/>
                </a:cubicBezTo>
                <a:lnTo>
                  <a:pt x="178263" y="209262"/>
                </a:lnTo>
                <a:lnTo>
                  <a:pt x="305501" y="304621"/>
                </a:lnTo>
                <a:cubicBezTo>
                  <a:pt x="317077" y="313303"/>
                  <a:pt x="335875" y="313303"/>
                  <a:pt x="347451" y="304621"/>
                </a:cubicBezTo>
                <a:cubicBezTo>
                  <a:pt x="359026" y="295940"/>
                  <a:pt x="359026" y="281841"/>
                  <a:pt x="347451" y="273159"/>
                </a:cubicBezTo>
                <a:lnTo>
                  <a:pt x="220213" y="177800"/>
                </a:lnTo>
                <a:lnTo>
                  <a:pt x="347358" y="82371"/>
                </a:lnTo>
                <a:cubicBezTo>
                  <a:pt x="358934" y="73690"/>
                  <a:pt x="358934" y="59591"/>
                  <a:pt x="347358" y="50909"/>
                </a:cubicBezTo>
                <a:cubicBezTo>
                  <a:pt x="335783" y="42228"/>
                  <a:pt x="316984" y="42228"/>
                  <a:pt x="305409" y="50909"/>
                </a:cubicBezTo>
                <a:lnTo>
                  <a:pt x="178263" y="146338"/>
                </a:lnTo>
                <a:lnTo>
                  <a:pt x="51025" y="50979"/>
                </a:lnTo>
                <a:close/>
              </a:path>
            </a:pathLst>
          </a:custGeom>
          <a:solidFill>
            <a:srgbClr val="8A8A8A"/>
          </a:solidFill>
          <a:ln/>
        </p:spPr>
      </p:sp>
      <p:sp>
        <p:nvSpPr>
          <p:cNvPr id="10" name="Text 8"/>
          <p:cNvSpPr/>
          <p:nvPr/>
        </p:nvSpPr>
        <p:spPr>
          <a:xfrm>
            <a:off x="1778000" y="3403600"/>
            <a:ext cx="533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报价数量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70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1025" y="50979"/>
                </a:moveTo>
                <a:cubicBezTo>
                  <a:pt x="39449" y="42297"/>
                  <a:pt x="20651" y="42297"/>
                  <a:pt x="9075" y="50979"/>
                </a:cubicBezTo>
                <a:cubicBezTo>
                  <a:pt x="-2500" y="59660"/>
                  <a:pt x="-2500" y="73759"/>
                  <a:pt x="9075" y="82441"/>
                </a:cubicBezTo>
                <a:lnTo>
                  <a:pt x="136313" y="177800"/>
                </a:lnTo>
                <a:lnTo>
                  <a:pt x="9168" y="273229"/>
                </a:lnTo>
                <a:cubicBezTo>
                  <a:pt x="-2408" y="281910"/>
                  <a:pt x="-2408" y="296009"/>
                  <a:pt x="9168" y="304691"/>
                </a:cubicBezTo>
                <a:cubicBezTo>
                  <a:pt x="20743" y="313373"/>
                  <a:pt x="39542" y="313373"/>
                  <a:pt x="51118" y="304691"/>
                </a:cubicBezTo>
                <a:lnTo>
                  <a:pt x="178263" y="209262"/>
                </a:lnTo>
                <a:lnTo>
                  <a:pt x="305501" y="304621"/>
                </a:lnTo>
                <a:cubicBezTo>
                  <a:pt x="317077" y="313303"/>
                  <a:pt x="335875" y="313303"/>
                  <a:pt x="347451" y="304621"/>
                </a:cubicBezTo>
                <a:cubicBezTo>
                  <a:pt x="359026" y="295940"/>
                  <a:pt x="359026" y="281841"/>
                  <a:pt x="347451" y="273159"/>
                </a:cubicBezTo>
                <a:lnTo>
                  <a:pt x="220213" y="177800"/>
                </a:lnTo>
                <a:lnTo>
                  <a:pt x="347358" y="82371"/>
                </a:lnTo>
                <a:cubicBezTo>
                  <a:pt x="358934" y="73690"/>
                  <a:pt x="358934" y="59591"/>
                  <a:pt x="347358" y="50909"/>
                </a:cubicBezTo>
                <a:cubicBezTo>
                  <a:pt x="335783" y="42228"/>
                  <a:pt x="316984" y="42228"/>
                  <a:pt x="305409" y="50909"/>
                </a:cubicBezTo>
                <a:lnTo>
                  <a:pt x="178263" y="146338"/>
                </a:lnTo>
                <a:lnTo>
                  <a:pt x="51025" y="50979"/>
                </a:lnTo>
                <a:close/>
              </a:path>
            </a:pathLst>
          </a:custGeom>
          <a:solidFill>
            <a:srgbClr val="8A8A8A"/>
          </a:solidFill>
          <a:ln/>
        </p:spPr>
      </p:sp>
      <p:sp>
        <p:nvSpPr>
          <p:cNvPr id="12" name="Text 10"/>
          <p:cNvSpPr/>
          <p:nvPr/>
        </p:nvSpPr>
        <p:spPr>
          <a:xfrm>
            <a:off x="1778000" y="4038600"/>
            <a:ext cx="533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成交金额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270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1025" y="50979"/>
                </a:moveTo>
                <a:cubicBezTo>
                  <a:pt x="39449" y="42297"/>
                  <a:pt x="20651" y="42297"/>
                  <a:pt x="9075" y="50979"/>
                </a:cubicBezTo>
                <a:cubicBezTo>
                  <a:pt x="-2500" y="59660"/>
                  <a:pt x="-2500" y="73759"/>
                  <a:pt x="9075" y="82441"/>
                </a:cubicBezTo>
                <a:lnTo>
                  <a:pt x="136313" y="177800"/>
                </a:lnTo>
                <a:lnTo>
                  <a:pt x="9168" y="273229"/>
                </a:lnTo>
                <a:cubicBezTo>
                  <a:pt x="-2408" y="281910"/>
                  <a:pt x="-2408" y="296009"/>
                  <a:pt x="9168" y="304691"/>
                </a:cubicBezTo>
                <a:cubicBezTo>
                  <a:pt x="20743" y="313373"/>
                  <a:pt x="39542" y="313373"/>
                  <a:pt x="51118" y="304691"/>
                </a:cubicBezTo>
                <a:lnTo>
                  <a:pt x="178263" y="209262"/>
                </a:lnTo>
                <a:lnTo>
                  <a:pt x="305501" y="304621"/>
                </a:lnTo>
                <a:cubicBezTo>
                  <a:pt x="317077" y="313303"/>
                  <a:pt x="335875" y="313303"/>
                  <a:pt x="347451" y="304621"/>
                </a:cubicBezTo>
                <a:cubicBezTo>
                  <a:pt x="359026" y="295940"/>
                  <a:pt x="359026" y="281841"/>
                  <a:pt x="347451" y="273159"/>
                </a:cubicBezTo>
                <a:lnTo>
                  <a:pt x="220213" y="177800"/>
                </a:lnTo>
                <a:lnTo>
                  <a:pt x="347358" y="82371"/>
                </a:lnTo>
                <a:cubicBezTo>
                  <a:pt x="358934" y="73690"/>
                  <a:pt x="358934" y="59591"/>
                  <a:pt x="347358" y="50909"/>
                </a:cubicBezTo>
                <a:cubicBezTo>
                  <a:pt x="335783" y="42228"/>
                  <a:pt x="316984" y="42228"/>
                  <a:pt x="305409" y="50909"/>
                </a:cubicBezTo>
                <a:lnTo>
                  <a:pt x="178263" y="146338"/>
                </a:lnTo>
                <a:lnTo>
                  <a:pt x="51025" y="50979"/>
                </a:lnTo>
                <a:close/>
              </a:path>
            </a:pathLst>
          </a:custGeom>
          <a:solidFill>
            <a:srgbClr val="8A8A8A"/>
          </a:solidFill>
          <a:ln/>
        </p:spPr>
      </p:sp>
      <p:sp>
        <p:nvSpPr>
          <p:cNvPr id="14" name="Text 12"/>
          <p:cNvSpPr/>
          <p:nvPr/>
        </p:nvSpPr>
        <p:spPr>
          <a:xfrm>
            <a:off x="1778000" y="4673600"/>
            <a:ext cx="533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订单数量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70000" y="5588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以交易结果为导向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24800" y="4445000"/>
            <a:ext cx="406400" cy="0"/>
          </a:xfrm>
          <a:prstGeom prst="straightConnector1">
            <a:avLst/>
          </a:prstGeom>
          <a:noFill/>
          <a:ln w="381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636000" y="1651000"/>
            <a:ext cx="6604000" cy="584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6000" y="1651000"/>
            <a:ext cx="1524000" cy="4572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90000" y="241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关注指标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890000" y="3048000"/>
            <a:ext cx="6096000" cy="127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22" name="Shape 20"/>
          <p:cNvSpPr/>
          <p:nvPr/>
        </p:nvSpPr>
        <p:spPr>
          <a:xfrm>
            <a:off x="8890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123" y="48687"/>
                </a:moveTo>
                <a:cubicBezTo>
                  <a:pt x="356473" y="55910"/>
                  <a:pt x="359013" y="69800"/>
                  <a:pt x="350758" y="79732"/>
                </a:cubicBezTo>
                <a:lnTo>
                  <a:pt x="147558" y="324207"/>
                </a:lnTo>
                <a:cubicBezTo>
                  <a:pt x="143193" y="329486"/>
                  <a:pt x="136446" y="332750"/>
                  <a:pt x="128984" y="333306"/>
                </a:cubicBezTo>
                <a:cubicBezTo>
                  <a:pt x="121523" y="333861"/>
                  <a:pt x="114300" y="331430"/>
                  <a:pt x="109061" y="326846"/>
                </a:cubicBezTo>
                <a:lnTo>
                  <a:pt x="7461" y="237946"/>
                </a:lnTo>
                <a:cubicBezTo>
                  <a:pt x="-2461" y="229265"/>
                  <a:pt x="-2461" y="215166"/>
                  <a:pt x="7461" y="206484"/>
                </a:cubicBezTo>
                <a:cubicBezTo>
                  <a:pt x="17383" y="197803"/>
                  <a:pt x="33496" y="197803"/>
                  <a:pt x="43418" y="206484"/>
                </a:cubicBezTo>
                <a:lnTo>
                  <a:pt x="123984" y="276979"/>
                </a:lnTo>
                <a:lnTo>
                  <a:pt x="309721" y="53548"/>
                </a:lnTo>
                <a:cubicBezTo>
                  <a:pt x="317976" y="43617"/>
                  <a:pt x="333851" y="41394"/>
                  <a:pt x="345202" y="48617"/>
                </a:cubicBezTo>
                <a:close/>
              </a:path>
            </a:pathLst>
          </a:custGeom>
          <a:solidFill>
            <a:srgbClr val="C4A265"/>
          </a:solidFill>
          <a:ln/>
        </p:spPr>
      </p:sp>
      <p:sp>
        <p:nvSpPr>
          <p:cNvPr id="23" name="Text 21"/>
          <p:cNvSpPr/>
          <p:nvPr/>
        </p:nvSpPr>
        <p:spPr>
          <a:xfrm>
            <a:off x="9398000" y="3403600"/>
            <a:ext cx="533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客户理解程度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890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123" y="48687"/>
                </a:moveTo>
                <a:cubicBezTo>
                  <a:pt x="356473" y="55910"/>
                  <a:pt x="359013" y="69800"/>
                  <a:pt x="350758" y="79732"/>
                </a:cubicBezTo>
                <a:lnTo>
                  <a:pt x="147558" y="324207"/>
                </a:lnTo>
                <a:cubicBezTo>
                  <a:pt x="143193" y="329486"/>
                  <a:pt x="136446" y="332750"/>
                  <a:pt x="128984" y="333306"/>
                </a:cubicBezTo>
                <a:cubicBezTo>
                  <a:pt x="121523" y="333861"/>
                  <a:pt x="114300" y="331430"/>
                  <a:pt x="109061" y="326846"/>
                </a:cubicBezTo>
                <a:lnTo>
                  <a:pt x="7461" y="237946"/>
                </a:lnTo>
                <a:cubicBezTo>
                  <a:pt x="-2461" y="229265"/>
                  <a:pt x="-2461" y="215166"/>
                  <a:pt x="7461" y="206484"/>
                </a:cubicBezTo>
                <a:cubicBezTo>
                  <a:pt x="17383" y="197803"/>
                  <a:pt x="33496" y="197803"/>
                  <a:pt x="43418" y="206484"/>
                </a:cubicBezTo>
                <a:lnTo>
                  <a:pt x="123984" y="276979"/>
                </a:lnTo>
                <a:lnTo>
                  <a:pt x="309721" y="53548"/>
                </a:lnTo>
                <a:cubicBezTo>
                  <a:pt x="317976" y="43617"/>
                  <a:pt x="333851" y="41394"/>
                  <a:pt x="345202" y="48617"/>
                </a:cubicBezTo>
                <a:close/>
              </a:path>
            </a:pathLst>
          </a:custGeom>
          <a:solidFill>
            <a:srgbClr val="C4A265"/>
          </a:solidFill>
          <a:ln/>
        </p:spPr>
      </p:sp>
      <p:sp>
        <p:nvSpPr>
          <p:cNvPr id="25" name="Text 23"/>
          <p:cNvSpPr/>
          <p:nvPr/>
        </p:nvSpPr>
        <p:spPr>
          <a:xfrm>
            <a:off x="9398000" y="4038600"/>
            <a:ext cx="533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客户机会数量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890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123" y="48687"/>
                </a:moveTo>
                <a:cubicBezTo>
                  <a:pt x="356473" y="55910"/>
                  <a:pt x="359013" y="69800"/>
                  <a:pt x="350758" y="79732"/>
                </a:cubicBezTo>
                <a:lnTo>
                  <a:pt x="147558" y="324207"/>
                </a:lnTo>
                <a:cubicBezTo>
                  <a:pt x="143193" y="329486"/>
                  <a:pt x="136446" y="332750"/>
                  <a:pt x="128984" y="333306"/>
                </a:cubicBezTo>
                <a:cubicBezTo>
                  <a:pt x="121523" y="333861"/>
                  <a:pt x="114300" y="331430"/>
                  <a:pt x="109061" y="326846"/>
                </a:cubicBezTo>
                <a:lnTo>
                  <a:pt x="7461" y="237946"/>
                </a:lnTo>
                <a:cubicBezTo>
                  <a:pt x="-2461" y="229265"/>
                  <a:pt x="-2461" y="215166"/>
                  <a:pt x="7461" y="206484"/>
                </a:cubicBezTo>
                <a:cubicBezTo>
                  <a:pt x="17383" y="197803"/>
                  <a:pt x="33496" y="197803"/>
                  <a:pt x="43418" y="206484"/>
                </a:cubicBezTo>
                <a:lnTo>
                  <a:pt x="123984" y="276979"/>
                </a:lnTo>
                <a:lnTo>
                  <a:pt x="309721" y="53548"/>
                </a:lnTo>
                <a:cubicBezTo>
                  <a:pt x="317976" y="43617"/>
                  <a:pt x="333851" y="41394"/>
                  <a:pt x="345202" y="48617"/>
                </a:cubicBezTo>
                <a:close/>
              </a:path>
            </a:pathLst>
          </a:custGeom>
          <a:solidFill>
            <a:srgbClr val="C4A265"/>
          </a:solidFill>
          <a:ln/>
        </p:spPr>
      </p:sp>
      <p:sp>
        <p:nvSpPr>
          <p:cNvPr id="27" name="Text 25"/>
          <p:cNvSpPr/>
          <p:nvPr/>
        </p:nvSpPr>
        <p:spPr>
          <a:xfrm>
            <a:off x="9398000" y="4673600"/>
            <a:ext cx="533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主动方案数量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8900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5123" y="48687"/>
                </a:moveTo>
                <a:cubicBezTo>
                  <a:pt x="356473" y="55910"/>
                  <a:pt x="359013" y="69800"/>
                  <a:pt x="350758" y="79732"/>
                </a:cubicBezTo>
                <a:lnTo>
                  <a:pt x="147558" y="324207"/>
                </a:lnTo>
                <a:cubicBezTo>
                  <a:pt x="143193" y="329486"/>
                  <a:pt x="136446" y="332750"/>
                  <a:pt x="128984" y="333306"/>
                </a:cubicBezTo>
                <a:cubicBezTo>
                  <a:pt x="121523" y="333861"/>
                  <a:pt x="114300" y="331430"/>
                  <a:pt x="109061" y="326846"/>
                </a:cubicBezTo>
                <a:lnTo>
                  <a:pt x="7461" y="237946"/>
                </a:lnTo>
                <a:cubicBezTo>
                  <a:pt x="-2461" y="229265"/>
                  <a:pt x="-2461" y="215166"/>
                  <a:pt x="7461" y="206484"/>
                </a:cubicBezTo>
                <a:cubicBezTo>
                  <a:pt x="17383" y="197803"/>
                  <a:pt x="33496" y="197803"/>
                  <a:pt x="43418" y="206484"/>
                </a:cubicBezTo>
                <a:lnTo>
                  <a:pt x="123984" y="276979"/>
                </a:lnTo>
                <a:lnTo>
                  <a:pt x="309721" y="53548"/>
                </a:lnTo>
                <a:cubicBezTo>
                  <a:pt x="317976" y="43617"/>
                  <a:pt x="333851" y="41394"/>
                  <a:pt x="345202" y="48617"/>
                </a:cubicBezTo>
                <a:close/>
              </a:path>
            </a:pathLst>
          </a:custGeom>
          <a:solidFill>
            <a:srgbClr val="C4A265"/>
          </a:solidFill>
          <a:ln/>
        </p:spPr>
      </p:sp>
      <p:sp>
        <p:nvSpPr>
          <p:cNvPr id="29" name="Text 27"/>
          <p:cNvSpPr/>
          <p:nvPr/>
        </p:nvSpPr>
        <p:spPr>
          <a:xfrm>
            <a:off x="9398000" y="5308600"/>
            <a:ext cx="533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长期合作价值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890000" y="6096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以客户经营为导向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销售经营复盘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19200" y="1371600"/>
            <a:ext cx="139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管理者每周检查问题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6000" y="2159000"/>
            <a:ext cx="14224000" cy="101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28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59000" y="2286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本周经营了哪些客户？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16000" y="3365500"/>
            <a:ext cx="14224000" cy="101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492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59000" y="3492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发现客户哪些新机会？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6000" y="4572000"/>
            <a:ext cx="14224000" cy="101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699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59000" y="4699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客户未来发展方向是什么？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16000" y="5778500"/>
            <a:ext cx="14224000" cy="101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5905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159000" y="5905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提出了什么价值方案？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16000" y="6985000"/>
            <a:ext cx="14224000" cy="101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711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59000" y="7112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哪些客户可能成为战略伙伴？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从报价模式到经营模式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6000" y="1524000"/>
            <a:ext cx="14224000" cy="76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587500"/>
            <a:ext cx="1371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场景：客户说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"我要5000个产品"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16000" y="2667000"/>
            <a:ext cx="6604000" cy="355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667000"/>
            <a:ext cx="2032000" cy="4572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6670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3655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询价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报价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</a:t>
            </a:r>
            <a:endParaRPr lang="en-US" sz="2000" dirty="0"/>
          </a:p>
          <a:p>
            <a:pPr algn="ctr">
              <a:lnSpc>
                <a:spcPct val="160000"/>
              </a:lnSpc>
              <a:spcBef>
                <a:spcPts val="200"/>
              </a:spcBef>
            </a:pPr>
            <a:r>
              <a:rPr lang="en-US" sz="20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等结果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24800" y="4318000"/>
            <a:ext cx="406400" cy="0"/>
          </a:xfrm>
          <a:prstGeom prst="straightConnector1">
            <a:avLst/>
          </a:prstGeom>
          <a:noFill/>
          <a:ln w="381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636000" y="2667000"/>
            <a:ext cx="6604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36000" y="2667000"/>
            <a:ext cx="2032000" cy="4572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6670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经营方式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90000" y="33655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询问：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为什么做？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目标市场是什么？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希望解决什么问题？</a:t>
            </a:r>
            <a:endParaRPr lang="en-US" sz="1800" dirty="0"/>
          </a:p>
          <a:p>
            <a:pPr algn="l" marL="285750" indent="-28575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还能提供什么帮助？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16000" y="6731000"/>
            <a:ext cx="14224000" cy="1270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6731000"/>
            <a:ext cx="50800" cy="12700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17" name="Text 15"/>
          <p:cNvSpPr/>
          <p:nvPr/>
        </p:nvSpPr>
        <p:spPr>
          <a:xfrm>
            <a:off x="1397000" y="70485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讨论：哪一种方式更容易形成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长期合作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50800" cy="304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112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1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销售经营升级落地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19200" y="1371600"/>
            <a:ext cx="139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30天行动计划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6000" y="2159000"/>
            <a:ext cx="14224000" cy="101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222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每个销售选择 </a:t>
            </a:r>
            <a:pPr algn="l">
              <a:lnSpc>
                <a:spcPct val="120000"/>
              </a:lnSpc>
            </a:pPr>
            <a:r>
              <a:rPr lang="en-US" sz="36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个重点客户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16000" y="3683000"/>
            <a:ext cx="3302000" cy="355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873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70000" y="45085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客户经营分析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70000" y="5080000"/>
            <a:ext cx="279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运用客户诊断六问，深度理解客户经营现状与目标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0" y="5397500"/>
            <a:ext cx="381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016500" y="3683000"/>
            <a:ext cx="3302000" cy="355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5270500" y="3873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270500" y="45085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客户机会地图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70500" y="5080000"/>
            <a:ext cx="279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梳理客户的增长机会、痛点与供应链优化空间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45500" y="5397500"/>
            <a:ext cx="381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017000" y="3683000"/>
            <a:ext cx="3302000" cy="35560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9271000" y="3873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71000" y="45085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主动价值方案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71000" y="5080000"/>
            <a:ext cx="279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针对客户经营问题，设计定制化解决方案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446000" y="5397500"/>
            <a:ext cx="381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3017500" y="3683000"/>
            <a:ext cx="22225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3271500" y="3873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4A2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3271500" y="45085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推进计划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271500" y="5080000"/>
            <a:ext cx="177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明确责任人、时间节点与预期成果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" y="8636000"/>
            <a:ext cx="14224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1270000"/>
            <a:ext cx="1270000" cy="38100"/>
          </a:xfrm>
          <a:prstGeom prst="rect">
            <a:avLst/>
          </a:prstGeom>
          <a:solidFill>
            <a:srgbClr val="C4A265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1651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200" kern="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销售经营升级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778000" y="292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订单思维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0" y="3149600"/>
            <a:ext cx="1016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6" name="Text 4"/>
          <p:cNvSpPr/>
          <p:nvPr/>
        </p:nvSpPr>
        <p:spPr>
          <a:xfrm>
            <a:off x="8890000" y="292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客户思维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78000" y="3683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产品销售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0" y="3911600"/>
            <a:ext cx="1016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8890000" y="3683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价值创造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78000" y="4445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供应商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0" y="4673600"/>
            <a:ext cx="1016000" cy="0"/>
          </a:xfrm>
          <a:prstGeom prst="straightConnector1">
            <a:avLst/>
          </a:prstGeom>
          <a:noFill/>
          <a:ln w="25400">
            <a:solidFill>
              <a:srgbClr val="C4A265"/>
            </a:solidFill>
            <a:prstDash val="solid"/>
            <a:headEnd type="none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8890000" y="4445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F5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客户经营伙伴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588000" y="5461000"/>
            <a:ext cx="5080000" cy="127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5842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4A26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175000" y="5969000"/>
            <a:ext cx="990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4A26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订单决定今天的业绩，客户决定未来的发展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081000" y="622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4800" dirty="0">
                <a:solidFill>
                  <a:srgbClr val="C4A26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778000" y="7366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七遇集团 · 管理层内部培训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销售经营思维升级</dc:title>
  <dc:subject>销售经营思维升级</dc:subject>
  <dc:creator>Kimi</dc:creator>
  <cp:lastModifiedBy>Kimi</cp:lastModifiedBy>
  <cp:revision>1</cp:revision>
  <dcterms:created xsi:type="dcterms:W3CDTF">2026-07-14T10:01:53Z</dcterms:created>
  <dcterms:modified xsi:type="dcterms:W3CDTF">2026-07-14T10:01:53Z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{"Label":"销售经营思维升级","ContentProducer":"001191110108MACG2KBH8F10000","ProduceID":"19f5ff56-09e2-8d7e-8000-0000c8fcd32b","ReservedCode1":"","ContentPropagator":"001191110108MACG2KBH8F20000","PropagateID":"19f5ff1a-e0a2-8c30-8000-09c7db0b86b5","ReservedCode2":""}</vt:lpwstr>
  </property>
</Properties>
</file>