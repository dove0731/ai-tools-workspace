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3" name="branch-direct"/>
          <p:cNvCxnSpPr>
            <a:stCxn id="15" idx="3"/>
            <a:endCxn id="16" idx="1"/>
          </p:cNvCxnSpPr>
          <p:nvPr/>
        </p:nvCxnSpPr>
        <p:spPr>
          <a:xfrm flipV="1">
            <a:off x="2312670" y="2628900"/>
            <a:ext cx="643890" cy="800100"/>
          </a:xfrm>
          <a:prstGeom prst="straightConnector1">
            <a:avLst/>
          </a:prstGeom>
          <a:ln w="19050">
            <a:solidFill>
              <a:srgbClr val="6B7280"/>
            </a:solidFill>
            <a:prstDash val="solid"/>
          </a:ln>
        </p:spPr>
      </p:cxnSp>
      <p:cxnSp>
        <p:nvCxnSpPr>
          <p:cNvPr id="37" name="lane-210-3"/>
          <p:cNvCxnSpPr>
            <a:stCxn id="17" idx="3"/>
          </p:cNvCxnSpPr>
          <p:nvPr/>
        </p:nvCxnSpPr>
        <p:spPr>
          <a:xfrm flipV="1">
            <a:off x="6996430" y="3280410"/>
            <a:ext cx="251460" cy="5080"/>
          </a:xfrm>
          <a:prstGeom prst="straightConnector1">
            <a:avLst/>
          </a:prstGeom>
          <a:ln w="19050">
            <a:solidFill>
              <a:srgbClr val="6B7280"/>
            </a:solidFill>
            <a:prstDash val="solid"/>
          </a:ln>
        </p:spPr>
      </p:cxnSp>
      <p:cxnSp>
        <p:nvCxnSpPr>
          <p:cNvPr id="38" name="lane-210-4"/>
          <p:cNvCxnSpPr/>
          <p:nvPr/>
        </p:nvCxnSpPr>
        <p:spPr>
          <a:xfrm>
            <a:off x="9400540" y="3280410"/>
            <a:ext cx="209550" cy="0"/>
          </a:xfrm>
          <a:prstGeom prst="straightConnector1">
            <a:avLst/>
          </a:prstGeom>
          <a:ln w="19050">
            <a:solidFill>
              <a:srgbClr val="6B7280"/>
            </a:solidFill>
            <a:prstDash val="solid"/>
          </a:ln>
        </p:spPr>
      </p:cxnSp>
      <p:sp>
        <p:nvSpPr>
          <p:cNvPr id="13" name="title"/>
          <p:cNvSpPr>
            <a:spLocks noGrp="1"/>
          </p:cNvSpPr>
          <p:nvPr/>
        </p:nvSpPr>
        <p:spPr>
          <a:xfrm>
            <a:off x="4511675" y="5704205"/>
            <a:ext cx="328358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1F2937"/>
                </a:solidFill>
              </a:rPr>
              <a:t>供应商发货流程图</a:t>
            </a:r>
            <a:endParaRPr sz="3000" b="1">
              <a:solidFill>
                <a:srgbClr val="1F2937"/>
              </a:solidFill>
            </a:endParaRPr>
          </a:p>
        </p:txBody>
      </p:sp>
      <p:sp>
        <p:nvSpPr>
          <p:cNvPr id="15" name="decision"/>
          <p:cNvSpPr>
            <a:spLocks noGrp="1"/>
          </p:cNvSpPr>
          <p:nvPr/>
        </p:nvSpPr>
        <p:spPr>
          <a:xfrm>
            <a:off x="1055370" y="2943225"/>
            <a:ext cx="1257300" cy="971550"/>
          </a:xfrm>
          <a:prstGeom prst="diamond">
            <a:avLst/>
          </a:prstGeom>
          <a:solidFill>
            <a:srgbClr val="111827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产品类型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6" name="lane-outsourced"/>
          <p:cNvSpPr>
            <a:spLocks noGrp="1"/>
          </p:cNvSpPr>
          <p:nvPr/>
        </p:nvSpPr>
        <p:spPr>
          <a:xfrm>
            <a:off x="2956560" y="2200275"/>
            <a:ext cx="1409700" cy="85725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委外成品</a:t>
            </a:r>
            <a:endParaRPr sz="1500" b="1">
              <a:solidFill>
                <a:srgbClr val="1F2937"/>
              </a:solidFill>
            </a:endParaRPr>
          </a:p>
        </p:txBody>
      </p:sp>
      <p:sp>
        <p:nvSpPr>
          <p:cNvPr id="17" name="outsourced-step1"/>
          <p:cNvSpPr>
            <a:spLocks noGrp="1"/>
          </p:cNvSpPr>
          <p:nvPr/>
        </p:nvSpPr>
        <p:spPr>
          <a:xfrm>
            <a:off x="5043805" y="2856865"/>
            <a:ext cx="19526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F2937"/>
                </a:solidFill>
              </a:defRPr>
            </a:pPr>
            <a:r>
              <a:rPr lang="zh-CN" sz="1275" b="1">
                <a:solidFill>
                  <a:srgbClr val="1F2937"/>
                </a:solidFill>
                <a:ea typeface="宋体" panose="02010600030101010101" pitchFamily="2" charset="-122"/>
              </a:rPr>
              <a:t>物料属性选同步旺店通，</a:t>
            </a:r>
            <a:r>
              <a:rPr sz="1275" b="1">
                <a:solidFill>
                  <a:srgbClr val="1F2937"/>
                </a:solidFill>
              </a:rPr>
              <a:t>采购入库旺店通</a:t>
            </a:r>
            <a:r>
              <a:rPr lang="zh-CN" sz="1275" b="1">
                <a:solidFill>
                  <a:srgbClr val="1F2937"/>
                </a:solidFill>
                <a:ea typeface="宋体" panose="02010600030101010101" pitchFamily="2" charset="-122"/>
              </a:rPr>
              <a:t>后</a:t>
            </a:r>
            <a:endParaRPr sz="1275" b="1">
              <a:solidFill>
                <a:srgbClr val="1F2937"/>
              </a:solidFill>
            </a:endParaRPr>
          </a:p>
          <a:p>
            <a:pPr algn="ctr"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（七遇物流仓）</a:t>
            </a:r>
            <a:endParaRPr sz="1275" b="1">
              <a:solidFill>
                <a:srgbClr val="1F2937"/>
              </a:solidFill>
            </a:endParaRPr>
          </a:p>
        </p:txBody>
      </p:sp>
      <p:sp>
        <p:nvSpPr>
          <p:cNvPr id="19" name="outsourced-step3"/>
          <p:cNvSpPr>
            <a:spLocks noGrp="1"/>
          </p:cNvSpPr>
          <p:nvPr/>
        </p:nvSpPr>
        <p:spPr>
          <a:xfrm>
            <a:off x="7247890" y="2708910"/>
            <a:ext cx="21526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F2937"/>
                </a:solidFill>
              </a:defRPr>
            </a:pPr>
            <a:r>
              <a:rPr lang="zh-CN" altLang="en-US" sz="1125" b="1">
                <a:solidFill>
                  <a:srgbClr val="1F2937"/>
                </a:solidFill>
              </a:rPr>
              <a:t>建销售出库单，提供系统单号、收款截图给秀明核对，提供收件人地址信息和发货方式</a:t>
            </a:r>
            <a:endParaRPr lang="zh-CN" altLang="en-US" sz="1125" b="1">
              <a:solidFill>
                <a:srgbClr val="1F2937"/>
              </a:solidFill>
            </a:endParaRPr>
          </a:p>
        </p:txBody>
      </p:sp>
      <p:sp>
        <p:nvSpPr>
          <p:cNvPr id="20" name="outsourced-end"/>
          <p:cNvSpPr>
            <a:spLocks noGrp="1"/>
          </p:cNvSpPr>
          <p:nvPr/>
        </p:nvSpPr>
        <p:spPr>
          <a:xfrm>
            <a:off x="9610090" y="294703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4288">
            <a:solidFill>
              <a:srgbClr val="22C55E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66534"/>
                </a:solidFill>
              </a:defRPr>
            </a:pPr>
            <a:r>
              <a:rPr sz="1350" b="1">
                <a:solidFill>
                  <a:srgbClr val="166534"/>
                </a:solidFill>
              </a:rPr>
              <a:t>流程完成</a:t>
            </a:r>
            <a:endParaRPr sz="1350" b="1">
              <a:solidFill>
                <a:srgbClr val="166534"/>
              </a:solidFill>
            </a:endParaRPr>
          </a:p>
        </p:txBody>
      </p:sp>
      <p:sp>
        <p:nvSpPr>
          <p:cNvPr id="21" name="lane-direct"/>
          <p:cNvSpPr>
            <a:spLocks noGrp="1"/>
          </p:cNvSpPr>
          <p:nvPr/>
        </p:nvSpPr>
        <p:spPr>
          <a:xfrm>
            <a:off x="2956560" y="3743325"/>
            <a:ext cx="1428750" cy="85725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4288">
            <a:solidFill>
              <a:srgbClr val="8B5CF6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F2937"/>
                </a:solidFill>
              </a:defRPr>
            </a:pPr>
            <a:r>
              <a:rPr lang="zh-CN" sz="1425" b="1">
                <a:solidFill>
                  <a:srgbClr val="1F2937"/>
                </a:solidFill>
                <a:ea typeface="宋体" panose="02010600030101010101" pitchFamily="2" charset="-122"/>
              </a:rPr>
              <a:t>包材销售订单</a:t>
            </a:r>
            <a:endParaRPr lang="zh-CN" sz="1425" b="1">
              <a:solidFill>
                <a:srgbClr val="1F2937"/>
              </a:solidFill>
              <a:ea typeface="宋体" panose="02010600030101010101" pitchFamily="2" charset="-122"/>
            </a:endParaRPr>
          </a:p>
        </p:txBody>
      </p:sp>
      <p:cxnSp>
        <p:nvCxnSpPr>
          <p:cNvPr id="8" name="branch-direct"/>
          <p:cNvCxnSpPr>
            <a:stCxn id="15" idx="3"/>
            <a:endCxn id="21" idx="1"/>
          </p:cNvCxnSpPr>
          <p:nvPr/>
        </p:nvCxnSpPr>
        <p:spPr>
          <a:xfrm>
            <a:off x="2312670" y="3429000"/>
            <a:ext cx="643890" cy="742950"/>
          </a:xfrm>
          <a:prstGeom prst="straightConnector1">
            <a:avLst/>
          </a:prstGeom>
          <a:ln w="19050">
            <a:solidFill>
              <a:srgbClr val="6B7280"/>
            </a:solidFill>
            <a:prstDash val="solid"/>
          </a:ln>
        </p:spPr>
      </p:cxnSp>
      <p:cxnSp>
        <p:nvCxnSpPr>
          <p:cNvPr id="9" name="branch-direct"/>
          <p:cNvCxnSpPr>
            <a:endCxn id="17" idx="1"/>
          </p:cNvCxnSpPr>
          <p:nvPr/>
        </p:nvCxnSpPr>
        <p:spPr>
          <a:xfrm>
            <a:off x="4367530" y="2564765"/>
            <a:ext cx="676275" cy="720725"/>
          </a:xfrm>
          <a:prstGeom prst="straightConnector1">
            <a:avLst/>
          </a:prstGeom>
          <a:ln w="19050">
            <a:solidFill>
              <a:srgbClr val="6B7280"/>
            </a:solidFill>
            <a:prstDash val="solid"/>
          </a:ln>
        </p:spPr>
      </p:cxnSp>
      <p:cxnSp>
        <p:nvCxnSpPr>
          <p:cNvPr id="10" name="branch-direct"/>
          <p:cNvCxnSpPr>
            <a:stCxn id="21" idx="3"/>
            <a:endCxn id="17" idx="1"/>
          </p:cNvCxnSpPr>
          <p:nvPr/>
        </p:nvCxnSpPr>
        <p:spPr>
          <a:xfrm flipV="1">
            <a:off x="4385310" y="3285490"/>
            <a:ext cx="658495" cy="886460"/>
          </a:xfrm>
          <a:prstGeom prst="straightConnector1">
            <a:avLst/>
          </a:prstGeom>
          <a:ln w="19050">
            <a:solidFill>
              <a:srgbClr val="6B7280"/>
            </a:solidFill>
            <a:prstDash val="soli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WPS 演示</Application>
  <PresentationFormat>Converted Presentation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柯志峰</cp:lastModifiedBy>
  <cp:revision>3</cp:revision>
  <dcterms:created xsi:type="dcterms:W3CDTF">2026-07-28T08:40:57Z</dcterms:created>
  <dcterms:modified xsi:type="dcterms:W3CDTF">2026-07-29T12:41:50Z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98B32462F95840588B451B5695E17A0F_12</vt:lpwstr>
  </property>
</Properties>
</file>