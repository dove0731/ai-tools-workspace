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f8ec036194b89" /><Relationship Type="http://schemas.openxmlformats.org/officeDocument/2006/relationships/extended-properties" Target="/docProps/app.xml" Id="R51b1e79fcfd544cb" /><Relationship Type="http://schemas.openxmlformats.org/officeDocument/2006/relationships/officeDocument" Target="/ppt/presentation.xml" Id="R27d9eaae2a004b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572cd38944db0"/>
  </p:sldMasterIdLst>
  <p:notesMasterIdLst>
    <p:notesMasterId xmlns:r="http://schemas.openxmlformats.org/officeDocument/2006/relationships" r:id="Ree7354d7ea604b61"/>
  </p:notesMasterIdLst>
  <p:sldIdLst>
    <p:sldId xmlns:r="http://schemas.openxmlformats.org/officeDocument/2006/relationships" id="256" r:id="R1924051a704943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908c51bd04370" /><Relationship Type="http://schemas.openxmlformats.org/officeDocument/2006/relationships/slideMaster" Target="/ppt/slideMasters/slideMaster1.xml" Id="Ra20572cd38944db0" /><Relationship Type="http://schemas.openxmlformats.org/officeDocument/2006/relationships/notesMaster" Target="/ppt/notesMasters/notesMaster1.xml" Id="Ree7354d7ea604b61" /><Relationship Type="http://schemas.openxmlformats.org/officeDocument/2006/relationships/presProps" Target="/ppt/presProps.xml" Id="R6264081bd3f74c4b" /><Relationship Type="http://schemas.openxmlformats.org/officeDocument/2006/relationships/tableStyles" Target="/ppt/tableStyles.xml" Id="R4cab26854bec462e" /><Relationship Type="http://schemas.openxmlformats.org/officeDocument/2006/relationships/slide" Target="/ppt/slides/slide1.xml" Id="R1924051a7049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a243cd446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8287743ac4299" /><Relationship Type="http://schemas.openxmlformats.org/officeDocument/2006/relationships/notesMaster" Target="/ppt/notesMasters/notesMaster1.xml" Id="R8dfaab5b59e1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d71c2f3a2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a8824249642bc" /><Relationship Type="http://schemas.openxmlformats.org/officeDocument/2006/relationships/slideLayout" Target="/ppt/slideLayouts/slideLayout1.xml" Id="Rda179da70d37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179da70d37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59bc12e874ede" /><Relationship Type="http://schemas.openxmlformats.org/officeDocument/2006/relationships/notesSlide" Target="/ppt/notesSlides/notesSlide1.xml" Id="R62b80d9514d847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">
            <a:extLst xmlns:a="http://schemas.openxmlformats.org/drawingml/2006/main">
              <a:ext uri="{FF2B5EF4-FFF2-40B4-BE49-F238E27FC236}">
                <a16:creationId xmlns:a16="http://schemas.microsoft.com/office/drawing/2014/main" id="{7E3D6B53-88E9-4C18-B32A-75C2EE1E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SUPPLIER SHIPPING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5066BC-59C4-4ADA-9A80-FD742ADA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供应商发货流程图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1385CED-EC53-4AB6-891D-DC388A90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按产品类型分为两条执行路径｜委外成品与直接销售包材共用同一路径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5BE04FA-C9BD-4AF5-9904-D39F319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anchor-start">
            <a:extLst xmlns:a="http://schemas.openxmlformats.org/drawingml/2006/main">
              <a:ext uri="{FF2B5EF4-FFF2-40B4-BE49-F238E27FC236}">
                <a16:creationId xmlns:a16="http://schemas.microsoft.com/office/drawing/2014/main" id="{EBEA6C89-C19D-4677-A5D0-68780DB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409700" cy="857250"/>
          </a:xfrm>
          <a:prstGeom xmlns:a="http://schemas.openxmlformats.org/drawingml/2006/main" prst="roundRect">
            <a:avLst>
              <a:gd name="adj" fmla="val 888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decision">
            <a:extLst xmlns:a="http://schemas.openxmlformats.org/drawingml/2006/main">
              <a:ext uri="{FF2B5EF4-FFF2-40B4-BE49-F238E27FC236}">
                <a16:creationId xmlns:a16="http://schemas.microsoft.com/office/drawing/2014/main" id="{1231D101-6151-4859-9D71-9329C09C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95600"/>
            <a:ext cx="1352550" cy="1047750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topType">
            <a:extLst xmlns:a="http://schemas.openxmlformats.org/drawingml/2006/main">
              <a:ext uri="{FF2B5EF4-FFF2-40B4-BE49-F238E27FC236}">
                <a16:creationId xmlns:a16="http://schemas.microsoft.com/office/drawing/2014/main" id="{E27C1F90-8190-411B-A33D-86C3232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topStep1">
            <a:extLst xmlns:a="http://schemas.openxmlformats.org/drawingml/2006/main">
              <a:ext uri="{FF2B5EF4-FFF2-40B4-BE49-F238E27FC236}">
                <a16:creationId xmlns:a16="http://schemas.microsoft.com/office/drawing/2014/main" id="{857BD370-5608-4DAA-8E5A-2CE5E11B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205740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topStep2">
            <a:extLst xmlns:a="http://schemas.openxmlformats.org/drawingml/2006/main">
              <a:ext uri="{FF2B5EF4-FFF2-40B4-BE49-F238E27FC236}">
                <a16:creationId xmlns:a16="http://schemas.microsoft.com/office/drawing/2014/main" id="{76D01CD8-5ED7-480A-9707-BDEA55B0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514600" cy="1123950"/>
          </a:xfrm>
          <a:prstGeom xmlns:a="http://schemas.openxmlformats.org/drawingml/2006/main" prst="roundRect">
            <a:avLst>
              <a:gd name="adj" fmla="val 678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bottomType">
            <a:extLst xmlns:a="http://schemas.openxmlformats.org/drawingml/2006/main">
              <a:ext uri="{FF2B5EF4-FFF2-40B4-BE49-F238E27FC236}">
                <a16:creationId xmlns:a16="http://schemas.microsoft.com/office/drawing/2014/main" id="{7D5C5A12-3535-43C0-851F-1BC13B3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243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bottomStep1">
            <a:extLst xmlns:a="http://schemas.openxmlformats.org/drawingml/2006/main">
              <a:ext uri="{FF2B5EF4-FFF2-40B4-BE49-F238E27FC236}">
                <a16:creationId xmlns:a16="http://schemas.microsoft.com/office/drawing/2014/main" id="{EE6F9045-224A-4EE4-BB85-24C20071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anchor-bottomStep2">
            <a:extLst xmlns:a="http://schemas.openxmlformats.org/drawingml/2006/main">
              <a:ext uri="{FF2B5EF4-FFF2-40B4-BE49-F238E27FC236}">
                <a16:creationId xmlns:a16="http://schemas.microsoft.com/office/drawing/2014/main" id="{15BF5DE3-DA2B-4321-867E-8116EBB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bottomStep3">
            <a:extLst xmlns:a="http://schemas.openxmlformats.org/drawingml/2006/main">
              <a:ext uri="{FF2B5EF4-FFF2-40B4-BE49-F238E27FC236}">
                <a16:creationId xmlns:a16="http://schemas.microsoft.com/office/drawing/2014/main" id="{E672FB4E-760C-472D-8F40-05F036F3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8640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bottomStep4">
            <a:extLst xmlns:a="http://schemas.openxmlformats.org/drawingml/2006/main">
              <a:ext uri="{FF2B5EF4-FFF2-40B4-BE49-F238E27FC236}">
                <a16:creationId xmlns:a16="http://schemas.microsoft.com/office/drawing/2014/main" id="{336EB540-43C7-4827-B452-A1CAD333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1495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05000" y="34194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6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009900" y="2305050"/>
            <a:ext cx="1162050" cy="5905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10600" y="23050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6" idx="2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9900" y="3943350"/>
            <a:ext cx="1162050" cy="5524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81700" y="4495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48700" y="44958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61" name=""/>
          <p:cNvCxnSpPr>
            <a:stCxn xmlns:a="http://schemas.openxmlformats.org/drawingml/2006/main" id="12" idx="2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648700" y="4867275"/>
            <a:ext cx="1619250" cy="962025"/>
          </a:xfrm>
          <a:prstGeom xmlns:a="http://schemas.openxmlformats.org/drawingml/2006/main" prst="bentConnector5">
            <a:avLst>
              <a:gd name="adj1" fmla="val 0"/>
              <a:gd name="adj2" fmla="val 23762"/>
              <a:gd name="adj3" fmla="val 85882"/>
            </a:avLst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cxnSp>
        <p:nvCxnSpPr>
          <p:cNvPr id="62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48700" y="5829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8590"/>
            </a:solidFill>
            <a:prstDash val="solid"/>
            <a:headEnd type="arrow" w="sm" len="sm"/>
          </a:ln>
        </p:spPr>
      </p:cxnSp>
      <p:sp>
        <p:nvSpPr>
          <p:cNvPr id="24" name="lane-a">
            <a:extLst xmlns:a="http://schemas.openxmlformats.org/drawingml/2006/main">
              <a:ext uri="{FF2B5EF4-FFF2-40B4-BE49-F238E27FC236}">
                <a16:creationId xmlns:a16="http://schemas.microsoft.com/office/drawing/2014/main" id="{9F4B7AA0-14B0-46E9-8E87-5D30CA24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路径 A｜共用流程</a:t>
            </a:r>
          </a:p>
        </p:txBody>
      </p:sp>
      <p:sp>
        <p:nvSpPr>
          <p:cNvPr id="25" name="lane-b">
            <a:extLst xmlns:a="http://schemas.openxmlformats.org/drawingml/2006/main">
              <a:ext uri="{FF2B5EF4-FFF2-40B4-BE49-F238E27FC236}">
                <a16:creationId xmlns:a16="http://schemas.microsoft.com/office/drawing/2014/main" id="{A268CA42-18D8-4173-A520-1E90F676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路径 B｜加工流程</a:t>
            </a:r>
          </a:p>
        </p:txBody>
      </p:sp>
      <p:sp>
        <p:nvSpPr>
          <p:cNvPr id="26" name="start">
            <a:extLst xmlns:a="http://schemas.openxmlformats.org/drawingml/2006/main">
              <a:ext uri="{FF2B5EF4-FFF2-40B4-BE49-F238E27FC236}">
                <a16:creationId xmlns:a16="http://schemas.microsoft.com/office/drawing/2014/main" id="{2EAD3F65-AD91-48D6-81EE-FCF93F6B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4097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供应商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发货流程</a:t>
            </a:r>
          </a:p>
        </p:txBody>
      </p:sp>
      <p:sp>
        <p:nvSpPr>
          <p:cNvPr id="27" name="decision">
            <a:extLst xmlns:a="http://schemas.openxmlformats.org/drawingml/2006/main">
              <a:ext uri="{FF2B5EF4-FFF2-40B4-BE49-F238E27FC236}">
                <a16:creationId xmlns:a16="http://schemas.microsoft.com/office/drawing/2014/main" id="{37B879A0-208F-4077-93BB-A726C64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95600"/>
            <a:ext cx="1352550" cy="10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按产品类型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分流</a:t>
            </a:r>
          </a:p>
        </p:txBody>
      </p:sp>
      <p:sp>
        <p:nvSpPr>
          <p:cNvPr id="28" name="top-type">
            <a:extLst xmlns:a="http://schemas.openxmlformats.org/drawingml/2006/main">
              <a:ext uri="{FF2B5EF4-FFF2-40B4-BE49-F238E27FC236}">
                <a16:creationId xmlns:a16="http://schemas.microsoft.com/office/drawing/2014/main" id="{DF2442B6-8A2F-4C5C-9C1B-1471A52A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1809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委外成品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直接销售包材</a:t>
            </a:r>
          </a:p>
        </p:txBody>
      </p:sp>
      <p:sp>
        <p:nvSpPr>
          <p:cNvPr id="29" name="top-step-1">
            <a:extLst xmlns:a="http://schemas.openxmlformats.org/drawingml/2006/main">
              <a:ext uri="{FF2B5EF4-FFF2-40B4-BE49-F238E27FC236}">
                <a16:creationId xmlns:a16="http://schemas.microsoft.com/office/drawing/2014/main" id="{54F8D4AD-BB55-41AC-B96B-52022FD9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2057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① 采购入库旺店通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（七遇物流仓）</a:t>
            </a:r>
          </a:p>
        </p:txBody>
      </p:sp>
      <p:sp>
        <p:nvSpPr>
          <p:cNvPr id="30" name="top-step-2">
            <a:extLst xmlns:a="http://schemas.openxmlformats.org/drawingml/2006/main">
              <a:ext uri="{FF2B5EF4-FFF2-40B4-BE49-F238E27FC236}">
                <a16:creationId xmlns:a16="http://schemas.microsoft.com/office/drawing/2014/main" id="{219188E8-E5F0-4DFF-ADE2-E54B6E89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43075"/>
            <a:ext cx="2514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② 建销售出库单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提供系统单号给秀明核对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提供收件人地址信息和发货方式</a:t>
            </a:r>
          </a:p>
        </p:txBody>
      </p:sp>
      <p:sp>
        <p:nvSpPr>
          <p:cNvPr id="31" name="bottom-type">
            <a:extLst xmlns:a="http://schemas.openxmlformats.org/drawingml/2006/main">
              <a:ext uri="{FF2B5EF4-FFF2-40B4-BE49-F238E27FC236}">
                <a16:creationId xmlns:a16="http://schemas.microsoft.com/office/drawing/2014/main" id="{A1413E5A-D6A4-4521-B926-3368D4C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24325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需加工包材订单</a:t>
            </a:r>
          </a:p>
        </p:txBody>
      </p:sp>
      <p:sp>
        <p:nvSpPr>
          <p:cNvPr id="32" name="bottom-step-1">
            <a:extLst xmlns:a="http://schemas.openxmlformats.org/drawingml/2006/main">
              <a:ext uri="{FF2B5EF4-FFF2-40B4-BE49-F238E27FC236}">
                <a16:creationId xmlns:a16="http://schemas.microsoft.com/office/drawing/2014/main" id="{5CD03FB6-8030-494B-865D-83B65BF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① 财务在金蝶做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销售出库给客户</a:t>
            </a:r>
          </a:p>
        </p:txBody>
      </p:sp>
      <p:sp>
        <p:nvSpPr>
          <p:cNvPr id="33" name="bottom-step-2">
            <a:extLst xmlns:a="http://schemas.openxmlformats.org/drawingml/2006/main">
              <a:ext uri="{FF2B5EF4-FFF2-40B4-BE49-F238E27FC236}">
                <a16:creationId xmlns:a16="http://schemas.microsoft.com/office/drawing/2014/main" id="{F7BE8CEE-BBBA-408E-B132-1F0E6C9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② BOM表新建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按客户自带包材</a:t>
            </a:r>
          </a:p>
        </p:txBody>
      </p:sp>
      <p:sp>
        <p:nvSpPr>
          <p:cNvPr id="34" name="bottom-step-3">
            <a:extLst xmlns:a="http://schemas.openxmlformats.org/drawingml/2006/main">
              <a:ext uri="{FF2B5EF4-FFF2-40B4-BE49-F238E27FC236}">
                <a16:creationId xmlns:a16="http://schemas.microsoft.com/office/drawing/2014/main" id="{82A47347-9B57-4925-B75D-CA1C671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86400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③ 成品入库旺店通</a:t>
            </a:r>
          </a:p>
        </p:txBody>
      </p:sp>
      <p:sp>
        <p:nvSpPr>
          <p:cNvPr id="35" name="bottom-step-4">
            <a:extLst xmlns:a="http://schemas.openxmlformats.org/drawingml/2006/main">
              <a:ext uri="{FF2B5EF4-FFF2-40B4-BE49-F238E27FC236}">
                <a16:creationId xmlns:a16="http://schemas.microsoft.com/office/drawing/2014/main" id="{17D55F74-0C67-499C-96B7-44378434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14950"/>
            <a:ext cx="2381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F1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④ 建销售出库单</a:t>
            </a:r>
          </a:p>
          <a:p xmlns:a="http://schemas.openxmlformats.org/drawingml/2006/main">
            <a:pPr algn="ctr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提供系统单号给秀明核对</a:t>
            </a:r>
          </a:p>
          <a:p xmlns:a="http://schemas.openxmlformats.org/drawingml/2006/main">
            <a:pPr algn="ctr">
              <a:defRPr sz="1163" b="1">
                <a:solidFill>
                  <a:srgbClr val="111111"/>
                </a:solidFill>
              </a:defRPr>
            </a:pPr>
            <a:r>
              <a:rPr sz="1163" b="1">
                <a:solidFill>
                  <a:srgbClr val="111111"/>
                </a:solidFill>
              </a:rPr>
              <a:t>提供收件人地址信息和发货方式</a:t>
            </a:r>
          </a:p>
        </p:txBody>
      </p:sp>
      <p:sp>
        <p:nvSpPr>
          <p:cNvPr id="36" name="route-tag-a">
            <a:extLst xmlns:a="http://schemas.openxmlformats.org/drawingml/2006/main">
              <a:ext uri="{FF2B5EF4-FFF2-40B4-BE49-F238E27FC236}">
                <a16:creationId xmlns:a16="http://schemas.microsoft.com/office/drawing/2014/main" id="{24E808DB-D2DA-4B05-A006-88BE5F71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050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37" name="route-tag-b">
            <a:extLst xmlns:a="http://schemas.openxmlformats.org/drawingml/2006/main">
              <a:ext uri="{FF2B5EF4-FFF2-40B4-BE49-F238E27FC236}">
                <a16:creationId xmlns:a16="http://schemas.microsoft.com/office/drawing/2014/main" id="{3873E745-7C70-4FD5-990E-030BFD21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3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CCF43365-83EC-436F-9B1C-BA0215AE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055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来源：新建 XLSX 工作表 (2).xlsx｜按源表合并单元格关系还原</a:t>
            </a:r>
          </a:p>
        </p:txBody>
      </p:sp>
      <p:sp>
        <p:nvSpPr>
          <p:cNvPr id="3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133A21-3FD2-4FEE-B7E5-81CCD03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8A2B3"/>
                </a:solidFill>
              </a:defRPr>
            </a:pPr>
            <a:r>
              <a:rPr sz="825" b="0">
                <a:solidFill>
                  <a:srgbClr val="98A2B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2292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2026-07-28T08:07:52.3380000Z</dcterms:created>
  <dcterms:modified xsi:type="dcterms:W3CDTF">2026-07-28T08:07:52.3380000Z</dcterms:modified>
</coreProperties>
</file>