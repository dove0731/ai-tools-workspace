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e9120050c948e9" /><Relationship Type="http://schemas.openxmlformats.org/officeDocument/2006/relationships/extended-properties" Target="/docProps/app.xml" Id="Rc31131bcce9b4284" /><Relationship Type="http://schemas.openxmlformats.org/officeDocument/2006/relationships/officeDocument" Target="/ppt/presentation.xml" Id="Rc1a7f65af0be4a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1946ed12e24362"/>
  </p:sldMasterIdLst>
  <p:notesMasterIdLst>
    <p:notesMasterId xmlns:r="http://schemas.openxmlformats.org/officeDocument/2006/relationships" r:id="Re73afd5a7d5943d7"/>
  </p:notesMasterIdLst>
  <p:sldIdLst>
    <p:sldId xmlns:r="http://schemas.openxmlformats.org/officeDocument/2006/relationships" id="256" r:id="Rea9fa25f245748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c5664533e34a92" /><Relationship Type="http://schemas.openxmlformats.org/officeDocument/2006/relationships/slideMaster" Target="/ppt/slideMasters/slideMaster1.xml" Id="R831946ed12e24362" /><Relationship Type="http://schemas.openxmlformats.org/officeDocument/2006/relationships/notesMaster" Target="/ppt/notesMasters/notesMaster1.xml" Id="Re73afd5a7d5943d7" /><Relationship Type="http://schemas.openxmlformats.org/officeDocument/2006/relationships/presProps" Target="/ppt/presProps.xml" Id="Rb0604880194f4dc1" /><Relationship Type="http://schemas.openxmlformats.org/officeDocument/2006/relationships/tableStyles" Target="/ppt/tableStyles.xml" Id="R02d5ff1bc1944648" /><Relationship Type="http://schemas.openxmlformats.org/officeDocument/2006/relationships/slide" Target="/ppt/slides/slide1.xml" Id="Rea9fa25f245748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a21c44ee184b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83981aa15e4f3a" /><Relationship Type="http://schemas.openxmlformats.org/officeDocument/2006/relationships/notesMaster" Target="/ppt/notesMasters/notesMaster1.xml" Id="R93a0b989259644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f04a76772b4c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0dd5881e4a4834" /><Relationship Type="http://schemas.openxmlformats.org/officeDocument/2006/relationships/slideLayout" Target="/ppt/slideLayouts/slideLayout1.xml" Id="R2e181dcf7cc548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181dcf7cc548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189aea3dc4e64" /><Relationship Type="http://schemas.openxmlformats.org/officeDocument/2006/relationships/notesSlide" Target="/ppt/notesSlides/notesSlide1.xml" Id="Re60c2297de1c4b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eyebrow">
            <a:extLst xmlns:a="http://schemas.openxmlformats.org/drawingml/2006/main">
              <a:ext uri="{FF2B5EF4-FFF2-40B4-BE49-F238E27FC236}">
                <a16:creationId xmlns:a16="http://schemas.microsoft.com/office/drawing/2014/main" id="{687EC522-7A21-4D5C-A0AC-799716FF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SUPPLIER SHIPPING WORKFLOW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96823E9-C92F-4DD3-8AAF-CDA559FD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供应商发货流程图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6A520BBC-47D6-459D-9326-3BE06E41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按产品类型分为两条执行路径｜委外成品与直接销售包材共用同一路径</a:t>
            </a:r>
          </a:p>
        </p:txBody>
      </p:sp>
      <p:sp>
        <p:nvSpPr>
          <p:cNvPr id="4" name="verified-order">
            <a:extLst xmlns:a="http://schemas.openxmlformats.org/drawingml/2006/main">
              <a:ext uri="{FF2B5EF4-FFF2-40B4-BE49-F238E27FC236}">
                <a16:creationId xmlns:a16="http://schemas.microsoft.com/office/drawing/2014/main" id="{623ABDB0-E33F-4251-A20C-F02A9318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0050"/>
            <a:ext cx="32575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7F1FC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已验证订单 10510092</a:t>
            </a:r>
          </a:p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建单无误 · 金蝶已回传 · 财务已确认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5CC6C5B7-6DD3-4D2E-B36E-525D8568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573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anchor-start">
            <a:extLst xmlns:a="http://schemas.openxmlformats.org/drawingml/2006/main">
              <a:ext uri="{FF2B5EF4-FFF2-40B4-BE49-F238E27FC236}">
                <a16:creationId xmlns:a16="http://schemas.microsoft.com/office/drawing/2014/main" id="{47F0CD73-7098-42F5-9335-1731A89F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90850"/>
            <a:ext cx="1409700" cy="857250"/>
          </a:xfrm>
          <a:prstGeom xmlns:a="http://schemas.openxmlformats.org/drawingml/2006/main" prst="roundRect">
            <a:avLst>
              <a:gd name="adj" fmla="val 888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anchor-decision">
            <a:extLst xmlns:a="http://schemas.openxmlformats.org/drawingml/2006/main">
              <a:ext uri="{FF2B5EF4-FFF2-40B4-BE49-F238E27FC236}">
                <a16:creationId xmlns:a16="http://schemas.microsoft.com/office/drawing/2014/main" id="{6A1BAB96-7324-4B43-BBFA-6BE2D8DD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895600"/>
            <a:ext cx="1352550" cy="1047750"/>
          </a:xfrm>
          <a:prstGeom xmlns:a="http://schemas.openxmlformats.org/drawingml/2006/main" prst="diamond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anchor-topType">
            <a:extLst xmlns:a="http://schemas.openxmlformats.org/drawingml/2006/main">
              <a:ext uri="{FF2B5EF4-FFF2-40B4-BE49-F238E27FC236}">
                <a16:creationId xmlns:a16="http://schemas.microsoft.com/office/drawing/2014/main" id="{D97D309C-D354-43CC-B28A-83CA93F1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05000"/>
            <a:ext cx="1809750" cy="80010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anchor-topStep1">
            <a:extLst xmlns:a="http://schemas.openxmlformats.org/drawingml/2006/main">
              <a:ext uri="{FF2B5EF4-FFF2-40B4-BE49-F238E27FC236}">
                <a16:creationId xmlns:a16="http://schemas.microsoft.com/office/drawing/2014/main" id="{5BCC01E8-1DD1-4B7F-B30F-CF90B10E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05000"/>
            <a:ext cx="2057400" cy="80010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anchor-topStep2">
            <a:extLst xmlns:a="http://schemas.openxmlformats.org/drawingml/2006/main">
              <a:ext uri="{FF2B5EF4-FFF2-40B4-BE49-F238E27FC236}">
                <a16:creationId xmlns:a16="http://schemas.microsoft.com/office/drawing/2014/main" id="{5A450CD2-5D84-4DFD-9BF9-506A9655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743075"/>
            <a:ext cx="2514600" cy="1123950"/>
          </a:xfrm>
          <a:prstGeom xmlns:a="http://schemas.openxmlformats.org/drawingml/2006/main" prst="roundRect">
            <a:avLst>
              <a:gd name="adj" fmla="val 678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anchor-bottomType">
            <a:extLst xmlns:a="http://schemas.openxmlformats.org/drawingml/2006/main">
              <a:ext uri="{FF2B5EF4-FFF2-40B4-BE49-F238E27FC236}">
                <a16:creationId xmlns:a16="http://schemas.microsoft.com/office/drawing/2014/main" id="{555B5BCF-C590-4706-829B-3AF2EC47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24325"/>
            <a:ext cx="18097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anchor-bottomStep1">
            <a:extLst xmlns:a="http://schemas.openxmlformats.org/drawingml/2006/main">
              <a:ext uri="{FF2B5EF4-FFF2-40B4-BE49-F238E27FC236}">
                <a16:creationId xmlns:a16="http://schemas.microsoft.com/office/drawing/2014/main" id="{CAABF3E5-2DF7-4468-B830-8B84B0D0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24325"/>
            <a:ext cx="209550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anchor-bottomStep2">
            <a:extLst xmlns:a="http://schemas.openxmlformats.org/drawingml/2006/main">
              <a:ext uri="{FF2B5EF4-FFF2-40B4-BE49-F238E27FC236}">
                <a16:creationId xmlns:a16="http://schemas.microsoft.com/office/drawing/2014/main" id="{C9FDD623-8593-46C9-AA09-806C0C37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24325"/>
            <a:ext cx="209550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anchor-bottomStep3">
            <a:extLst xmlns:a="http://schemas.openxmlformats.org/drawingml/2006/main">
              <a:ext uri="{FF2B5EF4-FFF2-40B4-BE49-F238E27FC236}">
                <a16:creationId xmlns:a16="http://schemas.microsoft.com/office/drawing/2014/main" id="{AC4322E6-243E-47B8-BC86-F7AA0763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486400"/>
            <a:ext cx="2095500" cy="68580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anchor-bottomStep4">
            <a:extLst xmlns:a="http://schemas.openxmlformats.org/drawingml/2006/main">
              <a:ext uri="{FF2B5EF4-FFF2-40B4-BE49-F238E27FC236}">
                <a16:creationId xmlns:a16="http://schemas.microsoft.com/office/drawing/2014/main" id="{8F15B063-9DB9-4AF4-83C5-F2D2B0FC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314950"/>
            <a:ext cx="2381250" cy="1028700"/>
          </a:xfrm>
          <a:prstGeom xmlns:a="http://schemas.openxmlformats.org/drawingml/2006/main" prst="roundRect">
            <a:avLst>
              <a:gd name="adj" fmla="val 740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905000" y="34194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8590"/>
            </a:solidFill>
            <a:prstDash val="solid"/>
            <a:tailEnd type="arrow" w="sm" len="sm"/>
          </a:ln>
        </p:spPr>
      </p:cxnSp>
      <p:cxnSp>
        <p:nvCxnSpPr>
          <p:cNvPr id="57" name=""/>
          <p:cNvCxnSpPr>
            <a:stCxn xmlns:a="http://schemas.openxmlformats.org/drawingml/2006/main" id="7" idx="0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009900" y="2305050"/>
            <a:ext cx="1162050" cy="59055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9050">
            <a:solidFill>
              <a:srgbClr val="7D8590"/>
            </a:solidFill>
            <a:prstDash val="solid"/>
            <a:tailEnd type="arrow" w="sm" len="sm"/>
          </a:ln>
        </p:spPr>
      </p:cxnSp>
      <p:cxnSp>
        <p:nvCxnSpPr>
          <p:cNvPr id="5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981700" y="23050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8590"/>
            </a:solidFill>
            <a:prstDash val="solid"/>
            <a:tailEnd type="arrow" w="sm" len="sm"/>
          </a:ln>
        </p:spPr>
      </p:cxnSp>
      <p:cxnSp>
        <p:nvCxnSpPr>
          <p:cNvPr id="59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610600" y="230505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8590"/>
            </a:solidFill>
            <a:prstDash val="solid"/>
            <a:tailEnd type="arrow" w="sm" len="sm"/>
          </a:ln>
        </p:spPr>
      </p:cxnSp>
      <p:cxnSp>
        <p:nvCxnSpPr>
          <p:cNvPr id="60" name=""/>
          <p:cNvCxnSpPr>
            <a:stCxn xmlns:a="http://schemas.openxmlformats.org/drawingml/2006/main" id="7" idx="2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009900" y="3943350"/>
            <a:ext cx="1162050" cy="55245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9050">
            <a:solidFill>
              <a:srgbClr val="7D8590"/>
            </a:solidFill>
            <a:prstDash val="solid"/>
            <a:tailEnd type="arrow" w="sm" len="sm"/>
          </a:ln>
        </p:spPr>
      </p:cxnSp>
      <p:cxnSp>
        <p:nvCxnSpPr>
          <p:cNvPr id="61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981700" y="44958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8590"/>
            </a:solidFill>
            <a:prstDash val="solid"/>
            <a:tailEnd type="arrow" w="sm" len="sm"/>
          </a:ln>
        </p:spPr>
      </p:cxnSp>
      <p:cxnSp>
        <p:nvCxnSpPr>
          <p:cNvPr id="62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648700" y="44958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8590"/>
            </a:solidFill>
            <a:prstDash val="solid"/>
            <a:tailEnd type="arrow" w="sm" len="sm"/>
          </a:ln>
        </p:spPr>
      </p:cxnSp>
      <p:cxnSp>
        <p:nvCxnSpPr>
          <p:cNvPr id="63" name=""/>
          <p:cNvCxnSpPr>
            <a:stCxn xmlns:a="http://schemas.openxmlformats.org/drawingml/2006/main" id="13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7600950" y="4867275"/>
            <a:ext cx="2667000" cy="619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D8590"/>
            </a:solidFill>
            <a:prstDash val="solid"/>
            <a:tailEnd type="arrow" w="sm" len="sm"/>
          </a:ln>
        </p:spPr>
      </p:cxnSp>
      <p:cxnSp>
        <p:nvCxnSpPr>
          <p:cNvPr id="64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648700" y="58293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8590"/>
            </a:solidFill>
            <a:prstDash val="solid"/>
            <a:tailEnd type="arrow" w="sm" len="sm"/>
          </a:ln>
        </p:spPr>
      </p:cxnSp>
      <p:sp>
        <p:nvSpPr>
          <p:cNvPr id="25" name="lane-a">
            <a:extLst xmlns:a="http://schemas.openxmlformats.org/drawingml/2006/main">
              <a:ext uri="{FF2B5EF4-FFF2-40B4-BE49-F238E27FC236}">
                <a16:creationId xmlns:a16="http://schemas.microsoft.com/office/drawing/2014/main" id="{FFF4DA4C-EE5A-4329-83D4-DD391B94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5811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路径 A｜共用流程</a:t>
            </a:r>
          </a:p>
        </p:txBody>
      </p:sp>
      <p:sp>
        <p:nvSpPr>
          <p:cNvPr id="26" name="lane-b">
            <a:extLst xmlns:a="http://schemas.openxmlformats.org/drawingml/2006/main">
              <a:ext uri="{FF2B5EF4-FFF2-40B4-BE49-F238E27FC236}">
                <a16:creationId xmlns:a16="http://schemas.microsoft.com/office/drawing/2014/main" id="{0147B488-7B9B-4A8C-AB60-59B09479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7909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路径 B｜加工流程</a:t>
            </a:r>
          </a:p>
        </p:txBody>
      </p:sp>
      <p:sp>
        <p:nvSpPr>
          <p:cNvPr id="27" name="start">
            <a:extLst xmlns:a="http://schemas.openxmlformats.org/drawingml/2006/main">
              <a:ext uri="{FF2B5EF4-FFF2-40B4-BE49-F238E27FC236}">
                <a16:creationId xmlns:a16="http://schemas.microsoft.com/office/drawing/2014/main" id="{51208DB2-1804-4A8C-B4C7-0BBCA7F0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90850"/>
            <a:ext cx="14097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供应商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发货流程</a:t>
            </a:r>
          </a:p>
        </p:txBody>
      </p:sp>
      <p:sp>
        <p:nvSpPr>
          <p:cNvPr id="28" name="decision">
            <a:extLst xmlns:a="http://schemas.openxmlformats.org/drawingml/2006/main">
              <a:ext uri="{FF2B5EF4-FFF2-40B4-BE49-F238E27FC236}">
                <a16:creationId xmlns:a16="http://schemas.microsoft.com/office/drawing/2014/main" id="{EE155665-92D8-4D5A-8244-D1017BDC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895600"/>
            <a:ext cx="1352550" cy="10477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F1FC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按产品类型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分流</a:t>
            </a:r>
          </a:p>
        </p:txBody>
      </p:sp>
      <p:sp>
        <p:nvSpPr>
          <p:cNvPr id="29" name="top-type">
            <a:extLst xmlns:a="http://schemas.openxmlformats.org/drawingml/2006/main">
              <a:ext uri="{FF2B5EF4-FFF2-40B4-BE49-F238E27FC236}">
                <a16:creationId xmlns:a16="http://schemas.microsoft.com/office/drawing/2014/main" id="{D5DCEA90-C565-4B8E-AEC2-69CDC5A4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05000"/>
            <a:ext cx="18097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4288">
            <a:solidFill>
              <a:srgbClr val="D0D5D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委外成品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直接销售包材</a:t>
            </a:r>
          </a:p>
        </p:txBody>
      </p:sp>
      <p:sp>
        <p:nvSpPr>
          <p:cNvPr id="30" name="top-step-1">
            <a:extLst xmlns:a="http://schemas.openxmlformats.org/drawingml/2006/main">
              <a:ext uri="{FF2B5EF4-FFF2-40B4-BE49-F238E27FC236}">
                <a16:creationId xmlns:a16="http://schemas.microsoft.com/office/drawing/2014/main" id="{40690B12-A353-4893-A843-C62F4093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05000"/>
            <a:ext cx="20574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① 采购入库旺店通</a:t>
            </a:r>
          </a:p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（七遇物流仓）</a:t>
            </a:r>
          </a:p>
        </p:txBody>
      </p:sp>
      <p:sp>
        <p:nvSpPr>
          <p:cNvPr id="31" name="top-step-2">
            <a:extLst xmlns:a="http://schemas.openxmlformats.org/drawingml/2006/main">
              <a:ext uri="{FF2B5EF4-FFF2-40B4-BE49-F238E27FC236}">
                <a16:creationId xmlns:a16="http://schemas.microsoft.com/office/drawing/2014/main" id="{78AEE160-56CD-4FEE-9E5B-48E4915D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743075"/>
            <a:ext cx="25146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D7F1FC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② 建销售出库单</a:t>
            </a:r>
          </a:p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提供系统单号给秀明核对</a:t>
            </a:r>
          </a:p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提供收件人地址信息和发货方式</a:t>
            </a:r>
          </a:p>
        </p:txBody>
      </p:sp>
      <p:sp>
        <p:nvSpPr>
          <p:cNvPr id="32" name="bottom-type">
            <a:extLst xmlns:a="http://schemas.openxmlformats.org/drawingml/2006/main">
              <a:ext uri="{FF2B5EF4-FFF2-40B4-BE49-F238E27FC236}">
                <a16:creationId xmlns:a16="http://schemas.microsoft.com/office/drawing/2014/main" id="{4D602846-0206-48B9-9CF1-6D904ABC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24325"/>
            <a:ext cx="1809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4288">
            <a:solidFill>
              <a:srgbClr val="D0D5D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需加工包材订单</a:t>
            </a:r>
          </a:p>
        </p:txBody>
      </p:sp>
      <p:sp>
        <p:nvSpPr>
          <p:cNvPr id="33" name="bottom-step-1">
            <a:extLst xmlns:a="http://schemas.openxmlformats.org/drawingml/2006/main">
              <a:ext uri="{FF2B5EF4-FFF2-40B4-BE49-F238E27FC236}">
                <a16:creationId xmlns:a16="http://schemas.microsoft.com/office/drawing/2014/main" id="{E5F0E296-EC54-4A4A-9D2A-94D4619B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24325"/>
            <a:ext cx="2095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① 财务在金蝶做</a:t>
            </a:r>
          </a:p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销售出库给客户</a:t>
            </a:r>
          </a:p>
        </p:txBody>
      </p:sp>
      <p:sp>
        <p:nvSpPr>
          <p:cNvPr id="34" name="bottom-step-2">
            <a:extLst xmlns:a="http://schemas.openxmlformats.org/drawingml/2006/main">
              <a:ext uri="{FF2B5EF4-FFF2-40B4-BE49-F238E27FC236}">
                <a16:creationId xmlns:a16="http://schemas.microsoft.com/office/drawing/2014/main" id="{5B8A9035-B0CE-49EE-B63C-01F6F46D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24325"/>
            <a:ext cx="2095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② BOM表新建</a:t>
            </a:r>
          </a:p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按客户自带包材</a:t>
            </a:r>
          </a:p>
        </p:txBody>
      </p:sp>
      <p:sp>
        <p:nvSpPr>
          <p:cNvPr id="35" name="bottom-step-3">
            <a:extLst xmlns:a="http://schemas.openxmlformats.org/drawingml/2006/main">
              <a:ext uri="{FF2B5EF4-FFF2-40B4-BE49-F238E27FC236}">
                <a16:creationId xmlns:a16="http://schemas.microsoft.com/office/drawing/2014/main" id="{FC2269C7-DF93-4365-A032-7A2948AA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486400"/>
            <a:ext cx="2095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③ 成品入库旺店通</a:t>
            </a:r>
          </a:p>
        </p:txBody>
      </p:sp>
      <p:sp>
        <p:nvSpPr>
          <p:cNvPr id="36" name="bottom-step-4">
            <a:extLst xmlns:a="http://schemas.openxmlformats.org/drawingml/2006/main">
              <a:ext uri="{FF2B5EF4-FFF2-40B4-BE49-F238E27FC236}">
                <a16:creationId xmlns:a16="http://schemas.microsoft.com/office/drawing/2014/main" id="{258F1F36-E592-4A5D-BEA8-5DCB53AE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314950"/>
            <a:ext cx="2381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7F1FC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11111"/>
                </a:solidFill>
              </a:defRPr>
            </a:pPr>
            <a:r>
              <a:rPr sz="1163" b="1">
                <a:solidFill>
                  <a:srgbClr val="111111"/>
                </a:solidFill>
              </a:rPr>
              <a:t>④ 建销售出库单</a:t>
            </a:r>
          </a:p>
          <a:p xmlns:a="http://schemas.openxmlformats.org/drawingml/2006/main">
            <a:pPr algn="ctr">
              <a:defRPr sz="1163" b="1">
                <a:solidFill>
                  <a:srgbClr val="111111"/>
                </a:solidFill>
              </a:defRPr>
            </a:pPr>
            <a:r>
              <a:rPr sz="1163" b="1">
                <a:solidFill>
                  <a:srgbClr val="111111"/>
                </a:solidFill>
              </a:rPr>
              <a:t>提供系统单号给秀明核对</a:t>
            </a:r>
          </a:p>
          <a:p xmlns:a="http://schemas.openxmlformats.org/drawingml/2006/main">
            <a:pPr algn="ctr">
              <a:defRPr sz="1163" b="1">
                <a:solidFill>
                  <a:srgbClr val="111111"/>
                </a:solidFill>
              </a:defRPr>
            </a:pPr>
            <a:r>
              <a:rPr sz="1163" b="1">
                <a:solidFill>
                  <a:srgbClr val="111111"/>
                </a:solidFill>
              </a:rPr>
              <a:t>提供收件人地址信息和发货方式</a:t>
            </a:r>
          </a:p>
        </p:txBody>
      </p:sp>
      <p:sp>
        <p:nvSpPr>
          <p:cNvPr id="37" name="route-tag-a">
            <a:extLst xmlns:a="http://schemas.openxmlformats.org/drawingml/2006/main">
              <a:ext uri="{FF2B5EF4-FFF2-40B4-BE49-F238E27FC236}">
                <a16:creationId xmlns:a16="http://schemas.microsoft.com/office/drawing/2014/main" id="{4F1F76A6-D05D-4ECE-A70E-41AA32E2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3050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38" name="route-tag-b">
            <a:extLst xmlns:a="http://schemas.openxmlformats.org/drawingml/2006/main">
              <a:ext uri="{FF2B5EF4-FFF2-40B4-BE49-F238E27FC236}">
                <a16:creationId xmlns:a16="http://schemas.microsoft.com/office/drawing/2014/main" id="{AC1A06CF-8511-4434-8AF4-9DE7B20C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B</a:t>
            </a:r>
          </a:p>
        </p:txBody>
      </p:sp>
      <p:sp>
        <p:nvSpPr>
          <p:cNvPr id="39" name="source-note">
            <a:extLst xmlns:a="http://schemas.openxmlformats.org/drawingml/2006/main">
              <a:ext uri="{FF2B5EF4-FFF2-40B4-BE49-F238E27FC236}">
                <a16:creationId xmlns:a16="http://schemas.microsoft.com/office/drawing/2014/main" id="{D8447746-A0E1-4834-82C1-2F2DC7E8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0557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8A2B3"/>
                </a:solidFill>
              </a:defRPr>
            </a:pPr>
            <a:r>
              <a:rPr sz="825" b="0">
                <a:solidFill>
                  <a:srgbClr val="98A2B3"/>
                </a:solidFill>
              </a:rPr>
              <a:t>来源：新建 XLSX 工作表 (2).xlsx｜验证状态：用户确认（2026-08-01）</a:t>
            </a:r>
          </a:p>
        </p:txBody>
      </p:sp>
      <p:sp>
        <p:nvSpPr>
          <p:cNvPr id="4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C36E1AC-523A-43D7-9718-2703E725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865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8A2B3"/>
                </a:solidFill>
              </a:defRPr>
            </a:pPr>
            <a:r>
              <a:rPr sz="825" b="0">
                <a:solidFill>
                  <a:srgbClr val="98A2B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328172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2026-08-01T11:26:09.1160000Z</dcterms:created>
  <dcterms:modified xsi:type="dcterms:W3CDTF">2026-08-01T11:26:09.1160000Z</dcterms:modified>
</coreProperties>
</file>