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kqybllszj5uu/mnt/agents/output/midyear_coach/images/cover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22">
                  <a:alpha val="0"/>
                </a:srgbClr>
              </a:gs>
              <a:gs pos="35000">
                <a:srgbClr val="1C1C22">
                  <a:alpha val="25000"/>
                </a:srgbClr>
              </a:gs>
              <a:gs pos="70000">
                <a:srgbClr val="1C1C22">
                  <a:alpha val="75000"/>
                </a:srgbClr>
              </a:gs>
              <a:gs pos="100000">
                <a:srgbClr val="1C1C2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3556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MID-YEAR MANAGEMENT SUMMIT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3000" y="4013200"/>
            <a:ext cx="1270000" cy="254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4318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800" spc="2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让一次年中总结，变成一次管理层能力升级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048000" y="54610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不是汇报做了什么，而是训练你如何经营结果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93000" y="6121400"/>
            <a:ext cx="1270000" cy="254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 · 会前教练发言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我今天先讲30分钟的目的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2032000"/>
            <a:ext cx="1270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今天第一个发言，不是为了先做总结，也不是为了批评谁。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我想先做一件事：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把我们今天这场会议的思考标准拉起来。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32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因为接下来每一个人的汇报，不只是代表你上半年做了什么——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更代表你的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经营意识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、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问题意识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、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判断能力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和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下半年承担结果的能力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今天，不要只是"过一遍PPT"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032000"/>
            <a:ext cx="6731000" cy="3556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2286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低价值汇报模式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97000" y="2857500"/>
            <a:ext cx="5969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我做了什么；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我遇到什么困难；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我下半年准备做什么。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9000" y="2032000"/>
            <a:ext cx="6731000" cy="3556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0" y="2286000"/>
            <a:ext cx="596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真正有价值的是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90000" y="2857500"/>
            <a:ext cx="5969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把问题看清楚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把能力补起来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把下半年的打法定下来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6350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这场会的价值 = 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问题清晰度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能力提升度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下半年打法明确度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年中总结的真正意义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8415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不是为了证明过去多辛苦，而是一次</a:t>
            </a:r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管理层体检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78000" y="2794000"/>
            <a:ext cx="1270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目标有没有达成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结果为什么这样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问题在哪里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能力差距在哪里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下半年怎么赢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公司能不能因为这次复盘变得更强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低质量汇报的六个"只讲"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1968500"/>
            <a:ext cx="12700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只讲动作，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不讲结果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只讲过程，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不讲判断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只讲困难，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不讲方案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只讲部门，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不讲公司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只讲过去，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不讲下半年怎么赢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只讲自己做了什么，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不讲公司沉淀了什么能力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高质量汇报要回答五个问题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968500"/>
            <a:ext cx="4445000" cy="2159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15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27686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我的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是什么？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05500" y="1968500"/>
            <a:ext cx="4445000" cy="2159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8" name="Text 6"/>
          <p:cNvSpPr/>
          <p:nvPr/>
        </p:nvSpPr>
        <p:spPr>
          <a:xfrm>
            <a:off x="6159500" y="2159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159500" y="27686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我的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怎么样？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95000" y="1968500"/>
            <a:ext cx="4445000" cy="2159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0" y="2159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049000" y="27686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结果背后的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原因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是什么？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54400" y="4508500"/>
            <a:ext cx="4445000" cy="2159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4" name="Text 12"/>
          <p:cNvSpPr/>
          <p:nvPr/>
        </p:nvSpPr>
        <p:spPr>
          <a:xfrm>
            <a:off x="3708400" y="4699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08400" y="53086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我发现了什么真正的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43900" y="4508500"/>
            <a:ext cx="4445000" cy="2159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7900" y="4699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97900" y="53086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下半年我准备用什么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方案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拿到结果？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7239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高质量汇报不是PPT做得漂亮，而是思考质量高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我最想听到的不是"辛苦"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1968500"/>
            <a:ext cx="1270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管理层的价值，不是让老板知道你很忙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78000" y="2768600"/>
            <a:ext cx="12700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304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我更想听到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683000"/>
            <a:ext cx="1219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你看见了什么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你做出了什么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判断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你准备怎么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你需要谁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协同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你能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什么标准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你下半年怎么对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负责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汇报不是展示工作量，而是展示判断力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032000"/>
            <a:ext cx="6731000" cy="4826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228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普通员工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7000" y="2794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"我做了什么"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97000" y="3492500"/>
            <a:ext cx="5969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746500"/>
            <a:ext cx="596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汇报动作、汇报进度、汇报自己有多忙。核心关注点是"我完成了什么任务"。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09000" y="2032000"/>
            <a:ext cx="6731000" cy="4826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90000" y="228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90000" y="2794000"/>
            <a:ext cx="596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8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"我是怎么判断的"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890000" y="3492500"/>
            <a:ext cx="5969000" cy="127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37465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为什么这样做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这个结果说明什么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背后的经营问题是什么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下一步最优方案是什么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如果我是老板，我会怎么做判断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做事型干部 vs 经营型干部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905000"/>
            <a:ext cx="673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spc="3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做事型干部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6000" y="2476500"/>
            <a:ext cx="6731000" cy="4826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794000"/>
            <a:ext cx="5969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等任务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报进度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讲困难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要支持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完成本部门动作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15300" y="2476500"/>
            <a:ext cx="25400" cy="48260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8" name="Text 6"/>
          <p:cNvSpPr/>
          <p:nvPr/>
        </p:nvSpPr>
        <p:spPr>
          <a:xfrm>
            <a:off x="8509000" y="1905000"/>
            <a:ext cx="673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经营型干部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509000" y="2476500"/>
            <a:ext cx="6731000" cy="4826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90000" y="2794000"/>
            <a:ext cx="5969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盯结果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找问题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做判断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拿方案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推协同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沉淀标准</a:t>
            </a:r>
            <a:endParaRPr lang="en-US" sz="2000" dirty="0"/>
          </a:p>
          <a:p>
            <a:pPr algn="l">
              <a:lnSpc>
                <a:spcPct val="20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站在公司经营结果上思考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管理层必须完成的身份升级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过去是优秀的执行者，今天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只会执行已经不够了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79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管理层必须成为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3492500"/>
            <a:ext cx="1270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发现问题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判断问题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解决问题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推动协同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沉淀能力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经营结果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负责的人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老板对管理层的期待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032000"/>
            <a:ext cx="14224000" cy="1778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Shape 3"/>
          <p:cNvSpPr/>
          <p:nvPr/>
        </p:nvSpPr>
        <p:spPr>
          <a:xfrm>
            <a:off x="13970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603" y="65544"/>
                </a:moveTo>
                <a:cubicBezTo>
                  <a:pt x="50721" y="54382"/>
                  <a:pt x="26551" y="54382"/>
                  <a:pt x="11668" y="65544"/>
                </a:cubicBezTo>
                <a:cubicBezTo>
                  <a:pt x="-3215" y="76706"/>
                  <a:pt x="-3215" y="94833"/>
                  <a:pt x="11668" y="105995"/>
                </a:cubicBezTo>
                <a:lnTo>
                  <a:pt x="175260" y="228600"/>
                </a:lnTo>
                <a:lnTo>
                  <a:pt x="11787" y="351294"/>
                </a:lnTo>
                <a:cubicBezTo>
                  <a:pt x="-3096" y="362456"/>
                  <a:pt x="-3096" y="380583"/>
                  <a:pt x="11787" y="391745"/>
                </a:cubicBezTo>
                <a:cubicBezTo>
                  <a:pt x="26670" y="402908"/>
                  <a:pt x="50840" y="402908"/>
                  <a:pt x="65723" y="391745"/>
                </a:cubicBezTo>
                <a:lnTo>
                  <a:pt x="229195" y="269051"/>
                </a:lnTo>
                <a:lnTo>
                  <a:pt x="392787" y="391656"/>
                </a:lnTo>
                <a:cubicBezTo>
                  <a:pt x="407670" y="402818"/>
                  <a:pt x="431840" y="402818"/>
                  <a:pt x="446723" y="391656"/>
                </a:cubicBezTo>
                <a:cubicBezTo>
                  <a:pt x="461605" y="380494"/>
                  <a:pt x="461605" y="362367"/>
                  <a:pt x="446723" y="351205"/>
                </a:cubicBezTo>
                <a:lnTo>
                  <a:pt x="283131" y="228600"/>
                </a:lnTo>
                <a:lnTo>
                  <a:pt x="446603" y="105906"/>
                </a:lnTo>
                <a:cubicBezTo>
                  <a:pt x="461486" y="94744"/>
                  <a:pt x="461486" y="76617"/>
                  <a:pt x="446603" y="65455"/>
                </a:cubicBezTo>
                <a:cubicBezTo>
                  <a:pt x="431721" y="54293"/>
                  <a:pt x="407551" y="54293"/>
                  <a:pt x="392668" y="65455"/>
                </a:cubicBezTo>
                <a:lnTo>
                  <a:pt x="229195" y="188149"/>
                </a:lnTo>
                <a:lnTo>
                  <a:pt x="65603" y="65544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34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遇到问题，不要只上交问题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66000" y="254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C8A97A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2349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要带着判断来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16000" y="4064000"/>
            <a:ext cx="14224000" cy="1778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0" name="Shape 8"/>
          <p:cNvSpPr/>
          <p:nvPr/>
        </p:nvSpPr>
        <p:spPr>
          <a:xfrm>
            <a:off x="13970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603" y="65544"/>
                </a:moveTo>
                <a:cubicBezTo>
                  <a:pt x="50721" y="54382"/>
                  <a:pt x="26551" y="54382"/>
                  <a:pt x="11668" y="65544"/>
                </a:cubicBezTo>
                <a:cubicBezTo>
                  <a:pt x="-3215" y="76706"/>
                  <a:pt x="-3215" y="94833"/>
                  <a:pt x="11668" y="105995"/>
                </a:cubicBezTo>
                <a:lnTo>
                  <a:pt x="175260" y="228600"/>
                </a:lnTo>
                <a:lnTo>
                  <a:pt x="11787" y="351294"/>
                </a:lnTo>
                <a:cubicBezTo>
                  <a:pt x="-3096" y="362456"/>
                  <a:pt x="-3096" y="380583"/>
                  <a:pt x="11787" y="391745"/>
                </a:cubicBezTo>
                <a:cubicBezTo>
                  <a:pt x="26670" y="402908"/>
                  <a:pt x="50840" y="402908"/>
                  <a:pt x="65723" y="391745"/>
                </a:cubicBezTo>
                <a:lnTo>
                  <a:pt x="229195" y="269051"/>
                </a:lnTo>
                <a:lnTo>
                  <a:pt x="392787" y="391656"/>
                </a:lnTo>
                <a:cubicBezTo>
                  <a:pt x="407670" y="402818"/>
                  <a:pt x="431840" y="402818"/>
                  <a:pt x="446723" y="391656"/>
                </a:cubicBezTo>
                <a:cubicBezTo>
                  <a:pt x="461605" y="380494"/>
                  <a:pt x="461605" y="362367"/>
                  <a:pt x="446723" y="351205"/>
                </a:cubicBezTo>
                <a:lnTo>
                  <a:pt x="283131" y="228600"/>
                </a:lnTo>
                <a:lnTo>
                  <a:pt x="446603" y="105906"/>
                </a:lnTo>
                <a:cubicBezTo>
                  <a:pt x="461486" y="94744"/>
                  <a:pt x="461486" y="76617"/>
                  <a:pt x="446603" y="65455"/>
                </a:cubicBezTo>
                <a:cubicBezTo>
                  <a:pt x="431721" y="54293"/>
                  <a:pt x="407551" y="54293"/>
                  <a:pt x="392668" y="65455"/>
                </a:cubicBezTo>
                <a:lnTo>
                  <a:pt x="229195" y="188149"/>
                </a:lnTo>
                <a:lnTo>
                  <a:pt x="65603" y="65544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1" name="Text 9"/>
          <p:cNvSpPr/>
          <p:nvPr/>
        </p:nvSpPr>
        <p:spPr>
          <a:xfrm>
            <a:off x="20955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需要支持，不要只说"需要公司支持"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6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C8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4318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要说清楚为什么、怎么用、产生什么结果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16000" y="6096000"/>
            <a:ext cx="14224000" cy="1778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97000" y="660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603" y="65544"/>
                </a:moveTo>
                <a:cubicBezTo>
                  <a:pt x="50721" y="54382"/>
                  <a:pt x="26551" y="54382"/>
                  <a:pt x="11668" y="65544"/>
                </a:cubicBezTo>
                <a:cubicBezTo>
                  <a:pt x="-3215" y="76706"/>
                  <a:pt x="-3215" y="94833"/>
                  <a:pt x="11668" y="105995"/>
                </a:cubicBezTo>
                <a:lnTo>
                  <a:pt x="175260" y="228600"/>
                </a:lnTo>
                <a:lnTo>
                  <a:pt x="11787" y="351294"/>
                </a:lnTo>
                <a:cubicBezTo>
                  <a:pt x="-3096" y="362456"/>
                  <a:pt x="-3096" y="380583"/>
                  <a:pt x="11787" y="391745"/>
                </a:cubicBezTo>
                <a:cubicBezTo>
                  <a:pt x="26670" y="402908"/>
                  <a:pt x="50840" y="402908"/>
                  <a:pt x="65723" y="391745"/>
                </a:cubicBezTo>
                <a:lnTo>
                  <a:pt x="229195" y="269051"/>
                </a:lnTo>
                <a:lnTo>
                  <a:pt x="392787" y="391656"/>
                </a:lnTo>
                <a:cubicBezTo>
                  <a:pt x="407670" y="402818"/>
                  <a:pt x="431840" y="402818"/>
                  <a:pt x="446723" y="391656"/>
                </a:cubicBezTo>
                <a:cubicBezTo>
                  <a:pt x="461605" y="380494"/>
                  <a:pt x="461605" y="362367"/>
                  <a:pt x="446723" y="351205"/>
                </a:cubicBezTo>
                <a:lnTo>
                  <a:pt x="283131" y="228600"/>
                </a:lnTo>
                <a:lnTo>
                  <a:pt x="446603" y="105906"/>
                </a:lnTo>
                <a:cubicBezTo>
                  <a:pt x="461486" y="94744"/>
                  <a:pt x="461486" y="76617"/>
                  <a:pt x="446603" y="65455"/>
                </a:cubicBezTo>
                <a:cubicBezTo>
                  <a:pt x="431721" y="54293"/>
                  <a:pt x="407551" y="54293"/>
                  <a:pt x="392668" y="65455"/>
                </a:cubicBezTo>
                <a:lnTo>
                  <a:pt x="229195" y="188149"/>
                </a:lnTo>
                <a:lnTo>
                  <a:pt x="65603" y="65544"/>
                </a:lnTo>
                <a:close/>
              </a:path>
            </a:pathLst>
          </a:custGeom>
          <a:solidFill>
            <a:srgbClr val="9CA3AF"/>
          </a:solidFill>
          <a:ln/>
        </p:spPr>
      </p:sp>
      <p:sp>
        <p:nvSpPr>
          <p:cNvPr id="16" name="Text 14"/>
          <p:cNvSpPr/>
          <p:nvPr/>
        </p:nvSpPr>
        <p:spPr>
          <a:xfrm>
            <a:off x="2095500" y="641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做完事情，不要事情结束就结束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66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C8A97A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6413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要沉淀成SOP、案例、模板和经验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AI不是工具，而是工作方式升级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推AI不是为了赶潮流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AI会改变什么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3492500"/>
            <a:ext cx="1270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一个人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复盘问题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的能力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一个人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整理经验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的能力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一个人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形成SOP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的能力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一个人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训练团队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的能力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一个部门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沉淀组织资产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的能力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AI时代，差距会被快速拉开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78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过去靠经验、勤奋、加班补。AI时代，真正的差距会变成——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2921000"/>
            <a:ext cx="12700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谁的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问题意识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更强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谁更会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提问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谁更会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复盘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谁更会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谁会把经验变成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</a:t>
            </a:r>
            <a:endParaRPr lang="en-US" sz="2200" dirty="0"/>
          </a:p>
          <a:p>
            <a:pPr algn="l">
              <a:lnSpc>
                <a:spcPct val="20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▎</a:t>
            </a:r>
            <a:pPr algn="l">
              <a:lnSpc>
                <a:spcPct val="200000"/>
              </a:lnSpc>
            </a:pPr>
            <a:r>
              <a:rPr lang="en-US" sz="2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谁会用AI</a:t>
            </a:r>
            <a:pPr algn="l">
              <a:lnSpc>
                <a:spcPct val="200000"/>
              </a:lnSpc>
            </a:pPr>
            <a:r>
              <a:rPr lang="en-US" sz="2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放大自己的管理能力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下半年，用AI回答五个问题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968500"/>
            <a:ext cx="6858000" cy="1143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15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95500" y="22225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重复性工作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可以减少？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0" y="1968500"/>
            <a:ext cx="6858000" cy="1143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2159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461500" y="22225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岗位经验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可以沉淀？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6000" y="3365500"/>
            <a:ext cx="6858000" cy="1143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3556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95500" y="36195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哪些问题可以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复盘成案例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82000" y="3365500"/>
            <a:ext cx="6858000" cy="1143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3556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461500" y="36195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哪些流程可以变成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99000" y="4762500"/>
            <a:ext cx="6858000" cy="1143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3000" y="4953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78500" y="5016500"/>
            <a:ext cx="552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哪些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新人培训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可以用AI辅助完成？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" y="6604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AI不是额外工作，是提升部门能力的</a:t>
            </a:r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基础工具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今天汇报，请回答这七个问题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905000"/>
            <a:ext cx="6858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9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 algn="l">
              <a:lnSpc>
                <a:spcPct val="19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上半年你的核心目标是什么？</a:t>
            </a:r>
            <a:endParaRPr lang="en-US" sz="2000" dirty="0"/>
          </a:p>
          <a:p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结果完成得怎么样？</a:t>
            </a:r>
            <a:endParaRPr lang="en-US" sz="2000" dirty="0"/>
          </a:p>
          <a:p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哪些结果是好的，为什么？</a:t>
            </a:r>
            <a:endParaRPr lang="en-US" sz="2000" dirty="0"/>
          </a:p>
          <a:p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哪些结果没有达成，真正原因是什么？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2000" y="19050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90000"/>
              </a:lnSpc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 algn="l">
              <a:lnSpc>
                <a:spcPct val="190000"/>
              </a:lnSpc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你发现了哪些重复发生的问题？</a:t>
            </a:r>
            <a:endParaRPr lang="en-US" sz="2000" dirty="0"/>
          </a:p>
          <a:p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下半年你准备怎么解决？</a:t>
            </a:r>
            <a:endParaRPr lang="en-US" sz="2000" dirty="0"/>
          </a:p>
          <a:p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 algn="l">
              <a:lnSpc>
                <a:spcPct val="19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你准备用AI或SOP沉淀什么部门能力？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39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今天我不希望听到三种汇报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968500"/>
            <a:ext cx="4445000" cy="5461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970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流水账汇报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" y="3530600"/>
            <a:ext cx="3683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7846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只讲做了很多事，但没有结果判断。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05500" y="1968500"/>
            <a:ext cx="4445000" cy="5461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0" name="Text 8"/>
          <p:cNvSpPr/>
          <p:nvPr/>
        </p:nvSpPr>
        <p:spPr>
          <a:xfrm>
            <a:off x="62865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865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困难型汇报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86500" y="3530600"/>
            <a:ext cx="3683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0" y="37846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困难讲得很清楚，但方案不清楚。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968500"/>
            <a:ext cx="4445000" cy="5461000"/>
          </a:xfrm>
          <a:prstGeom prst="rect">
            <a:avLst/>
          </a:prstGeom>
          <a:solidFill>
            <a:srgbClr val="2525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760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表态型汇报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176000" y="3530600"/>
            <a:ext cx="3683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784600"/>
            <a:ext cx="368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说下半年要努力、要加强、要提升，但没有具体路径。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98500"/>
            <a:ext cx="1270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今天我希望听到三种汇报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16000" y="1435100"/>
            <a:ext cx="762000" cy="381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1968500"/>
            <a:ext cx="4445000" cy="5461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70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970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经营型汇报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97000" y="3530600"/>
            <a:ext cx="3683000" cy="127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7846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有目标、有结果、有原因、有判断。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05500" y="1968500"/>
            <a:ext cx="4445000" cy="5461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65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865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方案型汇报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86500" y="3530600"/>
            <a:ext cx="3683000" cy="127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0" y="37846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有问题、有方案、有取舍、有优先级。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968500"/>
            <a:ext cx="4445000" cy="5461000"/>
          </a:xfrm>
          <a:prstGeom prst="rect">
            <a:avLst/>
          </a:prstGeom>
          <a:solidFill>
            <a:srgbClr val="25252E"/>
          </a:solidFill>
          <a:ln w="12700">
            <a:solidFill>
              <a:srgbClr val="C8A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76000" y="2286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36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176000" y="2921000"/>
            <a:ext cx="368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沉淀型汇报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176000" y="3530600"/>
            <a:ext cx="3683000" cy="127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3784600"/>
            <a:ext cx="368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不是只解决一次问题，而是把问题变成标准，把经验变成组织能力。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" y="8382000"/>
            <a:ext cx="14224000" cy="12700"/>
          </a:xfrm>
          <a:prstGeom prst="rect">
            <a:avLst/>
          </a:prstGeom>
          <a:solidFill>
            <a:srgbClr val="3A3A4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8509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732000" y="8509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hkqybllszj5uu/mnt/agents/output/midyear_coach/images/final_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22">
                  <a:alpha val="25000"/>
                </a:srgbClr>
              </a:gs>
              <a:gs pos="30000">
                <a:srgbClr val="1C1C22">
                  <a:alpha val="63000"/>
                </a:srgbClr>
              </a:gs>
              <a:gs pos="60000">
                <a:srgbClr val="1C1C22">
                  <a:alpha val="82000"/>
                </a:srgbClr>
              </a:gs>
              <a:gs pos="100000">
                <a:srgbClr val="1C1C22">
                  <a:alpha val="94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048000" y="2794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MID-YEAR MANAGEMENT SUMMIT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58000" y="3302000"/>
            <a:ext cx="2540000" cy="254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3429000"/>
            <a:ext cx="1143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我创造了什么结果？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我解决了什么问题？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我沉淀了什么能力？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我让公司因为我的存在变得更强了吗？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78000" y="5588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spc="300" kern="0" dirty="0">
                <a:solidFill>
                  <a:srgbClr val="C8A9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管理层的价值，不是完成工作，而是经营结果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858000" y="6604000"/>
            <a:ext cx="2540000" cy="25400"/>
          </a:xfrm>
          <a:prstGeom prst="rect">
            <a:avLst/>
          </a:prstGeom>
          <a:solidFill>
            <a:srgbClr val="C8A97A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685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今天这场会，是管理层的一次集体升级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2026年中管理层总结大会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让一次年中总结，变成一次管理层能力升级</dc:title>
  <dc:subject>让一次年中总结，变成一次管理层能力升级</dc:subject>
  <dc:creator>Kimi</dc:creator>
  <cp:lastModifiedBy>Kimi</cp:lastModifiedBy>
  <cp:revision>1</cp:revision>
  <dcterms:created xsi:type="dcterms:W3CDTF">2026-07-09T02:21:32Z</dcterms:created>
  <dcterms:modified xsi:type="dcterms:W3CDTF">2026-07-09T02:21:32Z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让一次年中总结，变成一次管理层能力升级","ContentProducer":"001191110108MACG2KBH8F10000","ProduceID":"19f448f9-3522-8732-8000-0000d598afd2","ReservedCode1":"","ContentPropagator":"001191110108MACG2KBH8F20000","PropagateID":"19f448ba-33d2-8c69-8000-09c7a550f071","ReservedCode2":""}</vt:lpwstr>
  </property>
</Properties>
</file>