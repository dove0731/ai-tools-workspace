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ustomXml" Target="../customXml/item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deco-grid-top"/>
          <p:cNvSpPr/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eco-grid-bottom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eco-line-left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deco-line-right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itle-main|s=$title"/>
          <p:cNvSpPr txBox="1"/>
          <p:nvPr/>
        </p:nvSpPr>
        <p:spPr>
          <a:xfrm>
            <a:off x="1333500" y="2095500"/>
            <a:ext cx="9525000" cy="152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4200" noProof="1">
                <a:solidFill>
                  <a:srgbClr val="1F2937"/>
                </a:solidFill>
                <a:latin typeface="Liter"/>
                <a:ea typeface="alimamashuheiti"/>
              </a:rPr>
              <a:t>我是如何用第二大脑</a:t>
            </a:r>
            <a:endParaRPr sz="4200" noProof="1">
              <a:solidFill>
                <a:srgbClr val="1F2937"/>
              </a:solidFill>
              <a:latin typeface="Liter"/>
              <a:ea typeface="alimamashuheiti"/>
            </a:endParaRPr>
          </a:p>
          <a:p>
            <a:pPr algn="ctr">
              <a:lnSpc>
                <a:spcPct val="130000"/>
              </a:lnSpc>
            </a:pPr>
            <a:r>
              <a:rPr sz="4200" noProof="1">
                <a:solidFill>
                  <a:srgbClr val="1F2937"/>
                </a:solidFill>
                <a:latin typeface="Liter"/>
                <a:ea typeface="alimamashuheiti"/>
              </a:rPr>
              <a:t>经营自己的人生的</a:t>
            </a:r>
            <a:endParaRPr sz="42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7" name="dsl:subtitle|s=$subtitle"/>
          <p:cNvSpPr txBox="1"/>
          <p:nvPr/>
        </p:nvSpPr>
        <p:spPr>
          <a:xfrm>
            <a:off x="3238500" y="4000500"/>
            <a:ext cx="571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800" noProof="1">
                <a:solidFill>
                  <a:srgbClr val="6B7280"/>
                </a:solidFill>
                <a:latin typeface="QuattrocentoSans"/>
                <a:ea typeface="MiSans"/>
              </a:rPr>
              <a:t>张凯茗｜个人分享</a:t>
            </a:r>
            <a:endParaRPr sz="18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8" name="dsl:deco-bar"/>
          <p:cNvSpPr/>
          <p:nvPr/>
        </p:nvSpPr>
        <p:spPr>
          <a:xfrm>
            <a:off x="5334000" y="3810000"/>
            <a:ext cx="1524000" cy="28575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adge|s=$label"/>
          <p:cNvSpPr txBox="1"/>
          <p:nvPr/>
        </p:nvSpPr>
        <p:spPr>
          <a:xfrm>
            <a:off x="4191000" y="5334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spc="150" noProof="1">
                <a:solidFill>
                  <a:srgbClr val="6B7280"/>
                </a:solidFill>
                <a:latin typeface="QuattrocentoSans"/>
                <a:ea typeface="MiSans"/>
              </a:rPr>
              <a:t>CLOS-BRAIN 人生运行科学</a:t>
            </a:r>
            <a:endParaRPr sz="900" spc="1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label|s=$label"/>
          <p:cNvSpPr txBox="1"/>
          <p:nvPr/>
        </p:nvSpPr>
        <p:spPr>
          <a:xfrm>
            <a:off x="762000" y="571500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spc="150" noProof="1">
                <a:solidFill>
                  <a:srgbClr val="6B7280"/>
                </a:solidFill>
                <a:latin typeface="QuattrocentoSans"/>
                <a:ea typeface="MiSans"/>
              </a:rPr>
              <a:t>CONTENTS</a:t>
            </a:r>
            <a:endParaRPr sz="900" spc="1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" name="dsl:toc-title|s=$heading"/>
          <p:cNvSpPr txBox="1"/>
          <p:nvPr/>
        </p:nvSpPr>
        <p:spPr>
          <a:xfrm>
            <a:off x="762000" y="952500"/>
            <a:ext cx="2857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noProof="1">
                <a:solidFill>
                  <a:srgbClr val="1F2937"/>
                </a:solidFill>
                <a:latin typeface="Liter"/>
                <a:ea typeface="alimamashuheiti"/>
              </a:rPr>
              <a:t>目录</a:t>
            </a:r>
            <a:endParaRPr sz="36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4" name="dsl:toc-line"/>
          <p:cNvSpPr/>
          <p:nvPr/>
        </p:nvSpPr>
        <p:spPr>
          <a:xfrm>
            <a:off x="762000" y="1714500"/>
            <a:ext cx="10668000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item1-num|s=$chapterNum"/>
          <p:cNvSpPr txBox="1"/>
          <p:nvPr/>
        </p:nvSpPr>
        <p:spPr>
          <a:xfrm>
            <a:off x="762000" y="2286000"/>
            <a:ext cx="1143000" cy="8572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1E3A5F"/>
                </a:solidFill>
                <a:latin typeface="Liter"/>
                <a:ea typeface="alimamashuheiti"/>
              </a:rPr>
              <a:t>01</a:t>
            </a:r>
            <a:endParaRPr sz="54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6" name="dsl:item1-title|s=$heading"/>
          <p:cNvSpPr txBox="1"/>
          <p:nvPr/>
        </p:nvSpPr>
        <p:spPr>
          <a:xfrm>
            <a:off x="2095500" y="23812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noProof="1">
                <a:solidFill>
                  <a:srgbClr val="1F2937"/>
                </a:solidFill>
                <a:latin typeface="Liter"/>
                <a:ea typeface="alimamashuheiti"/>
              </a:rPr>
              <a:t>我曾经的问题</a:t>
            </a:r>
            <a:endParaRPr sz="21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7" name="dsl:item1-desc|s=$caption"/>
          <p:cNvSpPr txBox="1"/>
          <p:nvPr/>
        </p:nvSpPr>
        <p:spPr>
          <a:xfrm>
            <a:off x="2095500" y="28575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为什么知道很多，却改变不了什么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8" name="dsl:item2-num|s=$chapterNum"/>
          <p:cNvSpPr txBox="1"/>
          <p:nvPr/>
        </p:nvSpPr>
        <p:spPr>
          <a:xfrm>
            <a:off x="762000" y="3619500"/>
            <a:ext cx="1143000" cy="8572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1E3A5F"/>
                </a:solidFill>
                <a:latin typeface="Liter"/>
                <a:ea typeface="alimamashuheiti"/>
              </a:rPr>
              <a:t>02</a:t>
            </a:r>
            <a:endParaRPr sz="54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9" name="dsl:item2-title|s=$heading"/>
          <p:cNvSpPr txBox="1"/>
          <p:nvPr/>
        </p:nvSpPr>
        <p:spPr>
          <a:xfrm>
            <a:off x="2095500" y="3714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noProof="1">
                <a:solidFill>
                  <a:srgbClr val="1F2937"/>
                </a:solidFill>
                <a:latin typeface="Liter"/>
                <a:ea typeface="alimamashuheiti"/>
              </a:rPr>
              <a:t>我建了一个仓库</a:t>
            </a:r>
            <a:endParaRPr sz="21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10" name="dsl:item2-desc|s=$caption"/>
          <p:cNvSpPr txBox="1"/>
          <p:nvPr/>
        </p:nvSpPr>
        <p:spPr>
          <a:xfrm>
            <a:off x="2095500" y="4191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CLOS-Brain 人生操作系统是怎么长出来的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1" name="dsl:item3-num|s=$chapterNum"/>
          <p:cNvSpPr txBox="1"/>
          <p:nvPr/>
        </p:nvSpPr>
        <p:spPr>
          <a:xfrm>
            <a:off x="762000" y="4953000"/>
            <a:ext cx="1143000" cy="8572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1E3A5F"/>
                </a:solidFill>
                <a:latin typeface="Liter"/>
                <a:ea typeface="alimamashuheiti"/>
              </a:rPr>
              <a:t>03</a:t>
            </a:r>
            <a:endParaRPr sz="54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12" name="dsl:item3-title|s=$heading"/>
          <p:cNvSpPr txBox="1"/>
          <p:nvPr/>
        </p:nvSpPr>
        <p:spPr>
          <a:xfrm>
            <a:off x="2095500" y="50482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noProof="1">
                <a:solidFill>
                  <a:srgbClr val="1F2937"/>
                </a:solidFill>
                <a:latin typeface="Liter"/>
                <a:ea typeface="alimamashuheiti"/>
              </a:rPr>
              <a:t>我每天怎么运行</a:t>
            </a:r>
            <a:endParaRPr sz="21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13" name="dsl:item3-desc|s=$caption"/>
          <p:cNvSpPr txBox="1"/>
          <p:nvPr/>
        </p:nvSpPr>
        <p:spPr>
          <a:xfrm>
            <a:off x="2095500" y="55245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运行日志 + 旧系统识别 + 切换流程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4" name="dsl:item4-num|s=$chapterNum"/>
          <p:cNvSpPr txBox="1"/>
          <p:nvPr/>
        </p:nvSpPr>
        <p:spPr>
          <a:xfrm>
            <a:off x="6286500" y="4953000"/>
            <a:ext cx="1143000" cy="8572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1E3A5F"/>
                </a:solidFill>
                <a:latin typeface="Liter"/>
                <a:ea typeface="alimamashuheiti"/>
              </a:rPr>
              <a:t>04</a:t>
            </a:r>
            <a:endParaRPr sz="54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15" name="dsl:item4-title|s=$heading"/>
          <p:cNvSpPr txBox="1"/>
          <p:nvPr/>
        </p:nvSpPr>
        <p:spPr>
          <a:xfrm>
            <a:off x="7620000" y="50482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noProof="1">
                <a:solidFill>
                  <a:srgbClr val="1F2937"/>
                </a:solidFill>
                <a:latin typeface="Liter"/>
                <a:ea typeface="alimamashuheiti"/>
              </a:rPr>
              <a:t>我现在的样子</a:t>
            </a:r>
            <a:endParaRPr sz="21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16" name="dsl:item4-desc|s=$caption"/>
          <p:cNvSpPr txBox="1"/>
          <p:nvPr/>
        </p:nvSpPr>
        <p:spPr>
          <a:xfrm>
            <a:off x="7620000" y="55245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两年后的变化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age-label|s=$label"/>
          <p:cNvSpPr txBox="1"/>
          <p:nvPr/>
        </p:nvSpPr>
        <p:spPr>
          <a:xfrm>
            <a:off x="762000" y="3810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B7280"/>
                </a:solidFill>
                <a:latin typeface="QuattrocentoSans"/>
                <a:ea typeface="MiSans"/>
              </a:rPr>
              <a:t>01 我曾经的问题</a:t>
            </a:r>
            <a:endParaRPr sz="9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" name="dsl:title|s=$heading"/>
          <p:cNvSpPr txBox="1"/>
          <p:nvPr/>
        </p:nvSpPr>
        <p:spPr>
          <a:xfrm>
            <a:off x="762000" y="762000"/>
            <a:ext cx="6667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我曾经的问题</a:t>
            </a:r>
            <a:endParaRPr sz="27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4" name="dsl:deco-bar"/>
          <p:cNvSpPr/>
          <p:nvPr/>
        </p:nvSpPr>
        <p:spPr>
          <a:xfrm>
            <a:off x="762000" y="1381125"/>
            <a:ext cx="571500" cy="381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opening|s=$body"/>
          <p:cNvSpPr txBox="1"/>
          <p:nvPr/>
        </p:nvSpPr>
        <p:spPr>
          <a:xfrm>
            <a:off x="762000" y="1714500"/>
            <a:ext cx="10668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650" noProof="1">
                <a:solidFill>
                  <a:srgbClr val="1F2937"/>
                </a:solidFill>
                <a:latin typeface="QuattrocentoSans"/>
                <a:ea typeface="MiSans"/>
              </a:rPr>
              <a:t>三年前，我读完一本书，写了很多笔记，三个月后全忘了。</a:t>
            </a:r>
            <a:endParaRPr sz="165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6" name="dsl:question|s=$slogan"/>
          <p:cNvSpPr txBox="1"/>
          <p:nvPr/>
        </p:nvSpPr>
        <p:spPr>
          <a:xfrm>
            <a:off x="762000" y="2190750"/>
            <a:ext cx="1066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noProof="1">
                <a:solidFill>
                  <a:srgbClr val="B45309"/>
                </a:solidFill>
                <a:latin typeface="Liter"/>
                <a:ea typeface="alimamashuheiti"/>
              </a:rPr>
              <a:t>我学的知识，没有留在我的生命里。</a:t>
            </a:r>
            <a:endParaRPr sz="2100" noProof="1">
              <a:solidFill>
                <a:srgbClr val="B45309"/>
              </a:solidFill>
              <a:latin typeface="Liter"/>
              <a:ea typeface="alimamashuheiti"/>
            </a:endParaRPr>
          </a:p>
        </p:txBody>
      </p:sp>
      <p:sp>
        <p:nvSpPr>
          <p:cNvPr id="7" name="dsl:divider"/>
          <p:cNvSpPr/>
          <p:nvPr/>
        </p:nvSpPr>
        <p:spPr>
          <a:xfrm>
            <a:off x="762000" y="2809875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list-title|s=$body"/>
          <p:cNvSpPr txBox="1"/>
          <p:nvPr/>
        </p:nvSpPr>
        <p:spPr>
          <a:xfrm>
            <a:off x="762000" y="3048000"/>
            <a:ext cx="3810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650" noProof="1">
                <a:solidFill>
                  <a:srgbClr val="1F2937"/>
                </a:solidFill>
                <a:latin typeface="QuattrocentoSans"/>
                <a:ea typeface="MiSans"/>
              </a:rPr>
              <a:t>同样的问题反复出现：</a:t>
            </a:r>
            <a:endParaRPr sz="165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9" name="dsl:list-items|s=$body"/>
          <p:cNvSpPr txBox="1"/>
          <p:nvPr/>
        </p:nvSpPr>
        <p:spPr>
          <a:xfrm>
            <a:off x="762000" y="3524250"/>
            <a:ext cx="10668000" cy="2190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200000"/>
              </a:lnSpc>
            </a:pP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• 上过很多课，生活没有变化</a:t>
            </a:r>
            <a:endParaRPr sz="15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200000"/>
              </a:lnSpc>
            </a:pP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• 遇到同样的情绪，每次都崩溃</a:t>
            </a:r>
            <a:endParaRPr sz="15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200000"/>
              </a:lnSpc>
            </a:pP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• 经验都在脑子里，每次重新开始</a:t>
            </a:r>
            <a:endParaRPr sz="15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200000"/>
              </a:lnSpc>
            </a:pP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• 控制不住在意别人的评价</a:t>
            </a:r>
            <a:endParaRPr sz="15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10" name="dsl:conclusion-bg"/>
          <p:cNvSpPr/>
          <p:nvPr/>
        </p:nvSpPr>
        <p:spPr>
          <a:xfrm>
            <a:off x="762000" y="5905500"/>
            <a:ext cx="10668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onclusion|s=$body"/>
          <p:cNvSpPr txBox="1"/>
          <p:nvPr/>
        </p:nvSpPr>
        <p:spPr>
          <a:xfrm>
            <a:off x="952500" y="5905500"/>
            <a:ext cx="10287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不是我知道得不够多，是我的经验没有沉淀成一个系统。</a:t>
            </a:r>
            <a:endParaRPr sz="15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age-label|s=$label"/>
          <p:cNvSpPr txBox="1"/>
          <p:nvPr/>
        </p:nvSpPr>
        <p:spPr>
          <a:xfrm>
            <a:off x="762000" y="3810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B7280"/>
                </a:solidFill>
                <a:latin typeface="QuattrocentoSans"/>
                <a:ea typeface="MiSans"/>
              </a:rPr>
              <a:t>01 我曾经的问题</a:t>
            </a:r>
            <a:endParaRPr sz="9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" name="dsl:line1|s=$slogan"/>
          <p:cNvSpPr txBox="1"/>
          <p:nvPr/>
        </p:nvSpPr>
        <p:spPr>
          <a:xfrm>
            <a:off x="762000" y="1714500"/>
            <a:ext cx="10668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人生不是按照</a:t>
            </a:r>
            <a:r>
              <a:rPr sz="2700" noProof="1">
                <a:solidFill>
                  <a:srgbClr val="6B7280"/>
                </a:solidFill>
                <a:latin typeface="Liter"/>
                <a:ea typeface="alimamashuheiti"/>
              </a:rPr>
              <a:t>"我知道了什么"</a:t>
            </a: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运行。</a:t>
            </a:r>
            <a:endParaRPr sz="27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4" name="dsl:line2|s=$slogan"/>
          <p:cNvSpPr txBox="1"/>
          <p:nvPr/>
        </p:nvSpPr>
        <p:spPr>
          <a:xfrm>
            <a:off x="762000" y="2667000"/>
            <a:ext cx="10668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3000" noProof="1">
                <a:solidFill>
                  <a:srgbClr val="1F2937"/>
                </a:solidFill>
                <a:latin typeface="Liter"/>
                <a:ea typeface="alimamashuheiti"/>
              </a:rPr>
              <a:t>人生是按照我每天</a:t>
            </a:r>
            <a:r>
              <a:rPr sz="3000" noProof="1">
                <a:solidFill>
                  <a:srgbClr val="1E3A5F"/>
                </a:solidFill>
                <a:latin typeface="Liter"/>
                <a:ea typeface="alimamashuheiti"/>
              </a:rPr>
              <a:t>真实启动的系统</a:t>
            </a:r>
            <a:r>
              <a:rPr sz="3000" noProof="1">
                <a:solidFill>
                  <a:srgbClr val="1F2937"/>
                </a:solidFill>
                <a:latin typeface="Liter"/>
                <a:ea typeface="alimamashuheiti"/>
              </a:rPr>
              <a:t>运行。</a:t>
            </a:r>
            <a:endParaRPr sz="30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5" name="dsl:divider"/>
          <p:cNvSpPr/>
          <p:nvPr/>
        </p:nvSpPr>
        <p:spPr>
          <a:xfrm>
            <a:off x="4191000" y="3619500"/>
            <a:ext cx="381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ine3|s=$body"/>
          <p:cNvSpPr txBox="1"/>
          <p:nvPr/>
        </p:nvSpPr>
        <p:spPr>
          <a:xfrm>
            <a:off x="762000" y="4000500"/>
            <a:ext cx="1066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650" noProof="1">
                <a:solidFill>
                  <a:srgbClr val="1F2937"/>
                </a:solidFill>
                <a:latin typeface="QuattrocentoSans"/>
                <a:ea typeface="MiSans"/>
              </a:rPr>
              <a:t>我读了再多书，只是升级了</a:t>
            </a:r>
            <a:r>
              <a:rPr sz="1650" noProof="1">
                <a:solidFill>
                  <a:srgbClr val="6B7280"/>
                </a:solidFill>
                <a:latin typeface="QuattrocentoSans"/>
                <a:ea typeface="MiSans"/>
              </a:rPr>
              <a:t>"理解层"</a:t>
            </a:r>
            <a:r>
              <a:rPr sz="1650" noProof="1">
                <a:solidFill>
                  <a:srgbClr val="1F2937"/>
                </a:solidFill>
                <a:latin typeface="QuattrocentoSans"/>
                <a:ea typeface="MiSans"/>
              </a:rPr>
              <a:t>。</a:t>
            </a:r>
            <a:endParaRPr sz="165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7" name="dsl:line4|s=$body"/>
          <p:cNvSpPr txBox="1"/>
          <p:nvPr/>
        </p:nvSpPr>
        <p:spPr>
          <a:xfrm>
            <a:off x="762000" y="4572000"/>
            <a:ext cx="1066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650" noProof="1">
                <a:solidFill>
                  <a:srgbClr val="1F2937"/>
                </a:solidFill>
                <a:latin typeface="QuattrocentoSans"/>
                <a:ea typeface="MiSans"/>
              </a:rPr>
              <a:t>但我的</a:t>
            </a:r>
            <a:r>
              <a:rPr sz="1650" noProof="1">
                <a:solidFill>
                  <a:srgbClr val="B45309"/>
                </a:solidFill>
                <a:latin typeface="QuattrocentoSans"/>
                <a:ea typeface="MiSans"/>
              </a:rPr>
              <a:t>"运行层"</a:t>
            </a:r>
            <a:r>
              <a:rPr sz="1650" noProof="1">
                <a:solidFill>
                  <a:srgbClr val="1F2937"/>
                </a:solidFill>
                <a:latin typeface="QuattrocentoSans"/>
                <a:ea typeface="MiSans"/>
              </a:rPr>
              <a:t>——每天怎么分配注意力、怎么反应情绪、怎么行动——</a:t>
            </a:r>
            <a:endParaRPr sz="165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8" name="dsl:line5|s=$body"/>
          <p:cNvSpPr txBox="1"/>
          <p:nvPr/>
        </p:nvSpPr>
        <p:spPr>
          <a:xfrm>
            <a:off x="762000" y="5143500"/>
            <a:ext cx="1066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650" noProof="1">
                <a:solidFill>
                  <a:srgbClr val="1F2937"/>
                </a:solidFill>
                <a:latin typeface="QuattrocentoSans"/>
                <a:ea typeface="MiSans"/>
              </a:rPr>
              <a:t>还是旧版本。</a:t>
            </a:r>
            <a:endParaRPr sz="165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9" name="dsl:conclusion-bg"/>
          <p:cNvSpPr/>
          <p:nvPr/>
        </p:nvSpPr>
        <p:spPr>
          <a:xfrm>
            <a:off x="762000" y="5905500"/>
            <a:ext cx="10668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onclusion|s=$body"/>
          <p:cNvSpPr txBox="1"/>
          <p:nvPr/>
        </p:nvSpPr>
        <p:spPr>
          <a:xfrm>
            <a:off x="952500" y="5905500"/>
            <a:ext cx="10287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059669"/>
                </a:solidFill>
                <a:latin typeface="QuattrocentoSans"/>
                <a:ea typeface="MiSans"/>
              </a:rPr>
              <a:t>所以我决定：给自己建一个第二大脑。</a:t>
            </a:r>
            <a:endParaRPr sz="150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apter-num|s=$chapterNum"/>
          <p:cNvSpPr txBox="1"/>
          <p:nvPr/>
        </p:nvSpPr>
        <p:spPr>
          <a:xfrm>
            <a:off x="762000" y="1714500"/>
            <a:ext cx="2857500" cy="1524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0" noProof="1">
                <a:solidFill>
                  <a:srgbClr val="1E3A5F"/>
                </a:solidFill>
                <a:latin typeface="Liter"/>
                <a:ea typeface="alimamashuheiti"/>
              </a:rPr>
              <a:t>01</a:t>
            </a:r>
            <a:endParaRPr sz="90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3" name="dsl:deco-line"/>
          <p:cNvSpPr/>
          <p:nvPr/>
        </p:nvSpPr>
        <p:spPr>
          <a:xfrm>
            <a:off x="3810000" y="1714500"/>
            <a:ext cx="19050" cy="28575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apter-title|s=$heading"/>
          <p:cNvSpPr txBox="1"/>
          <p:nvPr/>
        </p:nvSpPr>
        <p:spPr>
          <a:xfrm>
            <a:off x="4191000" y="2286000"/>
            <a:ext cx="66675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150" noProof="1">
                <a:solidFill>
                  <a:srgbClr val="1F2937"/>
                </a:solidFill>
                <a:latin typeface="Liter"/>
                <a:ea typeface="alimamashuheiti"/>
              </a:rPr>
              <a:t>我建了一个仓库</a:t>
            </a:r>
            <a:endParaRPr sz="315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5" name="dsl:chapter-subtitle|s=$subtitle"/>
          <p:cNvSpPr txBox="1"/>
          <p:nvPr/>
        </p:nvSpPr>
        <p:spPr>
          <a:xfrm>
            <a:off x="4191000" y="3048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6B7280"/>
                </a:solidFill>
                <a:latin typeface="QuattrocentoSans"/>
                <a:ea typeface="MiSans"/>
              </a:rPr>
              <a:t>CLOS-Brain · 人生运行科学</a:t>
            </a:r>
            <a:endParaRPr sz="15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age-label|s=$label"/>
          <p:cNvSpPr txBox="1"/>
          <p:nvPr/>
        </p:nvSpPr>
        <p:spPr>
          <a:xfrm>
            <a:off x="762000" y="3810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B7280"/>
                </a:solidFill>
                <a:latin typeface="QuattrocentoSans"/>
                <a:ea typeface="MiSans"/>
              </a:rPr>
              <a:t>01 我建了一个仓库</a:t>
            </a:r>
            <a:endParaRPr sz="9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" name="dsl:title|s=$heading"/>
          <p:cNvSpPr txBox="1"/>
          <p:nvPr/>
        </p:nvSpPr>
        <p:spPr>
          <a:xfrm>
            <a:off x="762000" y="762000"/>
            <a:ext cx="8572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我的仓库长什么样</a:t>
            </a:r>
            <a:endParaRPr sz="27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4" name="dsl:deco-bar"/>
          <p:cNvSpPr/>
          <p:nvPr/>
        </p:nvSpPr>
        <p:spPr>
          <a:xfrm>
            <a:off x="762000" y="1381125"/>
            <a:ext cx="571500" cy="381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desc|s=$body"/>
          <p:cNvSpPr txBox="1"/>
          <p:nvPr/>
        </p:nvSpPr>
        <p:spPr>
          <a:xfrm>
            <a:off x="762000" y="1619250"/>
            <a:ext cx="10668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这个仓库不是一个资料库。它是一个正在生长的人生操作系统。</a:t>
            </a:r>
            <a:endParaRPr sz="15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6" name="dsl:layer1-bg"/>
          <p:cNvSpPr/>
          <p:nvPr/>
        </p:nvSpPr>
        <p:spPr>
          <a:xfrm>
            <a:off x="762000" y="2190750"/>
            <a:ext cx="3333750" cy="1524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layer1-icon|i=fas:brain" descr="tmplphqg5_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381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layer1-title|s=$body"/>
          <p:cNvSpPr txBox="1"/>
          <p:nvPr/>
        </p:nvSpPr>
        <p:spPr>
          <a:xfrm>
            <a:off x="1333500" y="2333625"/>
            <a:ext cx="257175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1" noProof="1">
                <a:solidFill>
                  <a:srgbClr val="1E3A5F"/>
                </a:solidFill>
                <a:latin typeface="QuattrocentoSans"/>
                <a:ea typeface="MiSans"/>
              </a:rPr>
              <a:t>Life Operating Science</a:t>
            </a:r>
            <a:endParaRPr sz="1500" b="1" noProof="1">
              <a:solidFill>
                <a:srgbClr val="1E3A5F"/>
              </a:solidFill>
              <a:latin typeface="QuattrocentoSans"/>
              <a:ea typeface="MiSans"/>
            </a:endParaRPr>
          </a:p>
        </p:txBody>
      </p:sp>
      <p:sp>
        <p:nvSpPr>
          <p:cNvPr id="9" name="dsl:layer1-content|s=$caption"/>
          <p:cNvSpPr txBox="1"/>
          <p:nvPr/>
        </p:nvSpPr>
        <p:spPr>
          <a:xfrm>
            <a:off x="952500" y="2762250"/>
            <a:ext cx="2952750" cy="809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生命运行科学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01 Core Theory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01 认知 / 02 行为 / 05 幸福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0" name="dsl:layer2-bg"/>
          <p:cNvSpPr/>
          <p:nvPr/>
        </p:nvSpPr>
        <p:spPr>
          <a:xfrm>
            <a:off x="4429125" y="2190750"/>
            <a:ext cx="3333750" cy="1524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layer2-icon|i=fas:briefcase" descr="tmp50locrx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5" y="2381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layer2-title|s=$body"/>
          <p:cNvSpPr txBox="1"/>
          <p:nvPr/>
        </p:nvSpPr>
        <p:spPr>
          <a:xfrm>
            <a:off x="5000625" y="2333625"/>
            <a:ext cx="257175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1" noProof="1">
                <a:solidFill>
                  <a:srgbClr val="059669"/>
                </a:solidFill>
                <a:latin typeface="QuattrocentoSans"/>
                <a:ea typeface="MiSans"/>
              </a:rPr>
              <a:t>Enterprise Brain</a:t>
            </a:r>
            <a:endParaRPr sz="1500" b="1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13" name="dsl:layer2-content|s=$caption"/>
          <p:cNvSpPr txBox="1"/>
          <p:nvPr/>
        </p:nvSpPr>
        <p:spPr>
          <a:xfrm>
            <a:off x="4619625" y="2762250"/>
            <a:ext cx="2952750" cy="809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企业运行系统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8 个工作台 + 99 每日暂存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4" name="dsl:layer3-bg"/>
          <p:cNvSpPr/>
          <p:nvPr/>
        </p:nvSpPr>
        <p:spPr>
          <a:xfrm>
            <a:off x="8096250" y="2190750"/>
            <a:ext cx="3333750" cy="1524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layer3-icon|i=fas:display" descr="tmpjdgx16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381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layer3-title|s=$body"/>
          <p:cNvSpPr txBox="1"/>
          <p:nvPr/>
        </p:nvSpPr>
        <p:spPr>
          <a:xfrm>
            <a:off x="8667750" y="2333625"/>
            <a:ext cx="257175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1" noProof="1">
                <a:solidFill>
                  <a:srgbClr val="B45309"/>
                </a:solidFill>
                <a:latin typeface="QuattrocentoSans"/>
                <a:ea typeface="MiSans"/>
              </a:rPr>
              <a:t>生命运行科学</a:t>
            </a:r>
            <a:endParaRPr sz="1500" b="1" noProof="1">
              <a:solidFill>
                <a:srgbClr val="B45309"/>
              </a:solidFill>
              <a:latin typeface="QuattrocentoSans"/>
              <a:ea typeface="MiSans"/>
            </a:endParaRPr>
          </a:p>
        </p:txBody>
      </p:sp>
      <p:sp>
        <p:nvSpPr>
          <p:cNvPr id="17" name="dsl:layer3-content|s=$caption"/>
          <p:cNvSpPr txBox="1"/>
          <p:nvPr/>
        </p:nvSpPr>
        <p:spPr>
          <a:xfrm>
            <a:off x="8286750" y="2762250"/>
            <a:ext cx="2952750" cy="809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34页总介绍课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从理论到实践的完整演示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cxnSp>
        <p:nvCxnSpPr>
          <p:cNvPr id="18" name="dsl:arrow1"/>
          <p:cNvCxnSpPr/>
          <p:nvPr/>
        </p:nvCxnSpPr>
        <p:spPr>
          <a:xfrm>
            <a:off x="4095750" y="2857500"/>
            <a:ext cx="333375" cy="0"/>
          </a:xfrm>
          <a:prstGeom prst="straightConnector1">
            <a:avLst/>
          </a:prstGeom>
          <a:ln w="25400">
            <a:solidFill>
              <a:srgbClr val="E5E7E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arrow2"/>
          <p:cNvCxnSpPr/>
          <p:nvPr/>
        </p:nvCxnSpPr>
        <p:spPr>
          <a:xfrm>
            <a:off x="7762875" y="2857500"/>
            <a:ext cx="333375" cy="0"/>
          </a:xfrm>
          <a:prstGeom prst="straightConnector1">
            <a:avLst/>
          </a:prstGeom>
          <a:ln w="25400">
            <a:solidFill>
              <a:srgbClr val="E5E7E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bottom-note|s=$body"/>
          <p:cNvSpPr txBox="1"/>
          <p:nvPr/>
        </p:nvSpPr>
        <p:spPr>
          <a:xfrm>
            <a:off x="762000" y="4095750"/>
            <a:ext cx="10668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不是从理论出发设计的。是从"我遇到的问题"出发，一点点长出来的。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21" name="dsl:bottom-cards|s=$caption"/>
          <p:cNvSpPr txBox="1"/>
          <p:nvPr/>
        </p:nvSpPr>
        <p:spPr>
          <a:xfrm>
            <a:off x="762000" y="4953000"/>
            <a:ext cx="1066800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8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每个理论文件都从真实问题长出来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  <a:p>
            <a:pPr algn="ctr">
              <a:lnSpc>
                <a:spcPct val="18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每天记录 → 每周归档 → 持续生长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  <a:p>
            <a:pPr algn="ctr">
              <a:lnSpc>
                <a:spcPct val="18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理论不是读完的，是运行出来的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age-label|s=$label"/>
          <p:cNvSpPr txBox="1"/>
          <p:nvPr/>
        </p:nvSpPr>
        <p:spPr>
          <a:xfrm>
            <a:off x="762000" y="3810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B7280"/>
                </a:solidFill>
                <a:latin typeface="QuattrocentoSans"/>
                <a:ea typeface="MiSans"/>
              </a:rPr>
              <a:t>01 我建了一个仓库</a:t>
            </a:r>
            <a:endParaRPr sz="9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" name="dsl:title|s=$heading"/>
          <p:cNvSpPr txBox="1"/>
          <p:nvPr/>
        </p:nvSpPr>
        <p:spPr>
          <a:xfrm>
            <a:off x="762000" y="762000"/>
            <a:ext cx="952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我的理论是怎么长出来的</a:t>
            </a:r>
            <a:endParaRPr sz="27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4" name="dsl:deco-bar"/>
          <p:cNvSpPr/>
          <p:nvPr/>
        </p:nvSpPr>
        <p:spPr>
          <a:xfrm>
            <a:off x="762000" y="1381125"/>
            <a:ext cx="571500" cy="381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ubtitle|s=$body"/>
          <p:cNvSpPr txBox="1"/>
          <p:nvPr/>
        </p:nvSpPr>
        <p:spPr>
          <a:xfrm>
            <a:off x="762000" y="1571625"/>
            <a:ext cx="10668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每个理论文件，都从我的真实问题长出来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6" name="dsl:col1-title|s=$caption"/>
          <p:cNvSpPr txBox="1"/>
          <p:nvPr/>
        </p:nvSpPr>
        <p:spPr>
          <a:xfrm>
            <a:off x="762000" y="20955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spc="150" noProof="1">
                <a:solidFill>
                  <a:srgbClr val="1E3A5F"/>
                </a:solidFill>
                <a:latin typeface="QuattrocentoSans"/>
                <a:ea typeface="MiSans"/>
              </a:rPr>
              <a:t>理论文件</a:t>
            </a:r>
            <a:endParaRPr sz="1050" spc="150" noProof="1">
              <a:solidFill>
                <a:srgbClr val="1E3A5F"/>
              </a:solidFill>
              <a:latin typeface="QuattrocentoSans"/>
              <a:ea typeface="MiSans"/>
            </a:endParaRPr>
          </a:p>
        </p:txBody>
      </p:sp>
      <p:sp>
        <p:nvSpPr>
          <p:cNvPr id="7" name="dsl:col1-line"/>
          <p:cNvSpPr/>
          <p:nvPr/>
        </p:nvSpPr>
        <p:spPr>
          <a:xfrm>
            <a:off x="762000" y="2428875"/>
            <a:ext cx="4953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col1-items|s=$body"/>
          <p:cNvSpPr txBox="1"/>
          <p:nvPr/>
        </p:nvSpPr>
        <p:spPr>
          <a:xfrm>
            <a:off x="762000" y="2571750"/>
            <a:ext cx="49530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E3A5F"/>
                </a:solidFill>
                <a:latin typeface="QuattrocentoSans"/>
                <a:ea typeface="MiSans"/>
              </a:rPr>
              <a:t>CLOS-007</a:t>
            </a: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 旧系统劫持理论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E3A5F"/>
                </a:solidFill>
                <a:latin typeface="QuattrocentoSans"/>
                <a:ea typeface="MiSans"/>
              </a:rPr>
              <a:t>CLOS-006</a:t>
            </a: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 底层代码理论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E3A5F"/>
                </a:solidFill>
                <a:latin typeface="QuattrocentoSans"/>
                <a:ea typeface="MiSans"/>
              </a:rPr>
              <a:t>CLOS-008</a:t>
            </a: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 现实校准理论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E3A5F"/>
                </a:solidFill>
                <a:latin typeface="QuattrocentoSans"/>
                <a:ea typeface="MiSans"/>
              </a:rPr>
              <a:t>CLOS-014</a:t>
            </a: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 情绪组合解释理论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E3A5F"/>
                </a:solidFill>
                <a:latin typeface="QuattrocentoSans"/>
                <a:ea typeface="MiSans"/>
              </a:rPr>
              <a:t>CLOS-013</a:t>
            </a: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 知识资产复利原理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9" name="dsl:col2-title|s=$caption"/>
          <p:cNvSpPr txBox="1"/>
          <p:nvPr/>
        </p:nvSpPr>
        <p:spPr>
          <a:xfrm>
            <a:off x="6286500" y="20955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spc="150" noProof="1">
                <a:solidFill>
                  <a:srgbClr val="1E3A5F"/>
                </a:solidFill>
                <a:latin typeface="QuattrocentoSans"/>
                <a:ea typeface="MiSans"/>
              </a:rPr>
              <a:t>对应的真实问题</a:t>
            </a:r>
            <a:endParaRPr sz="1050" spc="150" noProof="1">
              <a:solidFill>
                <a:srgbClr val="1E3A5F"/>
              </a:solidFill>
              <a:latin typeface="QuattrocentoSans"/>
              <a:ea typeface="MiSans"/>
            </a:endParaRPr>
          </a:p>
        </p:txBody>
      </p:sp>
      <p:sp>
        <p:nvSpPr>
          <p:cNvPr id="10" name="dsl:col2-line"/>
          <p:cNvSpPr/>
          <p:nvPr/>
        </p:nvSpPr>
        <p:spPr>
          <a:xfrm>
            <a:off x="6286500" y="2428875"/>
            <a:ext cx="4953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ol2-items|s=$body"/>
          <p:cNvSpPr txBox="1"/>
          <p:nvPr/>
        </p:nvSpPr>
        <p:spPr>
          <a:xfrm>
            <a:off x="6286500" y="2571750"/>
            <a:ext cx="49530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为什么我总是被情绪卷走？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我的默认反应模式是什么？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为什么想象和现实差距这么大？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情绪不是单一的，是组合运行的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知识只有沉淀成系统，才能复利增长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12" name="dsl:col3-title|s=$caption"/>
          <p:cNvSpPr txBox="1"/>
          <p:nvPr/>
        </p:nvSpPr>
        <p:spPr>
          <a:xfrm>
            <a:off x="762000" y="45720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spc="150" noProof="1">
                <a:solidFill>
                  <a:srgbClr val="059669"/>
                </a:solidFill>
                <a:latin typeface="QuattrocentoSans"/>
                <a:ea typeface="MiSans"/>
              </a:rPr>
              <a:t>更多理论</a:t>
            </a:r>
            <a:endParaRPr sz="1050" spc="15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13" name="dsl:col3-line"/>
          <p:cNvSpPr/>
          <p:nvPr/>
        </p:nvSpPr>
        <p:spPr>
          <a:xfrm>
            <a:off x="762000" y="4905375"/>
            <a:ext cx="4953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col3-items|s=$body"/>
          <p:cNvSpPr txBox="1"/>
          <p:nvPr/>
        </p:nvSpPr>
        <p:spPr>
          <a:xfrm>
            <a:off x="762000" y="5048250"/>
            <a:ext cx="4953000" cy="133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59669"/>
                </a:solidFill>
                <a:latin typeface="QuattrocentoSans"/>
                <a:ea typeface="MiSans"/>
              </a:rPr>
              <a:t>CLOS-020</a:t>
            </a: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 自我信用系统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59669"/>
                </a:solidFill>
                <a:latin typeface="QuattrocentoSans"/>
                <a:ea typeface="MiSans"/>
              </a:rPr>
              <a:t>CLOS-016</a:t>
            </a: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 行为运行机制理论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059669"/>
                </a:solidFill>
                <a:latin typeface="QuattrocentoSans"/>
                <a:ea typeface="MiSans"/>
              </a:rPr>
              <a:t>CLOS-021</a:t>
            </a: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 主体性公平原则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15" name="dsl:col4-title|s=$caption"/>
          <p:cNvSpPr txBox="1"/>
          <p:nvPr/>
        </p:nvSpPr>
        <p:spPr>
          <a:xfrm>
            <a:off x="6286500" y="45720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spc="150" noProof="1">
                <a:solidFill>
                  <a:srgbClr val="059669"/>
                </a:solidFill>
                <a:latin typeface="QuattrocentoSans"/>
                <a:ea typeface="MiSans"/>
              </a:rPr>
              <a:t>对应的真实问题</a:t>
            </a:r>
            <a:endParaRPr sz="1050" spc="15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16" name="dsl:col4-line"/>
          <p:cNvSpPr/>
          <p:nvPr/>
        </p:nvSpPr>
        <p:spPr>
          <a:xfrm>
            <a:off x="6286500" y="4905375"/>
            <a:ext cx="4953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col4-items|s=$body"/>
          <p:cNvSpPr txBox="1"/>
          <p:nvPr/>
        </p:nvSpPr>
        <p:spPr>
          <a:xfrm>
            <a:off x="6286500" y="5048250"/>
            <a:ext cx="4953000" cy="133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对自己承诺的，守住了多少？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人到底是怎么"运行"的？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为什么我总在意别人的评价？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age-label|s=$label"/>
          <p:cNvSpPr txBox="1"/>
          <p:nvPr/>
        </p:nvSpPr>
        <p:spPr>
          <a:xfrm>
            <a:off x="762000" y="3810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B7280"/>
                </a:solidFill>
                <a:latin typeface="QuattrocentoSans"/>
                <a:ea typeface="MiSans"/>
              </a:rPr>
              <a:t>01 我建了一个仓库</a:t>
            </a:r>
            <a:endParaRPr sz="9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" name="dsl:title|s=$heading"/>
          <p:cNvSpPr txBox="1"/>
          <p:nvPr/>
        </p:nvSpPr>
        <p:spPr>
          <a:xfrm>
            <a:off x="762000" y="762000"/>
            <a:ext cx="952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我的企业第二大脑</a:t>
            </a:r>
            <a:endParaRPr sz="27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4" name="dsl:deco-bar"/>
          <p:cNvSpPr/>
          <p:nvPr/>
        </p:nvSpPr>
        <p:spPr>
          <a:xfrm>
            <a:off x="762000" y="1381125"/>
            <a:ext cx="571500" cy="381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ubtitle|s=$body"/>
          <p:cNvSpPr txBox="1"/>
          <p:nvPr/>
        </p:nvSpPr>
        <p:spPr>
          <a:xfrm>
            <a:off x="762000" y="1571625"/>
            <a:ext cx="10668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把同样的思路，用在了我的企业上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6" name="dsl:ws1-bg"/>
          <p:cNvSpPr/>
          <p:nvPr/>
        </p:nvSpPr>
        <p:spPr>
          <a:xfrm>
            <a:off x="762000" y="2190750"/>
            <a:ext cx="2333625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ws1-icon|i=fas:phone" descr="tmp8x_hstx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36220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ws1-text|s=$caption"/>
          <p:cNvSpPr txBox="1"/>
          <p:nvPr/>
        </p:nvSpPr>
        <p:spPr>
          <a:xfrm>
            <a:off x="1285875" y="2238375"/>
            <a:ext cx="1666875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01 销售工作台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9" name="dsl:ws2-bg"/>
          <p:cNvSpPr/>
          <p:nvPr/>
        </p:nvSpPr>
        <p:spPr>
          <a:xfrm>
            <a:off x="3286125" y="2190750"/>
            <a:ext cx="2333625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ws2-icon|i=fas:clipboard-check" descr="tmp8x_hstx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6625" y="236220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ws2-text|s=$caption"/>
          <p:cNvSpPr txBox="1"/>
          <p:nvPr/>
        </p:nvSpPr>
        <p:spPr>
          <a:xfrm>
            <a:off x="3810000" y="2238375"/>
            <a:ext cx="1666875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02 订单工作台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2" name="dsl:ws3-bg"/>
          <p:cNvSpPr/>
          <p:nvPr/>
        </p:nvSpPr>
        <p:spPr>
          <a:xfrm>
            <a:off x="5810250" y="2190750"/>
            <a:ext cx="2333625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ws3-icon|i=fas:truck" descr="tmp8x_hstx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236220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ws3-text|s=$caption"/>
          <p:cNvSpPr txBox="1"/>
          <p:nvPr/>
        </p:nvSpPr>
        <p:spPr>
          <a:xfrm>
            <a:off x="6334125" y="2238375"/>
            <a:ext cx="1666875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03 供应链工作台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5" name="dsl:ws4-bg"/>
          <p:cNvSpPr/>
          <p:nvPr/>
        </p:nvSpPr>
        <p:spPr>
          <a:xfrm>
            <a:off x="8334375" y="2190750"/>
            <a:ext cx="2333625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ws4-icon|i=fas:box" descr="tmphem7r6j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36220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ws4-text|s=$caption"/>
          <p:cNvSpPr txBox="1"/>
          <p:nvPr/>
        </p:nvSpPr>
        <p:spPr>
          <a:xfrm>
            <a:off x="8858250" y="2238375"/>
            <a:ext cx="1666875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04 产品工作台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8" name="dsl:ws5-bg"/>
          <p:cNvSpPr/>
          <p:nvPr/>
        </p:nvSpPr>
        <p:spPr>
          <a:xfrm>
            <a:off x="762000" y="3048000"/>
            <a:ext cx="2333625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ws5-icon|i=fas:chart-line" descr="tmp8x_hstx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21945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ws5-text|s=$caption"/>
          <p:cNvSpPr txBox="1"/>
          <p:nvPr/>
        </p:nvSpPr>
        <p:spPr>
          <a:xfrm>
            <a:off x="1285875" y="3095625"/>
            <a:ext cx="1666875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05 财务工作台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21" name="dsl:ws6-bg"/>
          <p:cNvSpPr/>
          <p:nvPr/>
        </p:nvSpPr>
        <p:spPr>
          <a:xfrm>
            <a:off x="3286125" y="3048000"/>
            <a:ext cx="2333625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dsl:ws6-icon|i=fas:users" descr="tmp8x_hstx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6625" y="321945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ws6-text|s=$caption"/>
          <p:cNvSpPr txBox="1"/>
          <p:nvPr/>
        </p:nvSpPr>
        <p:spPr>
          <a:xfrm>
            <a:off x="3810000" y="3095625"/>
            <a:ext cx="1666875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06 人才工作台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24" name="dsl:ws7-bg"/>
          <p:cNvSpPr/>
          <p:nvPr/>
        </p:nvSpPr>
        <p:spPr>
          <a:xfrm>
            <a:off x="5810250" y="3048000"/>
            <a:ext cx="2333625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dsl:ws7-icon|i=fas:crown" descr="tmp8x_hstx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321945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ws7-text|s=$caption"/>
          <p:cNvSpPr txBox="1"/>
          <p:nvPr/>
        </p:nvSpPr>
        <p:spPr>
          <a:xfrm>
            <a:off x="6334125" y="3095625"/>
            <a:ext cx="1666875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07 老板工作台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27" name="dsl:ws8-bg"/>
          <p:cNvSpPr/>
          <p:nvPr/>
        </p:nvSpPr>
        <p:spPr>
          <a:xfrm>
            <a:off x="8334375" y="3048000"/>
            <a:ext cx="2333625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dsl:ws8-icon|i=fas:robot" descr="tmp8x_hstx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875" y="321945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9" name="dsl:ws8-text|s=$caption"/>
          <p:cNvSpPr txBox="1"/>
          <p:nvPr/>
        </p:nvSpPr>
        <p:spPr>
          <a:xfrm>
            <a:off x="8858250" y="3095625"/>
            <a:ext cx="1666875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08 AI工作台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0" name="dsl:divider"/>
          <p:cNvSpPr/>
          <p:nvPr/>
        </p:nvSpPr>
        <p:spPr>
          <a:xfrm>
            <a:off x="762000" y="40005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drawer-title|s=$body"/>
          <p:cNvSpPr txBox="1"/>
          <p:nvPr/>
        </p:nvSpPr>
        <p:spPr>
          <a:xfrm>
            <a:off x="762000" y="4191000"/>
            <a:ext cx="10668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每个工作台只保留五类资产：</a:t>
            </a:r>
            <a:endParaRPr sz="15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32" name="dsl:drawer1-bg"/>
          <p:cNvSpPr/>
          <p:nvPr/>
        </p:nvSpPr>
        <p:spPr>
          <a:xfrm>
            <a:off x="762000" y="4762500"/>
            <a:ext cx="1905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sl:drawer1-text|s=$body"/>
          <p:cNvSpPr txBox="1"/>
          <p:nvPr/>
        </p:nvSpPr>
        <p:spPr>
          <a:xfrm>
            <a:off x="762000" y="4762500"/>
            <a:ext cx="190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059669"/>
                </a:solidFill>
                <a:latin typeface="QuattrocentoSans"/>
                <a:ea typeface="MiSans"/>
              </a:rPr>
              <a:t>原则</a:t>
            </a:r>
            <a:endParaRPr sz="135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34" name="dsl:drawer2-bg"/>
          <p:cNvSpPr/>
          <p:nvPr/>
        </p:nvSpPr>
        <p:spPr>
          <a:xfrm>
            <a:off x="2857500" y="4762500"/>
            <a:ext cx="1905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sl:drawer2-text|s=$body"/>
          <p:cNvSpPr txBox="1"/>
          <p:nvPr/>
        </p:nvSpPr>
        <p:spPr>
          <a:xfrm>
            <a:off x="2857500" y="4762500"/>
            <a:ext cx="190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059669"/>
                </a:solidFill>
                <a:latin typeface="QuattrocentoSans"/>
                <a:ea typeface="MiSans"/>
              </a:rPr>
              <a:t>SOP</a:t>
            </a:r>
            <a:endParaRPr sz="135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36" name="dsl:drawer3-bg"/>
          <p:cNvSpPr/>
          <p:nvPr/>
        </p:nvSpPr>
        <p:spPr>
          <a:xfrm>
            <a:off x="4953000" y="4762500"/>
            <a:ext cx="1905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sl:drawer3-text|s=$body"/>
          <p:cNvSpPr txBox="1"/>
          <p:nvPr/>
        </p:nvSpPr>
        <p:spPr>
          <a:xfrm>
            <a:off x="4953000" y="4762500"/>
            <a:ext cx="190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059669"/>
                </a:solidFill>
                <a:latin typeface="QuattrocentoSans"/>
                <a:ea typeface="MiSans"/>
              </a:rPr>
              <a:t>模板</a:t>
            </a:r>
            <a:endParaRPr sz="135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38" name="dsl:drawer4-bg"/>
          <p:cNvSpPr/>
          <p:nvPr/>
        </p:nvSpPr>
        <p:spPr>
          <a:xfrm>
            <a:off x="7048500" y="4762500"/>
            <a:ext cx="1905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sl:drawer4-text|s=$body"/>
          <p:cNvSpPr txBox="1"/>
          <p:nvPr/>
        </p:nvSpPr>
        <p:spPr>
          <a:xfrm>
            <a:off x="7048500" y="4762500"/>
            <a:ext cx="190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059669"/>
                </a:solidFill>
                <a:latin typeface="QuattrocentoSans"/>
                <a:ea typeface="MiSans"/>
              </a:rPr>
              <a:t>案例</a:t>
            </a:r>
            <a:endParaRPr sz="135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40" name="dsl:drawer5-bg"/>
          <p:cNvSpPr/>
          <p:nvPr/>
        </p:nvSpPr>
        <p:spPr>
          <a:xfrm>
            <a:off x="9144000" y="4762500"/>
            <a:ext cx="1905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sl:drawer5-text|s=$body"/>
          <p:cNvSpPr txBox="1"/>
          <p:nvPr/>
        </p:nvSpPr>
        <p:spPr>
          <a:xfrm>
            <a:off x="9144000" y="4762500"/>
            <a:ext cx="190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059669"/>
                </a:solidFill>
                <a:latin typeface="QuattrocentoSans"/>
                <a:ea typeface="MiSans"/>
              </a:rPr>
              <a:t>工具</a:t>
            </a:r>
            <a:endParaRPr sz="135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42" name="dsl:bottom-note|s=$body"/>
          <p:cNvSpPr txBox="1"/>
          <p:nvPr/>
        </p:nvSpPr>
        <p:spPr>
          <a:xfrm>
            <a:off x="762000" y="5524500"/>
            <a:ext cx="10668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经验不能只停留在人脑里。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经验必须沉淀成组织资产。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apter-num|s=$chapterNum"/>
          <p:cNvSpPr txBox="1"/>
          <p:nvPr/>
        </p:nvSpPr>
        <p:spPr>
          <a:xfrm>
            <a:off x="762000" y="1714500"/>
            <a:ext cx="2857500" cy="1524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0" noProof="1">
                <a:solidFill>
                  <a:srgbClr val="1E3A5F"/>
                </a:solidFill>
                <a:latin typeface="Liter"/>
                <a:ea typeface="alimamashuheiti"/>
              </a:rPr>
              <a:t>02</a:t>
            </a:r>
            <a:endParaRPr sz="90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3" name="dsl:deco-line"/>
          <p:cNvSpPr/>
          <p:nvPr/>
        </p:nvSpPr>
        <p:spPr>
          <a:xfrm>
            <a:off x="3810000" y="1714500"/>
            <a:ext cx="19050" cy="28575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apter-title|s=$heading"/>
          <p:cNvSpPr txBox="1"/>
          <p:nvPr/>
        </p:nvSpPr>
        <p:spPr>
          <a:xfrm>
            <a:off x="4191000" y="2286000"/>
            <a:ext cx="66675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150" noProof="1">
                <a:solidFill>
                  <a:srgbClr val="1F2937"/>
                </a:solidFill>
                <a:latin typeface="Liter"/>
                <a:ea typeface="alimamashuheiti"/>
              </a:rPr>
              <a:t>我每天怎么运行</a:t>
            </a:r>
            <a:endParaRPr sz="315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5" name="dsl:chapter-subtitle|s=$subtitle"/>
          <p:cNvSpPr txBox="1"/>
          <p:nvPr/>
        </p:nvSpPr>
        <p:spPr>
          <a:xfrm>
            <a:off x="4191000" y="3048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6B7280"/>
                </a:solidFill>
                <a:latin typeface="QuattrocentoSans"/>
                <a:ea typeface="MiSans"/>
              </a:rPr>
              <a:t>仓库不是目的。运行才是。</a:t>
            </a:r>
            <a:endParaRPr sz="15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age-label|s=$label"/>
          <p:cNvSpPr txBox="1"/>
          <p:nvPr/>
        </p:nvSpPr>
        <p:spPr>
          <a:xfrm>
            <a:off x="762000" y="3810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B7280"/>
                </a:solidFill>
                <a:latin typeface="QuattrocentoSans"/>
                <a:ea typeface="MiSans"/>
              </a:rPr>
              <a:t>02 我每天怎么运行</a:t>
            </a:r>
            <a:endParaRPr sz="9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" name="dsl:title|s=$heading"/>
          <p:cNvSpPr txBox="1"/>
          <p:nvPr/>
        </p:nvSpPr>
        <p:spPr>
          <a:xfrm>
            <a:off x="762000" y="762000"/>
            <a:ext cx="952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我的每天运行日志</a:t>
            </a:r>
            <a:endParaRPr sz="27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4" name="dsl:deco-bar"/>
          <p:cNvSpPr/>
          <p:nvPr/>
        </p:nvSpPr>
        <p:spPr>
          <a:xfrm>
            <a:off x="762000" y="1381125"/>
            <a:ext cx="571500" cy="381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ubtitle|s=$body"/>
          <p:cNvSpPr txBox="1"/>
          <p:nvPr/>
        </p:nvSpPr>
        <p:spPr>
          <a:xfrm>
            <a:off x="762000" y="1571625"/>
            <a:ext cx="10668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我每天的记录，只有 5 个问题。记录存在 99 每日暂存里，每周归档。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6" name="dsl:q1-num|s=$heading"/>
          <p:cNvSpPr txBox="1"/>
          <p:nvPr/>
        </p:nvSpPr>
        <p:spPr>
          <a:xfrm>
            <a:off x="762000" y="2190750"/>
            <a:ext cx="4762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noProof="1">
                <a:solidFill>
                  <a:srgbClr val="1E3A5F"/>
                </a:solidFill>
                <a:latin typeface="Liter"/>
                <a:ea typeface="alimamashuheiti"/>
              </a:rPr>
              <a:t>1</a:t>
            </a:r>
            <a:endParaRPr sz="21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7" name="dsl:q1-bg"/>
          <p:cNvSpPr/>
          <p:nvPr/>
        </p:nvSpPr>
        <p:spPr>
          <a:xfrm>
            <a:off x="1333500" y="2095500"/>
            <a:ext cx="100965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q1-text|s=$body"/>
          <p:cNvSpPr txBox="1"/>
          <p:nvPr/>
        </p:nvSpPr>
        <p:spPr>
          <a:xfrm>
            <a:off x="1524000" y="2095500"/>
            <a:ext cx="9715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QuattrocentoSans"/>
                <a:ea typeface="MiSans"/>
              </a:rPr>
              <a:t>今天注意力在哪里？</a:t>
            </a: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—— 投向了什么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9" name="dsl:q2-num|s=$heading"/>
          <p:cNvSpPr txBox="1"/>
          <p:nvPr/>
        </p:nvSpPr>
        <p:spPr>
          <a:xfrm>
            <a:off x="762000" y="2857500"/>
            <a:ext cx="4762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noProof="1">
                <a:solidFill>
                  <a:srgbClr val="1E3A5F"/>
                </a:solidFill>
                <a:latin typeface="Liter"/>
                <a:ea typeface="alimamashuheiti"/>
              </a:rPr>
              <a:t>2</a:t>
            </a:r>
            <a:endParaRPr sz="21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10" name="dsl:q2-bg"/>
          <p:cNvSpPr/>
          <p:nvPr/>
        </p:nvSpPr>
        <p:spPr>
          <a:xfrm>
            <a:off x="1333500" y="2762250"/>
            <a:ext cx="100965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q2-text|s=$body"/>
          <p:cNvSpPr txBox="1"/>
          <p:nvPr/>
        </p:nvSpPr>
        <p:spPr>
          <a:xfrm>
            <a:off x="1524000" y="2762250"/>
            <a:ext cx="9715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QuattrocentoSans"/>
                <a:ea typeface="MiSans"/>
              </a:rPr>
              <a:t>今天主体性是否在线？</a:t>
            </a: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—— 方向盘在谁手里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2" name="dsl:q3-num|s=$heading"/>
          <p:cNvSpPr txBox="1"/>
          <p:nvPr/>
        </p:nvSpPr>
        <p:spPr>
          <a:xfrm>
            <a:off x="762000" y="3524250"/>
            <a:ext cx="4762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noProof="1">
                <a:solidFill>
                  <a:srgbClr val="1E3A5F"/>
                </a:solidFill>
                <a:latin typeface="Liter"/>
                <a:ea typeface="alimamashuheiti"/>
              </a:rPr>
              <a:t>3</a:t>
            </a:r>
            <a:endParaRPr sz="21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13" name="dsl:q3-bg"/>
          <p:cNvSpPr/>
          <p:nvPr/>
        </p:nvSpPr>
        <p:spPr>
          <a:xfrm>
            <a:off x="1333500" y="3429000"/>
            <a:ext cx="100965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q3-text|s=$body"/>
          <p:cNvSpPr txBox="1"/>
          <p:nvPr/>
        </p:nvSpPr>
        <p:spPr>
          <a:xfrm>
            <a:off x="1524000" y="3429000"/>
            <a:ext cx="9715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QuattrocentoSans"/>
                <a:ea typeface="MiSans"/>
              </a:rPr>
              <a:t>今天旧系统出现了吗？</a:t>
            </a: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—— 被什么触发了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5" name="dsl:q4-num|s=$heading"/>
          <p:cNvSpPr txBox="1"/>
          <p:nvPr/>
        </p:nvSpPr>
        <p:spPr>
          <a:xfrm>
            <a:off x="762000" y="4191000"/>
            <a:ext cx="4762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noProof="1">
                <a:solidFill>
                  <a:srgbClr val="1E3A5F"/>
                </a:solidFill>
                <a:latin typeface="Liter"/>
                <a:ea typeface="alimamashuheiti"/>
              </a:rPr>
              <a:t>4</a:t>
            </a:r>
            <a:endParaRPr sz="21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16" name="dsl:q4-bg"/>
          <p:cNvSpPr/>
          <p:nvPr/>
        </p:nvSpPr>
        <p:spPr>
          <a:xfrm>
            <a:off x="1333500" y="4095750"/>
            <a:ext cx="100965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q4-text|s=$body"/>
          <p:cNvSpPr txBox="1"/>
          <p:nvPr/>
        </p:nvSpPr>
        <p:spPr>
          <a:xfrm>
            <a:off x="1524000" y="4095750"/>
            <a:ext cx="9715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QuattrocentoSans"/>
                <a:ea typeface="MiSans"/>
              </a:rPr>
              <a:t>今天创造了什么？</a:t>
            </a: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—— 最小行动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8" name="dsl:q5-num|s=$heading"/>
          <p:cNvSpPr txBox="1"/>
          <p:nvPr/>
        </p:nvSpPr>
        <p:spPr>
          <a:xfrm>
            <a:off x="762000" y="4857750"/>
            <a:ext cx="4762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noProof="1">
                <a:solidFill>
                  <a:srgbClr val="1E3A5F"/>
                </a:solidFill>
                <a:latin typeface="Liter"/>
                <a:ea typeface="alimamashuheiti"/>
              </a:rPr>
              <a:t>5</a:t>
            </a:r>
            <a:endParaRPr sz="21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19" name="dsl:q5-bg"/>
          <p:cNvSpPr/>
          <p:nvPr/>
        </p:nvSpPr>
        <p:spPr>
          <a:xfrm>
            <a:off x="1333500" y="4762500"/>
            <a:ext cx="100965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q5-text|s=$body"/>
          <p:cNvSpPr txBox="1"/>
          <p:nvPr/>
        </p:nvSpPr>
        <p:spPr>
          <a:xfrm>
            <a:off x="1524000" y="4762500"/>
            <a:ext cx="9715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QuattrocentoSans"/>
                <a:ea typeface="MiSans"/>
              </a:rPr>
              <a:t>今天最有生命力的时刻？</a:t>
            </a: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—— 什么让我真正活着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21" name="dsl:divider"/>
          <p:cNvSpPr/>
          <p:nvPr/>
        </p:nvSpPr>
        <p:spPr>
          <a:xfrm>
            <a:off x="762000" y="55245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bottom-note|s=$body"/>
          <p:cNvSpPr txBox="1"/>
          <p:nvPr/>
        </p:nvSpPr>
        <p:spPr>
          <a:xfrm>
            <a:off x="762000" y="5715000"/>
            <a:ext cx="10668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不是写日记。是写运行日志。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不是记录"我做了什么"，是记录"系统是怎么运行的"。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age-label|s=$label"/>
          <p:cNvSpPr txBox="1"/>
          <p:nvPr/>
        </p:nvSpPr>
        <p:spPr>
          <a:xfrm>
            <a:off x="762000" y="3810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B7280"/>
                </a:solidFill>
                <a:latin typeface="QuattrocentoSans"/>
                <a:ea typeface="MiSans"/>
              </a:rPr>
              <a:t>02 我每天怎么运行</a:t>
            </a:r>
            <a:endParaRPr sz="9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" name="dsl:title|s=$heading"/>
          <p:cNvSpPr txBox="1"/>
          <p:nvPr/>
        </p:nvSpPr>
        <p:spPr>
          <a:xfrm>
            <a:off x="762000" y="762000"/>
            <a:ext cx="952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我是怎么发现旧系统的</a:t>
            </a:r>
            <a:endParaRPr sz="27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4" name="dsl:deco-bar"/>
          <p:cNvSpPr/>
          <p:nvPr/>
        </p:nvSpPr>
        <p:spPr>
          <a:xfrm>
            <a:off x="762000" y="1381125"/>
            <a:ext cx="571500" cy="381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ubtitle|s=$body"/>
          <p:cNvSpPr txBox="1"/>
          <p:nvPr/>
        </p:nvSpPr>
        <p:spPr>
          <a:xfrm>
            <a:off x="762000" y="1571625"/>
            <a:ext cx="10668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记录了一段时间后，我发现自己有几种重复模式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6" name="dsl:mode1-bg"/>
          <p:cNvSpPr/>
          <p:nvPr/>
        </p:nvSpPr>
        <p:spPr>
          <a:xfrm>
            <a:off x="762000" y="2190750"/>
            <a:ext cx="5143500" cy="219075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mode1-tag|s=$caption"/>
          <p:cNvSpPr txBox="1"/>
          <p:nvPr/>
        </p:nvSpPr>
        <p:spPr>
          <a:xfrm>
            <a:off x="952500" y="2333625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spc="150" noProof="1">
                <a:solidFill>
                  <a:srgbClr val="B45309"/>
                </a:solidFill>
                <a:latin typeface="QuattrocentoSans"/>
                <a:ea typeface="MiSans"/>
              </a:rPr>
              <a:t>旧系统</a:t>
            </a:r>
            <a:endParaRPr sz="1050" spc="150" noProof="1">
              <a:solidFill>
                <a:srgbClr val="B45309"/>
              </a:solidFill>
              <a:latin typeface="QuattrocentoSans"/>
              <a:ea typeface="MiSans"/>
            </a:endParaRPr>
          </a:p>
        </p:txBody>
      </p:sp>
      <p:sp>
        <p:nvSpPr>
          <p:cNvPr id="8" name="dsl:mode1-title|s=$body"/>
          <p:cNvSpPr txBox="1"/>
          <p:nvPr/>
        </p:nvSpPr>
        <p:spPr>
          <a:xfrm>
            <a:off x="952500" y="2667000"/>
            <a:ext cx="476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650" b="1" noProof="1">
                <a:solidFill>
                  <a:srgbClr val="B45309"/>
                </a:solidFill>
                <a:latin typeface="QuattrocentoSans"/>
                <a:ea typeface="MiSans"/>
              </a:rPr>
              <a:t>反应型运行</a:t>
            </a:r>
            <a:endParaRPr sz="1650" b="1" noProof="1">
              <a:solidFill>
                <a:srgbClr val="B45309"/>
              </a:solidFill>
              <a:latin typeface="QuattrocentoSans"/>
              <a:ea typeface="MiSans"/>
            </a:endParaRPr>
          </a:p>
        </p:txBody>
      </p:sp>
      <p:sp>
        <p:nvSpPr>
          <p:cNvPr id="9" name="dsl:mode1-flow|s=$body"/>
          <p:cNvSpPr txBox="1"/>
          <p:nvPr/>
        </p:nvSpPr>
        <p:spPr>
          <a:xfrm>
            <a:off x="952500" y="3095625"/>
            <a:ext cx="47625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别人一句话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→ 我开始解释、脑补、证明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→ 情绪失控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10" name="dsl:mode1-theory|s=$caption"/>
          <p:cNvSpPr txBox="1"/>
          <p:nvPr/>
        </p:nvSpPr>
        <p:spPr>
          <a:xfrm>
            <a:off x="952500" y="4048125"/>
            <a:ext cx="4762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6B7280"/>
                </a:solidFill>
                <a:latin typeface="QuattrocentoSans"/>
                <a:ea typeface="MiSans"/>
              </a:rPr>
              <a:t>对应理论：CLOS-007｜旧系统劫持理论</a:t>
            </a:r>
            <a:endParaRPr sz="975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1" name="dsl:mode2-bg"/>
          <p:cNvSpPr/>
          <p:nvPr/>
        </p:nvSpPr>
        <p:spPr>
          <a:xfrm>
            <a:off x="6286500" y="2190750"/>
            <a:ext cx="5143500" cy="219075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mode2-tag|s=$caption"/>
          <p:cNvSpPr txBox="1"/>
          <p:nvPr/>
        </p:nvSpPr>
        <p:spPr>
          <a:xfrm>
            <a:off x="6477000" y="2333625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spc="150" noProof="1">
                <a:solidFill>
                  <a:srgbClr val="B45309"/>
                </a:solidFill>
                <a:latin typeface="QuattrocentoSans"/>
                <a:ea typeface="MiSans"/>
              </a:rPr>
              <a:t>旧系统</a:t>
            </a:r>
            <a:endParaRPr sz="1050" spc="150" noProof="1">
              <a:solidFill>
                <a:srgbClr val="B45309"/>
              </a:solidFill>
              <a:latin typeface="QuattrocentoSans"/>
              <a:ea typeface="MiSans"/>
            </a:endParaRPr>
          </a:p>
        </p:txBody>
      </p:sp>
      <p:sp>
        <p:nvSpPr>
          <p:cNvPr id="13" name="dsl:mode2-title|s=$body"/>
          <p:cNvSpPr txBox="1"/>
          <p:nvPr/>
        </p:nvSpPr>
        <p:spPr>
          <a:xfrm>
            <a:off x="6477000" y="2667000"/>
            <a:ext cx="47625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650" b="1" noProof="1">
                <a:solidFill>
                  <a:srgbClr val="B45309"/>
                </a:solidFill>
                <a:latin typeface="QuattrocentoSans"/>
                <a:ea typeface="MiSans"/>
              </a:rPr>
              <a:t>证明型运行</a:t>
            </a:r>
            <a:endParaRPr sz="1650" b="1" noProof="1">
              <a:solidFill>
                <a:srgbClr val="B45309"/>
              </a:solidFill>
              <a:latin typeface="QuattrocentoSans"/>
              <a:ea typeface="MiSans"/>
            </a:endParaRPr>
          </a:p>
        </p:txBody>
      </p:sp>
      <p:sp>
        <p:nvSpPr>
          <p:cNvPr id="14" name="dsl:mode2-flow|s=$body"/>
          <p:cNvSpPr txBox="1"/>
          <p:nvPr/>
        </p:nvSpPr>
        <p:spPr>
          <a:xfrm>
            <a:off x="6477000" y="3095625"/>
            <a:ext cx="47625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注意力投向别人的评价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→ 长期证明自己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QuattrocentoSans"/>
                <a:ea typeface="MiSans"/>
              </a:rPr>
              <a:t>→ 生长匮乏感</a:t>
            </a:r>
            <a:endParaRPr sz="12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15" name="dsl:mode2-theory|s=$caption"/>
          <p:cNvSpPr txBox="1"/>
          <p:nvPr/>
        </p:nvSpPr>
        <p:spPr>
          <a:xfrm>
            <a:off x="6477000" y="4048125"/>
            <a:ext cx="4762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6B7280"/>
                </a:solidFill>
                <a:latin typeface="QuattrocentoSans"/>
                <a:ea typeface="MiSans"/>
              </a:rPr>
              <a:t>对应理论：CLOS-021｜主体性公平原则</a:t>
            </a:r>
            <a:endParaRPr sz="975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6" name="dsl:divider"/>
          <p:cNvSpPr/>
          <p:nvPr/>
        </p:nvSpPr>
        <p:spPr>
          <a:xfrm>
            <a:off x="762000" y="466725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conclusion|s=$body"/>
          <p:cNvSpPr txBox="1"/>
          <p:nvPr/>
        </p:nvSpPr>
        <p:spPr>
          <a:xfrm>
            <a:off x="762000" y="4953000"/>
            <a:ext cx="1066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80000"/>
              </a:lnSpc>
            </a:pP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它们不是</a:t>
            </a:r>
            <a:r>
              <a:rPr sz="1500" noProof="1">
                <a:solidFill>
                  <a:srgbClr val="B45309"/>
                </a:solidFill>
                <a:latin typeface="QuattrocentoSans"/>
                <a:ea typeface="MiSans"/>
              </a:rPr>
              <a:t>"我有问题"</a:t>
            </a: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。</a:t>
            </a:r>
            <a:endParaRPr sz="15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ctr">
              <a:lnSpc>
                <a:spcPct val="180000"/>
              </a:lnSpc>
            </a:pP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它们是旧的自动运行程序。</a:t>
            </a:r>
            <a:endParaRPr sz="1500" noProof="1">
              <a:solidFill>
                <a:srgbClr val="1F2937"/>
              </a:solidFill>
              <a:latin typeface="QuattrocentoSans"/>
              <a:ea typeface="MiSans"/>
            </a:endParaRPr>
          </a:p>
          <a:p>
            <a:pPr algn="ctr">
              <a:lnSpc>
                <a:spcPct val="180000"/>
              </a:lnSpc>
            </a:pPr>
            <a:r>
              <a:rPr sz="1500" noProof="1">
                <a:solidFill>
                  <a:srgbClr val="059669"/>
                </a:solidFill>
                <a:latin typeface="QuattrocentoSans"/>
                <a:ea typeface="MiSans"/>
              </a:rPr>
              <a:t>看见它们，就是改变的开始。</a:t>
            </a:r>
            <a:endParaRPr sz="150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age-label|s=$label"/>
          <p:cNvSpPr txBox="1"/>
          <p:nvPr/>
        </p:nvSpPr>
        <p:spPr>
          <a:xfrm>
            <a:off x="762000" y="3810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B7280"/>
                </a:solidFill>
                <a:latin typeface="QuattrocentoSans"/>
                <a:ea typeface="MiSans"/>
              </a:rPr>
              <a:t>02 我每天怎么运行</a:t>
            </a:r>
            <a:endParaRPr sz="9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" name="dsl:title|s=$heading"/>
          <p:cNvSpPr txBox="1"/>
          <p:nvPr/>
        </p:nvSpPr>
        <p:spPr>
          <a:xfrm>
            <a:off x="762000" y="762000"/>
            <a:ext cx="952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我是怎么切换系统的</a:t>
            </a:r>
            <a:endParaRPr sz="27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4" name="dsl:deco-bar"/>
          <p:cNvSpPr/>
          <p:nvPr/>
        </p:nvSpPr>
        <p:spPr>
          <a:xfrm>
            <a:off x="762000" y="1381125"/>
            <a:ext cx="571500" cy="381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l1-bg"/>
          <p:cNvSpPr/>
          <p:nvPr/>
        </p:nvSpPr>
        <p:spPr>
          <a:xfrm>
            <a:off x="762000" y="1809750"/>
            <a:ext cx="10668000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1-num|s=$heading"/>
          <p:cNvSpPr txBox="1"/>
          <p:nvPr/>
        </p:nvSpPr>
        <p:spPr>
          <a:xfrm>
            <a:off x="952500" y="1809750"/>
            <a:ext cx="66675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noProof="1">
                <a:solidFill>
                  <a:srgbClr val="6B7280"/>
                </a:solidFill>
                <a:latin typeface="Liter"/>
                <a:ea typeface="alimamashuheiti"/>
              </a:rPr>
              <a:t>L1</a:t>
            </a:r>
            <a:endParaRPr sz="2400" noProof="1">
              <a:solidFill>
                <a:srgbClr val="6B7280"/>
              </a:solidFill>
              <a:latin typeface="Liter"/>
              <a:ea typeface="alimamashuheiti"/>
            </a:endParaRPr>
          </a:p>
        </p:txBody>
      </p:sp>
      <p:sp>
        <p:nvSpPr>
          <p:cNvPr id="7" name="dsl:l1-title|s=$body"/>
          <p:cNvSpPr txBox="1"/>
          <p:nvPr/>
        </p:nvSpPr>
        <p:spPr>
          <a:xfrm>
            <a:off x="1714500" y="1809750"/>
            <a:ext cx="1905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1" noProof="1">
                <a:solidFill>
                  <a:srgbClr val="1F2937"/>
                </a:solidFill>
                <a:latin typeface="QuattrocentoSans"/>
                <a:ea typeface="MiSans"/>
              </a:rPr>
              <a:t>觉察</a:t>
            </a:r>
            <a:endParaRPr sz="1500" b="1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8" name="dsl:l1-desc|s=$body"/>
          <p:cNvSpPr txBox="1"/>
          <p:nvPr/>
        </p:nvSpPr>
        <p:spPr>
          <a:xfrm>
            <a:off x="3810000" y="1809750"/>
            <a:ext cx="74295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看见旧系统正在启动（"哦，这是劫持模式又来了"）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9" name="dsl:l2-bg"/>
          <p:cNvSpPr/>
          <p:nvPr/>
        </p:nvSpPr>
        <p:spPr>
          <a:xfrm>
            <a:off x="762000" y="2619375"/>
            <a:ext cx="10668000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l2-num|s=$heading"/>
          <p:cNvSpPr txBox="1"/>
          <p:nvPr/>
        </p:nvSpPr>
        <p:spPr>
          <a:xfrm>
            <a:off x="952500" y="2619375"/>
            <a:ext cx="66675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noProof="1">
                <a:solidFill>
                  <a:srgbClr val="6B7280"/>
                </a:solidFill>
                <a:latin typeface="Liter"/>
                <a:ea typeface="alimamashuheiti"/>
              </a:rPr>
              <a:t>L2</a:t>
            </a:r>
            <a:endParaRPr sz="2400" noProof="1">
              <a:solidFill>
                <a:srgbClr val="6B7280"/>
              </a:solidFill>
              <a:latin typeface="Liter"/>
              <a:ea typeface="alimamashuheiti"/>
            </a:endParaRPr>
          </a:p>
        </p:txBody>
      </p:sp>
      <p:sp>
        <p:nvSpPr>
          <p:cNvPr id="11" name="dsl:l2-title|s=$body"/>
          <p:cNvSpPr txBox="1"/>
          <p:nvPr/>
        </p:nvSpPr>
        <p:spPr>
          <a:xfrm>
            <a:off x="1714500" y="2619375"/>
            <a:ext cx="1905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1" noProof="1">
                <a:solidFill>
                  <a:srgbClr val="1F2937"/>
                </a:solidFill>
                <a:latin typeface="QuattrocentoSans"/>
                <a:ea typeface="MiSans"/>
              </a:rPr>
              <a:t>命名</a:t>
            </a:r>
            <a:endParaRPr sz="1500" b="1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12" name="dsl:l2-desc|s=$body"/>
          <p:cNvSpPr txBox="1"/>
          <p:nvPr/>
        </p:nvSpPr>
        <p:spPr>
          <a:xfrm>
            <a:off x="3810000" y="2619375"/>
            <a:ext cx="74295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给它起个名字，和它拉开距离（CLOS-014 情绪组合解释理论）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3" name="dsl:l3-bg"/>
          <p:cNvSpPr/>
          <p:nvPr/>
        </p:nvSpPr>
        <p:spPr>
          <a:xfrm>
            <a:off x="762000" y="3429000"/>
            <a:ext cx="10668000" cy="666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l3-num|s=$heading"/>
          <p:cNvSpPr txBox="1"/>
          <p:nvPr/>
        </p:nvSpPr>
        <p:spPr>
          <a:xfrm>
            <a:off x="952500" y="3429000"/>
            <a:ext cx="66675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noProof="1">
                <a:solidFill>
                  <a:srgbClr val="6B7280"/>
                </a:solidFill>
                <a:latin typeface="Liter"/>
                <a:ea typeface="alimamashuheiti"/>
              </a:rPr>
              <a:t>L3</a:t>
            </a:r>
            <a:endParaRPr sz="2400" noProof="1">
              <a:solidFill>
                <a:srgbClr val="6B7280"/>
              </a:solidFill>
              <a:latin typeface="Liter"/>
              <a:ea typeface="alimamashuheiti"/>
            </a:endParaRPr>
          </a:p>
        </p:txBody>
      </p:sp>
      <p:sp>
        <p:nvSpPr>
          <p:cNvPr id="15" name="dsl:l3-title|s=$body"/>
          <p:cNvSpPr txBox="1"/>
          <p:nvPr/>
        </p:nvSpPr>
        <p:spPr>
          <a:xfrm>
            <a:off x="1714500" y="3429000"/>
            <a:ext cx="1905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1" noProof="1">
                <a:solidFill>
                  <a:srgbClr val="1F2937"/>
                </a:solidFill>
                <a:latin typeface="QuattrocentoSans"/>
                <a:ea typeface="MiSans"/>
              </a:rPr>
              <a:t>暂停</a:t>
            </a:r>
            <a:endParaRPr sz="1500" b="1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16" name="dsl:l3-desc|s=$body"/>
          <p:cNvSpPr txBox="1"/>
          <p:nvPr/>
        </p:nvSpPr>
        <p:spPr>
          <a:xfrm>
            <a:off x="3810000" y="3429000"/>
            <a:ext cx="74295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在反应和行动之间，插入1秒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7" name="dsl:l4-bg"/>
          <p:cNvSpPr/>
          <p:nvPr/>
        </p:nvSpPr>
        <p:spPr>
          <a:xfrm>
            <a:off x="762000" y="4238625"/>
            <a:ext cx="10668000" cy="66675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l4-num|s=$heading"/>
          <p:cNvSpPr txBox="1"/>
          <p:nvPr/>
        </p:nvSpPr>
        <p:spPr>
          <a:xfrm>
            <a:off x="952500" y="4238625"/>
            <a:ext cx="66675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noProof="1">
                <a:solidFill>
                  <a:srgbClr val="059669"/>
                </a:solidFill>
                <a:latin typeface="Liter"/>
                <a:ea typeface="alimamashuheiti"/>
              </a:rPr>
              <a:t>L4</a:t>
            </a:r>
            <a:endParaRPr sz="2400" noProof="1">
              <a:solidFill>
                <a:srgbClr val="059669"/>
              </a:solidFill>
              <a:latin typeface="Liter"/>
              <a:ea typeface="alimamashuheiti"/>
            </a:endParaRPr>
          </a:p>
        </p:txBody>
      </p:sp>
      <p:sp>
        <p:nvSpPr>
          <p:cNvPr id="19" name="dsl:l4-title|s=$body"/>
          <p:cNvSpPr txBox="1"/>
          <p:nvPr/>
        </p:nvSpPr>
        <p:spPr>
          <a:xfrm>
            <a:off x="1714500" y="4238625"/>
            <a:ext cx="1905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1" noProof="1">
                <a:solidFill>
                  <a:srgbClr val="059669"/>
                </a:solidFill>
                <a:latin typeface="QuattrocentoSans"/>
                <a:ea typeface="MiSans"/>
              </a:rPr>
              <a:t>回归</a:t>
            </a:r>
            <a:endParaRPr sz="1500" b="1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20" name="dsl:l4-desc|s=$body"/>
          <p:cNvSpPr txBox="1"/>
          <p:nvPr/>
        </p:nvSpPr>
        <p:spPr>
          <a:xfrm>
            <a:off x="3810000" y="4238625"/>
            <a:ext cx="74295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059669"/>
                </a:solidFill>
                <a:latin typeface="QuattrocentoSans"/>
                <a:ea typeface="MiSans"/>
              </a:rPr>
              <a:t>把注意力从"问题"转向"今天我能创造什么"</a:t>
            </a:r>
            <a:endParaRPr sz="135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21" name="dsl:l5-bg"/>
          <p:cNvSpPr/>
          <p:nvPr/>
        </p:nvSpPr>
        <p:spPr>
          <a:xfrm>
            <a:off x="762000" y="5048250"/>
            <a:ext cx="10668000" cy="66675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l5-num|s=$heading"/>
          <p:cNvSpPr txBox="1"/>
          <p:nvPr/>
        </p:nvSpPr>
        <p:spPr>
          <a:xfrm>
            <a:off x="952500" y="5048250"/>
            <a:ext cx="66675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noProof="1">
                <a:solidFill>
                  <a:srgbClr val="059669"/>
                </a:solidFill>
                <a:latin typeface="Liter"/>
                <a:ea typeface="alimamashuheiti"/>
              </a:rPr>
              <a:t>L5</a:t>
            </a:r>
            <a:endParaRPr sz="2400" noProof="1">
              <a:solidFill>
                <a:srgbClr val="059669"/>
              </a:solidFill>
              <a:latin typeface="Liter"/>
              <a:ea typeface="alimamashuheiti"/>
            </a:endParaRPr>
          </a:p>
        </p:txBody>
      </p:sp>
      <p:sp>
        <p:nvSpPr>
          <p:cNvPr id="23" name="dsl:l5-title|s=$body"/>
          <p:cNvSpPr txBox="1"/>
          <p:nvPr/>
        </p:nvSpPr>
        <p:spPr>
          <a:xfrm>
            <a:off x="1714500" y="5048250"/>
            <a:ext cx="1905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1" noProof="1">
                <a:solidFill>
                  <a:srgbClr val="059669"/>
                </a:solidFill>
                <a:latin typeface="QuattrocentoSans"/>
                <a:ea typeface="MiSans"/>
              </a:rPr>
              <a:t>创造</a:t>
            </a:r>
            <a:endParaRPr sz="1500" b="1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24" name="dsl:l5-desc|s=$body"/>
          <p:cNvSpPr txBox="1"/>
          <p:nvPr/>
        </p:nvSpPr>
        <p:spPr>
          <a:xfrm>
            <a:off x="3810000" y="5048250"/>
            <a:ext cx="74295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059669"/>
                </a:solidFill>
                <a:latin typeface="QuattrocentoSans"/>
                <a:ea typeface="MiSans"/>
              </a:rPr>
              <a:t>每天一个最小行动，哪怕1分钟</a:t>
            </a:r>
            <a:endParaRPr sz="135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25" name="dsl:divider"/>
          <p:cNvSpPr/>
          <p:nvPr/>
        </p:nvSpPr>
        <p:spPr>
          <a:xfrm>
            <a:off x="762000" y="59055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bottom-note|s=$body"/>
          <p:cNvSpPr txBox="1"/>
          <p:nvPr/>
        </p:nvSpPr>
        <p:spPr>
          <a:xfrm>
            <a:off x="762000" y="6096000"/>
            <a:ext cx="1066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我第一次做到"暂停"的时候，花了三个月。不是听明白的，是练出来的。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age-label|s=$label"/>
          <p:cNvSpPr txBox="1"/>
          <p:nvPr/>
        </p:nvSpPr>
        <p:spPr>
          <a:xfrm>
            <a:off x="762000" y="381000"/>
            <a:ext cx="2857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B7280"/>
                </a:solidFill>
                <a:latin typeface="QuattrocentoSans"/>
                <a:ea typeface="MiSans"/>
              </a:rPr>
              <a:t>03 我现在的样子</a:t>
            </a:r>
            <a:endParaRPr sz="90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3" name="dsl:title|s=$heading"/>
          <p:cNvSpPr txBox="1"/>
          <p:nvPr/>
        </p:nvSpPr>
        <p:spPr>
          <a:xfrm>
            <a:off x="762000" y="762000"/>
            <a:ext cx="952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我现在的样子</a:t>
            </a:r>
            <a:endParaRPr sz="27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4" name="dsl:deco-bar"/>
          <p:cNvSpPr/>
          <p:nvPr/>
        </p:nvSpPr>
        <p:spPr>
          <a:xfrm>
            <a:off x="762000" y="1381125"/>
            <a:ext cx="571500" cy="381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ubtitle|s=$body"/>
          <p:cNvSpPr txBox="1"/>
          <p:nvPr/>
        </p:nvSpPr>
        <p:spPr>
          <a:xfrm>
            <a:off x="762000" y="1571625"/>
            <a:ext cx="10668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做这个系统</a:t>
            </a:r>
            <a:r>
              <a:rPr lang="zh-CN" sz="1350" noProof="1">
                <a:solidFill>
                  <a:srgbClr val="6B7280"/>
                </a:solidFill>
                <a:latin typeface="QuattrocentoSans"/>
                <a:ea typeface="MiSans"/>
              </a:rPr>
              <a:t>后的</a:t>
            </a: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一些变化：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6" name="dsl:c1-bg"/>
          <p:cNvSpPr/>
          <p:nvPr/>
        </p:nvSpPr>
        <p:spPr>
          <a:xfrm>
            <a:off x="762000" y="2190750"/>
            <a:ext cx="10668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c1-text|s=$body"/>
          <p:cNvSpPr txBox="1"/>
          <p:nvPr/>
        </p:nvSpPr>
        <p:spPr>
          <a:xfrm>
            <a:off x="952500" y="2190750"/>
            <a:ext cx="10287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QuattrocentoSans"/>
                <a:ea typeface="MiSans"/>
              </a:rPr>
              <a:t>我不再为"别人怎么看我"消耗大量注意力 </a:t>
            </a: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（CLOS-021 生效了）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8" name="dsl:c2-bg"/>
          <p:cNvSpPr/>
          <p:nvPr/>
        </p:nvSpPr>
        <p:spPr>
          <a:xfrm>
            <a:off x="762000" y="2857500"/>
            <a:ext cx="10668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c2-text|s=$body"/>
          <p:cNvSpPr txBox="1"/>
          <p:nvPr/>
        </p:nvSpPr>
        <p:spPr>
          <a:xfrm>
            <a:off x="952500" y="2857500"/>
            <a:ext cx="10287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QuattrocentoSans"/>
                <a:ea typeface="MiSans"/>
              </a:rPr>
              <a:t>遇到情绪时，我能看到"旧系统正在启动" </a:t>
            </a: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（CLOS-007 生效了）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0" name="dsl:c3-bg"/>
          <p:cNvSpPr/>
          <p:nvPr/>
        </p:nvSpPr>
        <p:spPr>
          <a:xfrm>
            <a:off x="762000" y="3524250"/>
            <a:ext cx="10668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3-text|s=$body"/>
          <p:cNvSpPr txBox="1"/>
          <p:nvPr/>
        </p:nvSpPr>
        <p:spPr>
          <a:xfrm>
            <a:off x="952500" y="3524250"/>
            <a:ext cx="10287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QuattrocentoSans"/>
                <a:ea typeface="MiSans"/>
              </a:rPr>
              <a:t>经验和思考，沉淀成了可以复用的知识 </a:t>
            </a: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（CLOS-013 生效了）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2" name="dsl:c4-bg"/>
          <p:cNvSpPr/>
          <p:nvPr/>
        </p:nvSpPr>
        <p:spPr>
          <a:xfrm>
            <a:off x="762000" y="4191000"/>
            <a:ext cx="10668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c4-text|s=$body"/>
          <p:cNvSpPr txBox="1"/>
          <p:nvPr/>
        </p:nvSpPr>
        <p:spPr>
          <a:xfrm>
            <a:off x="952500" y="4191000"/>
            <a:ext cx="10287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QuattrocentoSans"/>
                <a:ea typeface="MiSans"/>
              </a:rPr>
              <a:t>每天有一个最小行动，不再"等准备好再开始"</a:t>
            </a:r>
            <a:endParaRPr sz="135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14" name="dsl:c5-bg"/>
          <p:cNvSpPr/>
          <p:nvPr/>
        </p:nvSpPr>
        <p:spPr>
          <a:xfrm>
            <a:off x="762000" y="4857750"/>
            <a:ext cx="10668000" cy="523875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c5-text|s=$body"/>
          <p:cNvSpPr txBox="1"/>
          <p:nvPr/>
        </p:nvSpPr>
        <p:spPr>
          <a:xfrm>
            <a:off x="952500" y="4857750"/>
            <a:ext cx="10287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QuattrocentoSans"/>
                <a:ea typeface="MiSans"/>
              </a:rPr>
              <a:t>我知道五年后的样子，取决于今天怎么运行 </a:t>
            </a:r>
            <a:r>
              <a:rPr sz="1350" noProof="1">
                <a:solidFill>
                  <a:srgbClr val="6B7280"/>
                </a:solidFill>
                <a:latin typeface="QuattrocentoSans"/>
                <a:ea typeface="MiSans"/>
              </a:rPr>
              <a:t>（CLOS-012 生效了）</a:t>
            </a:r>
            <a:endParaRPr sz="13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16" name="dsl:divider"/>
          <p:cNvSpPr/>
          <p:nvPr/>
        </p:nvSpPr>
        <p:spPr>
          <a:xfrm>
            <a:off x="762000" y="561975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new-theory|s=$caption"/>
          <p:cNvSpPr txBox="1"/>
          <p:nvPr/>
        </p:nvSpPr>
        <p:spPr>
          <a:xfrm>
            <a:off x="762000" y="5810250"/>
            <a:ext cx="10668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6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我的仓库还在生长。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  <a:p>
            <a:pPr algn="ctr">
              <a:lnSpc>
                <a:spcPct val="16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最近新增了 </a:t>
            </a:r>
            <a:r>
              <a:rPr sz="1050" noProof="1">
                <a:solidFill>
                  <a:srgbClr val="059669"/>
                </a:solidFill>
                <a:latin typeface="QuattrocentoSans"/>
                <a:ea typeface="MiSans"/>
              </a:rPr>
              <a:t>CLOS-026｜未来剧本识别能力</a:t>
            </a: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 和 </a:t>
            </a:r>
            <a:r>
              <a:rPr sz="1050" noProof="1">
                <a:solidFill>
                  <a:srgbClr val="059669"/>
                </a:solidFill>
                <a:latin typeface="QuattrocentoSans"/>
                <a:ea typeface="MiSans"/>
              </a:rPr>
              <a:t>CLOS-043｜分化能力理论</a:t>
            </a:r>
            <a:endParaRPr sz="105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line1|s=$slogan"/>
          <p:cNvSpPr txBox="1"/>
          <p:nvPr/>
        </p:nvSpPr>
        <p:spPr>
          <a:xfrm>
            <a:off x="1333500" y="1714500"/>
            <a:ext cx="952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700" noProof="1">
                <a:solidFill>
                  <a:srgbClr val="1F2937"/>
                </a:solidFill>
                <a:latin typeface="Liter"/>
                <a:ea typeface="alimamashuheiti"/>
              </a:rPr>
              <a:t>第一大脑负责思考。</a:t>
            </a:r>
            <a:endParaRPr sz="2700" noProof="1">
              <a:solidFill>
                <a:srgbClr val="1F2937"/>
              </a:solidFill>
              <a:latin typeface="Liter"/>
              <a:ea typeface="alimamashuheiti"/>
            </a:endParaRPr>
          </a:p>
        </p:txBody>
      </p:sp>
      <p:sp>
        <p:nvSpPr>
          <p:cNvPr id="3" name="dsl:line2|s=$slogan"/>
          <p:cNvSpPr txBox="1"/>
          <p:nvPr/>
        </p:nvSpPr>
        <p:spPr>
          <a:xfrm>
            <a:off x="1333500" y="2381250"/>
            <a:ext cx="9525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3000" noProof="1">
                <a:solidFill>
                  <a:srgbClr val="1E3A5F"/>
                </a:solidFill>
                <a:latin typeface="Liter"/>
                <a:ea typeface="alimamashuheiti"/>
              </a:rPr>
              <a:t>第二大脑负责生长。</a:t>
            </a:r>
            <a:endParaRPr sz="3000" noProof="1">
              <a:solidFill>
                <a:srgbClr val="1E3A5F"/>
              </a:solidFill>
              <a:latin typeface="Liter"/>
              <a:ea typeface="alimamashuheiti"/>
            </a:endParaRPr>
          </a:p>
        </p:txBody>
      </p:sp>
      <p:sp>
        <p:nvSpPr>
          <p:cNvPr id="4" name="dsl:divider"/>
          <p:cNvSpPr/>
          <p:nvPr/>
        </p:nvSpPr>
        <p:spPr>
          <a:xfrm>
            <a:off x="4191000" y="3238500"/>
            <a:ext cx="3810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line3|s=$body"/>
          <p:cNvSpPr txBox="1"/>
          <p:nvPr/>
        </p:nvSpPr>
        <p:spPr>
          <a:xfrm>
            <a:off x="1333500" y="3524250"/>
            <a:ext cx="9525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650" noProof="1">
                <a:solidFill>
                  <a:srgbClr val="6B7280"/>
                </a:solidFill>
                <a:latin typeface="QuattrocentoSans"/>
                <a:ea typeface="MiSans"/>
              </a:rPr>
              <a:t>你不需要一个完美的系统。</a:t>
            </a:r>
            <a:endParaRPr sz="16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  <p:sp>
        <p:nvSpPr>
          <p:cNvPr id="6" name="dsl:line4|s=$body"/>
          <p:cNvSpPr txBox="1"/>
          <p:nvPr/>
        </p:nvSpPr>
        <p:spPr>
          <a:xfrm>
            <a:off x="1333500" y="4000500"/>
            <a:ext cx="9525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650" noProof="1">
                <a:solidFill>
                  <a:srgbClr val="1F2937"/>
                </a:solidFill>
                <a:latin typeface="QuattrocentoSans"/>
                <a:ea typeface="MiSans"/>
              </a:rPr>
              <a:t>你只需要一个今天就可以开始的记录。</a:t>
            </a:r>
            <a:endParaRPr sz="165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7" name="dsl:action-card-bg"/>
          <p:cNvSpPr/>
          <p:nvPr/>
        </p:nvSpPr>
        <p:spPr>
          <a:xfrm>
            <a:off x="2762250" y="4762500"/>
            <a:ext cx="6667500" cy="104775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action-card-title|s=$caption"/>
          <p:cNvSpPr txBox="1"/>
          <p:nvPr/>
        </p:nvSpPr>
        <p:spPr>
          <a:xfrm>
            <a:off x="2952750" y="4838700"/>
            <a:ext cx="6286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spc="150" noProof="1">
                <a:solidFill>
                  <a:srgbClr val="1E3A5F"/>
                </a:solidFill>
                <a:latin typeface="QuattrocentoSans"/>
                <a:ea typeface="MiSans"/>
              </a:rPr>
              <a:t>明天的一分钟行动</a:t>
            </a:r>
            <a:endParaRPr sz="1050" spc="150" noProof="1">
              <a:solidFill>
                <a:srgbClr val="1E3A5F"/>
              </a:solidFill>
              <a:latin typeface="QuattrocentoSans"/>
              <a:ea typeface="MiSans"/>
            </a:endParaRPr>
          </a:p>
        </p:txBody>
      </p:sp>
      <p:sp>
        <p:nvSpPr>
          <p:cNvPr id="9" name="dsl:action-card-text|s=$body"/>
          <p:cNvSpPr txBox="1"/>
          <p:nvPr/>
        </p:nvSpPr>
        <p:spPr>
          <a:xfrm>
            <a:off x="2952750" y="5124450"/>
            <a:ext cx="6286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500" noProof="1">
                <a:solidFill>
                  <a:srgbClr val="1F2937"/>
                </a:solidFill>
                <a:latin typeface="QuattrocentoSans"/>
                <a:ea typeface="MiSans"/>
              </a:rPr>
              <a:t>明早醒来，先不碰手机。</a:t>
            </a:r>
            <a:endParaRPr sz="1500" noProof="1">
              <a:solidFill>
                <a:srgbClr val="1F2937"/>
              </a:solidFill>
              <a:latin typeface="QuattrocentoSans"/>
              <a:ea typeface="MiSans"/>
            </a:endParaRPr>
          </a:p>
        </p:txBody>
      </p:sp>
      <p:sp>
        <p:nvSpPr>
          <p:cNvPr id="10" name="dsl:action-card-text2|s=$body"/>
          <p:cNvSpPr txBox="1"/>
          <p:nvPr/>
        </p:nvSpPr>
        <p:spPr>
          <a:xfrm>
            <a:off x="2952750" y="5429250"/>
            <a:ext cx="6286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500" noProof="1">
                <a:solidFill>
                  <a:srgbClr val="059669"/>
                </a:solidFill>
                <a:latin typeface="QuattrocentoSans"/>
                <a:ea typeface="MiSans"/>
              </a:rPr>
              <a:t>问自己："今天我的注意力要投向哪里？"</a:t>
            </a:r>
            <a:endParaRPr sz="1500" noProof="1">
              <a:solidFill>
                <a:srgbClr val="059669"/>
              </a:solidFill>
              <a:latin typeface="QuattrocentoSans"/>
              <a:ea typeface="MiSans"/>
            </a:endParaRPr>
          </a:p>
        </p:txBody>
      </p:sp>
      <p:sp>
        <p:nvSpPr>
          <p:cNvPr id="11" name="dsl:footer|s=$caption"/>
          <p:cNvSpPr txBox="1"/>
          <p:nvPr/>
        </p:nvSpPr>
        <p:spPr>
          <a:xfrm>
            <a:off x="4191000" y="61912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6B7280"/>
                </a:solidFill>
                <a:latin typeface="QuattrocentoSans"/>
                <a:ea typeface="MiSans"/>
              </a:rPr>
              <a:t>张凯茗｜CLOS-Brain 人生运行科学</a:t>
            </a:r>
            <a:endParaRPr sz="1050" noProof="1">
              <a:solidFill>
                <a:srgbClr val="6B7280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value="#FFFFFF" name="bg"/>
    <Color value="#1F2937" name="text"/>
    <Color value="#6B7280" name="muted"/>
    <Color value="#1E3A5F" name="primary"/>
    <Color value="#059669" name="success"/>
    <Color value="#B45309" name="warning"/>
    <Color value="#F9FAFB" name="cardBg"/>
    <Color value="#ECFDF5" name="cardBgSuccess"/>
    <Color value="#FEF3C7" name="cardBgWarning"/>
    <Color value="#E5E7EB" name="border"/>
  </Colors>
  <TextStyles>
    <TextStyle color="$text" font_size="56.0" line_height="1.2" name="title" font_family="Liter, alimamashuheiti"/>
    <TextStyle color="$primary" font_size="120.0" line_height="1.0" name="chapterNum" font_family="Liter, alimamashuheiti"/>
    <TextStyle color="$muted" font_size="24.0" line_height="1.4" name="subtitle" font_family="QuattrocentoSans, MiSans"/>
    <TextStyle color="$text" font_size="36.0" line_height="1.2" name="heading" font_family="Liter, alimamashuheiti"/>
    <TextStyle color="$text" font_size="20.0" line_height="1.6" name="body" font_family="QuattrocentoSans, MiSans"/>
    <TextStyle color="$muted" font_size="14.0" line_height="1.4" name="caption" font_family="QuattrocentoSans, MiSans"/>
    <TextStyle color="$text" font_size="40.0" line_height="1.4" name="slogan" font_family="Liter, alimamashuheiti"/>
    <TextStyle color="$muted" font_size="12.0" line_height="1.2" name="label" font_family="QuattrocentoSans, MiSans"/>
    <TextStyle color="$text" font_size="32.0" line_height="1.4" name="formula" font_family="Liter, MiSans"/>
  </TextStyles>
  <TableStyles>
    <TableStyle headerColor="#FFFFFF" firstColumnBold="false" fontSize="16.0" bodyColor="$text" headerFill="$primary" name="default" fontFamily="QuattrocentoSans, MiSans" headerBold="true" bodyFill="#FFFFFF,#F9FAFB">
      <Border style="solid" color="$border" width="1.0"/>
    </TableStyle>
  </TableStyles>
</DslMetadata>
</file>

<file path=customXml/itemProps1.xml><?xml version="1.0" encoding="utf-8"?>
<ds:datastoreItem xmlns:ds="http://schemas.openxmlformats.org/officeDocument/2006/customXml" ds:itemID="{229310ED-30CC-4A46-9245-570A963AF0E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2046</Words>
  <Application>WPS 演示</Application>
  <PresentationFormat>On-screen Show (4:3)</PresentationFormat>
  <Paragraphs>307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6" baseType="lpstr">
      <vt:lpstr>Arial</vt:lpstr>
      <vt:lpstr>宋体</vt:lpstr>
      <vt:lpstr>Wingdings</vt:lpstr>
      <vt:lpstr>Arial</vt:lpstr>
      <vt:lpstr>Liter</vt:lpstr>
      <vt:lpstr>Thonburi</vt:lpstr>
      <vt:lpstr>alimamashuheiti</vt:lpstr>
      <vt:lpstr>QuattrocentoSans</vt:lpstr>
      <vt:lpstr>MiSans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Liter</vt:lpstr>
      <vt:lpstr>MiSans</vt:lpstr>
      <vt:lpstr>QuattrocentoSans</vt:lpstr>
      <vt:lpstr>alimamashuheiti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张凯茗</cp:lastModifiedBy>
  <cp:revision>2</cp:revision>
  <dcterms:created xsi:type="dcterms:W3CDTF">2026-07-09T09:30:24Z</dcterms:created>
  <dcterms:modified xsi:type="dcterms:W3CDTF">2026-07-09T09:30:24Z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B27FC98B8666A479306A4F6AFEC500A6_42</vt:lpwstr>
  </property>
  <property fmtid="{D5CDD505-2E9C-101B-9397-08002B2CF9AE}" pid="3" name="KSOProductBuildVer">
    <vt:lpwstr>2052-12.1.26026.26026</vt:lpwstr>
  </property>
</Properties>
</file>