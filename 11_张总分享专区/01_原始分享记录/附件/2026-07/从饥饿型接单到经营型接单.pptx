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 t="7796" b="7796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dsl_mask_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D2926">
                  <a:alpha val="94117"/>
                </a:srgbClr>
              </a:gs>
              <a:gs pos="55000">
                <a:srgbClr val="2D2926">
                  <a:alpha val="80000"/>
                </a:srgbClr>
              </a:gs>
              <a:gs pos="100000">
                <a:srgbClr val="2D2926">
                  <a:alpha val="25098"/>
                </a:srgbClr>
              </a:gs>
            </a:gsLst>
            <a:lin scaled="1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accent-line-top"/>
          <p:cNvSpPr/>
          <p:nvPr/>
        </p:nvSpPr>
        <p:spPr>
          <a:xfrm>
            <a:off x="571500" y="476250"/>
            <a:ext cx="762000" cy="28575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over-title|s=$title"/>
          <p:cNvSpPr txBox="1"/>
          <p:nvPr/>
        </p:nvSpPr>
        <p:spPr>
          <a:xfrm>
            <a:off x="571500" y="1714500"/>
            <a:ext cx="66675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900" noProof="1">
                <a:solidFill>
                  <a:srgbClr val="FFFFFF"/>
                </a:solidFill>
                <a:latin typeface="Oranienbaum"/>
                <a:ea typeface="siyuanSongti"/>
              </a:rPr>
              <a:t>从饥饿型接单</a:t>
            </a:r>
          </a:p>
          <a:p>
            <a:pPr algn="l">
              <a:lnSpc>
                <a:spcPct val="120000"/>
              </a:lnSpc>
            </a:pPr>
            <a:r>
              <a:rPr sz="3900" noProof="1">
                <a:solidFill>
                  <a:srgbClr val="FFFFFF"/>
                </a:solidFill>
                <a:latin typeface="Oranienbaum"/>
                <a:ea typeface="siyuanSongti"/>
              </a:rPr>
              <a:t>到经营型接单</a:t>
            </a:r>
          </a:p>
        </p:txBody>
      </p:sp>
      <p:sp>
        <p:nvSpPr>
          <p:cNvPr id="5" name="dsl:cover-subtitle|s=$subtitle"/>
          <p:cNvSpPr txBox="1"/>
          <p:nvPr/>
        </p:nvSpPr>
        <p:spPr>
          <a:xfrm>
            <a:off x="571500" y="3238500"/>
            <a:ext cx="666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Liter"/>
                <a:ea typeface="MiSans"/>
              </a:rPr>
              <a:t>小订单定价策略调整与业务风控升级会议复盘</a:t>
            </a:r>
          </a:p>
        </p:txBody>
      </p:sp>
      <p:sp>
        <p:nvSpPr>
          <p:cNvPr id="6" name="dsl:cover-keywords"/>
          <p:cNvSpPr txBox="1"/>
          <p:nvPr/>
        </p:nvSpPr>
        <p:spPr>
          <a:xfrm>
            <a:off x="571500" y="4191000"/>
            <a:ext cx="762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>
                    <a:alpha val="66666"/>
                  </a:srgbClr>
                </a:solidFill>
                <a:latin typeface="Liter"/>
                <a:ea typeface="MiSans"/>
              </a:rPr>
              <a:t>小订单定价  ·  绝对毛利  ·  风控边界  ·  客户筛选  ·  经营型接单</a:t>
            </a:r>
          </a:p>
        </p:txBody>
      </p:sp>
      <p:sp>
        <p:nvSpPr>
          <p:cNvPr id="7" name="dsl:cover-bottom-line"/>
          <p:cNvSpPr/>
          <p:nvPr/>
        </p:nvSpPr>
        <p:spPr>
          <a:xfrm>
            <a:off x="571500" y="6096000"/>
            <a:ext cx="1905000" cy="1905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我们真正要解决的，不是一个报价问题</a:t>
            </a:r>
          </a:p>
        </p:txBody>
      </p:sp>
      <p:sp>
        <p:nvSpPr>
          <p:cNvPr id="4" name="dsl:intro-text|s=$body"/>
          <p:cNvSpPr txBox="1"/>
          <p:nvPr/>
        </p:nvSpPr>
        <p:spPr>
          <a:xfrm>
            <a:off x="571500" y="1143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这次会议表面上讨论的是小订单报价，实际上暴露的是公司</a:t>
            </a: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接单逻辑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的问题。</a:t>
            </a:r>
          </a:p>
        </p:txBody>
      </p:sp>
      <p:sp>
        <p:nvSpPr>
          <p:cNvPr id="5" name="dsl:section-label-1"/>
          <p:cNvSpPr txBox="1"/>
          <p:nvPr/>
        </p:nvSpPr>
        <p:spPr>
          <a:xfrm>
            <a:off x="571500" y="19050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过去我们容易出现</a:t>
            </a:r>
          </a:p>
        </p:txBody>
      </p:sp>
      <p:sp>
        <p:nvSpPr>
          <p:cNvPr id="6" name="dsl:problems-list|s=$body"/>
          <p:cNvSpPr txBox="1"/>
          <p:nvPr/>
        </p:nvSpPr>
        <p:spPr>
          <a:xfrm>
            <a:off x="571500" y="2286000"/>
            <a:ext cx="4953000" cy="2952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看见订单就想接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用大订单价格去接小订单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只看毛利率，不看绝对毛利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只看成交，不看风险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小订单占用大客户级别服务资源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为几百、几千元利润承担几万甚至几十万风险</a:t>
            </a:r>
          </a:p>
        </p:txBody>
      </p:sp>
      <p:sp>
        <p:nvSpPr>
          <p:cNvPr id="7" name="dsl:divider-line"/>
          <p:cNvSpPr/>
          <p:nvPr/>
        </p:nvSpPr>
        <p:spPr>
          <a:xfrm>
            <a:off x="5905500" y="1905000"/>
            <a:ext cx="9525" cy="33337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onclusion-card-bg"/>
          <p:cNvSpPr/>
          <p:nvPr/>
        </p:nvSpPr>
        <p:spPr>
          <a:xfrm>
            <a:off x="6286500" y="1905000"/>
            <a:ext cx="5334000" cy="33337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onclusion-label"/>
          <p:cNvSpPr txBox="1"/>
          <p:nvPr/>
        </p:nvSpPr>
        <p:spPr>
          <a:xfrm>
            <a:off x="6572250" y="20955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核心判断</a:t>
            </a:r>
          </a:p>
        </p:txBody>
      </p:sp>
      <p:sp>
        <p:nvSpPr>
          <p:cNvPr id="10" name="dsl:conclusion-text|s=$body"/>
          <p:cNvSpPr txBox="1"/>
          <p:nvPr/>
        </p:nvSpPr>
        <p:spPr>
          <a:xfrm>
            <a:off x="6572250" y="2476500"/>
            <a:ext cx="4762500" cy="2571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订单不是越多越好。</a:t>
            </a:r>
          </a:p>
          <a:p>
            <a:pPr algn="l">
              <a:lnSpc>
                <a:spcPct val="170000"/>
              </a:lnSpc>
              <a:spcBef>
                <a:spcPts val="900"/>
              </a:spcBef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真正有价值的是：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有利润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、</a:t>
            </a: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有现金流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、</a:t>
            </a: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风险可控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、值得投入资源的订单。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饥饿型接单：看见订单就流口水</a:t>
            </a:r>
          </a:p>
        </p:txBody>
      </p:sp>
      <p:sp>
        <p:nvSpPr>
          <p:cNvPr id="4" name="dsl:definition-text|s=$body"/>
          <p:cNvSpPr txBox="1"/>
          <p:nvPr/>
        </p:nvSpPr>
        <p:spPr>
          <a:xfrm>
            <a:off x="571500" y="1143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所谓「饥饿型接单」，就是企业因为过去缺订单、缺现金流，形成一种</a:t>
            </a: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本能反应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：</a:t>
            </a:r>
          </a:p>
        </p:txBody>
      </p:sp>
      <p:sp>
        <p:nvSpPr>
          <p:cNvPr id="5" name="dsl:symptoms-label"/>
          <p:cNvSpPr txBox="1"/>
          <p:nvPr/>
        </p:nvSpPr>
        <p:spPr>
          <a:xfrm>
            <a:off x="571500" y="185737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典型表现</a:t>
            </a:r>
          </a:p>
        </p:txBody>
      </p:sp>
      <p:sp>
        <p:nvSpPr>
          <p:cNvPr id="6" name="dsl:symptoms-list|s=$body"/>
          <p:cNvSpPr txBox="1"/>
          <p:nvPr/>
        </p:nvSpPr>
        <p:spPr>
          <a:xfrm>
            <a:off x="571500" y="2190750"/>
            <a:ext cx="4762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客户要，就想接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价格低，也想接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利润薄，也想接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赊账，也想接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风险大，也先接了再说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客户画大饼，也愿意先投入</a:t>
            </a:r>
          </a:p>
        </p:txBody>
      </p:sp>
      <p:sp>
        <p:nvSpPr>
          <p:cNvPr id="7" name="dsl:consequences-label"/>
          <p:cNvSpPr txBox="1"/>
          <p:nvPr/>
        </p:nvSpPr>
        <p:spPr>
          <a:xfrm>
            <a:off x="6286500" y="185737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导致的后果</a:t>
            </a:r>
          </a:p>
        </p:txBody>
      </p:sp>
      <p:sp>
        <p:nvSpPr>
          <p:cNvPr id="8" name="dsl:consequences-list|s=$body"/>
          <p:cNvSpPr txBox="1"/>
          <p:nvPr/>
        </p:nvSpPr>
        <p:spPr>
          <a:xfrm>
            <a:off x="6286500" y="2190750"/>
            <a:ext cx="5334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表面有营业额，实际不赚钱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销售很忙，利润很少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团队被小事拖死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售后一出问题，利润全没了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管理层时间被低价值问题消耗</a:t>
            </a:r>
          </a:p>
        </p:txBody>
      </p:sp>
      <p:sp>
        <p:nvSpPr>
          <p:cNvPr id="9" name="dsl:quote-bg"/>
          <p:cNvSpPr/>
          <p:nvPr/>
        </p:nvSpPr>
        <p:spPr>
          <a:xfrm>
            <a:off x="571500" y="4476750"/>
            <a:ext cx="11049000" cy="8572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uote-text"/>
          <p:cNvSpPr txBox="1"/>
          <p:nvPr/>
        </p:nvSpPr>
        <p:spPr>
          <a:xfrm>
            <a:off x="952500" y="4572000"/>
            <a:ext cx="10287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950" noProof="1">
                <a:solidFill>
                  <a:srgbClr val="FFFFFF"/>
                </a:solidFill>
                <a:latin typeface="Oranienbaum"/>
                <a:ea typeface="siyuanSongti"/>
              </a:rPr>
              <a:t>低质量订单，不是机会，是消耗。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经营型接单：先判断价值，再决定是否承接</a:t>
            </a:r>
          </a:p>
        </p:txBody>
      </p:sp>
      <p:sp>
        <p:nvSpPr>
          <p:cNvPr id="4" name="dsl:old-way-label"/>
          <p:cNvSpPr txBox="1"/>
          <p:nvPr/>
        </p:nvSpPr>
        <p:spPr>
          <a:xfrm>
            <a:off x="571500" y="123825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以前接单前，只问：</a:t>
            </a:r>
          </a:p>
        </p:txBody>
      </p:sp>
      <p:sp>
        <p:nvSpPr>
          <p:cNvPr id="5" name="dsl:old-way-list|s=$body"/>
          <p:cNvSpPr txBox="1"/>
          <p:nvPr/>
        </p:nvSpPr>
        <p:spPr>
          <a:xfrm>
            <a:off x="571500" y="1571625"/>
            <a:ext cx="47625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客户要不要？</a:t>
            </a:r>
          </a:p>
          <a:p>
            <a:pPr algn="l">
              <a:lnSpc>
                <a:spcPct val="170000"/>
              </a:lnSpc>
            </a:pPr>
            <a:r>
              <a:rPr sz="150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能不能成交？</a:t>
            </a:r>
          </a:p>
          <a:p>
            <a:pPr algn="l">
              <a:lnSpc>
                <a:spcPct val="170000"/>
              </a:lnSpc>
            </a:pPr>
            <a:r>
              <a:rPr sz="150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有没有营业额？</a:t>
            </a:r>
          </a:p>
        </p:txBody>
      </p:sp>
      <p:sp>
        <p:nvSpPr>
          <p:cNvPr id="6" name="dsl:new-way-label"/>
          <p:cNvSpPr txBox="1"/>
          <p:nvPr/>
        </p:nvSpPr>
        <p:spPr>
          <a:xfrm>
            <a:off x="6286500" y="12382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以后接单前，要先问：</a:t>
            </a:r>
          </a:p>
        </p:txBody>
      </p:sp>
      <p:sp>
        <p:nvSpPr>
          <p:cNvPr id="7" name="dsl:new-way-list|s=$body"/>
          <p:cNvSpPr txBox="1"/>
          <p:nvPr/>
        </p:nvSpPr>
        <p:spPr>
          <a:xfrm>
            <a:off x="6286500" y="1571625"/>
            <a:ext cx="5334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赚不赚钱？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绝对毛利是多少？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回款是否安全？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风险是否可控？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是否占用大量服务资源？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客户有没有长期价值？</a:t>
            </a:r>
          </a:p>
          <a:p>
            <a:pPr algn="l">
              <a:lnSpc>
                <a:spcPct val="170000"/>
              </a:lnSpc>
            </a:pP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出问题后最大损失是多少？</a:t>
            </a:r>
          </a:p>
        </p:txBody>
      </p:sp>
      <p:sp>
        <p:nvSpPr>
          <p:cNvPr id="8" name="dsl:divider-line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ransformation-text|s=$body"/>
          <p:cNvSpPr txBox="1"/>
          <p:nvPr/>
        </p:nvSpPr>
        <p:spPr>
          <a:xfrm>
            <a:off x="571500" y="4714875"/>
            <a:ext cx="11049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2D2926"/>
                </a:solidFill>
                <a:latin typeface="Liter"/>
                <a:ea typeface="MiSans"/>
              </a:rPr>
              <a:t>核心转变：从 </a:t>
            </a:r>
            <a:r>
              <a:rPr sz="1650" noProof="1">
                <a:solidFill>
                  <a:srgbClr val="9E968D"/>
                </a:solidFill>
                <a:latin typeface="Liter"/>
                <a:ea typeface="MiSans"/>
              </a:rPr>
              <a:t>「成交思维」</a:t>
            </a:r>
            <a:r>
              <a:rPr sz="1650" noProof="1">
                <a:solidFill>
                  <a:srgbClr val="2D2926"/>
                </a:solidFill>
                <a:latin typeface="Liter"/>
                <a:ea typeface="MiSans"/>
              </a:rPr>
              <a:t> 升级为 </a:t>
            </a:r>
            <a:r>
              <a:rPr b="1" sz="1650" noProof="1">
                <a:solidFill>
                  <a:srgbClr val="A04030"/>
                </a:solidFill>
                <a:latin typeface="Liter"/>
                <a:ea typeface="MiSans"/>
              </a:rPr>
              <a:t>「经营思维」</a:t>
            </a:r>
          </a:p>
        </p:txBody>
      </p:sp>
      <p:pic>
        <p:nvPicPr>
          <p:cNvPr id="10" name="dsl:arrow-icon|i=fas:arrow-right" descr="tmpyuv_hk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95275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小单有小单成本，不能享受大货价格</a:t>
            </a:r>
          </a:p>
        </p:txBody>
      </p:sp>
      <p:sp>
        <p:nvSpPr>
          <p:cNvPr id="4" name="dsl:intro-text|s=$body"/>
          <p:cNvSpPr txBox="1"/>
          <p:nvPr/>
        </p:nvSpPr>
        <p:spPr>
          <a:xfrm>
            <a:off x="571500" y="1143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过去的问题：公司为了内部核算方便，可能把10万、20万订单的成本，直接套用到2万、5000片的小订单上。</a:t>
            </a:r>
          </a:p>
        </p:txBody>
      </p:sp>
      <p:sp>
        <p:nvSpPr>
          <p:cNvPr id="5" name="dsl:reality-label"/>
          <p:cNvSpPr txBox="1"/>
          <p:nvPr/>
        </p:nvSpPr>
        <p:spPr>
          <a:xfrm>
            <a:off x="571500" y="1857375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但实际情况是</a:t>
            </a:r>
          </a:p>
        </p:txBody>
      </p:sp>
      <p:sp>
        <p:nvSpPr>
          <p:cNvPr id="6" name="dsl:reality-list|s=$body"/>
          <p:cNvSpPr txBox="1"/>
          <p:nvPr/>
        </p:nvSpPr>
        <p:spPr>
          <a:xfrm>
            <a:off x="571500" y="2238375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小订单采购成本更高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沟通成本没有减少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生产排期同样占用资源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备案、设计、对接、售后成本一样存在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质量风险不会因为订单小而变小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小单一旦返工，利润更容易被吞噬</a:t>
            </a:r>
          </a:p>
        </p:txBody>
      </p:sp>
      <p:sp>
        <p:nvSpPr>
          <p:cNvPr id="7" name="dsl:conclusion-bg"/>
          <p:cNvSpPr/>
          <p:nvPr/>
        </p:nvSpPr>
        <p:spPr>
          <a:xfrm>
            <a:off x="571500" y="5048250"/>
            <a:ext cx="11049000" cy="6667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onclusion-text"/>
          <p:cNvSpPr txBox="1"/>
          <p:nvPr/>
        </p:nvSpPr>
        <p:spPr>
          <a:xfrm>
            <a:off x="952500" y="509587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6B3A2A"/>
                </a:solidFill>
                <a:latin typeface="Oranienbaum"/>
                <a:ea typeface="siyuanSongti"/>
              </a:rPr>
              <a:t>量大才有价，量小必须重新核算成本和风险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毛利率好看，不代表这个订单值得做</a:t>
            </a:r>
          </a:p>
        </p:txBody>
      </p:sp>
      <p:sp>
        <p:nvSpPr>
          <p:cNvPr id="4" name="dsl:scenario-text|s=$body"/>
          <p:cNvSpPr txBox="1"/>
          <p:nvPr/>
        </p:nvSpPr>
        <p:spPr>
          <a:xfrm>
            <a:off x="571500" y="1143000"/>
            <a:ext cx="11049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一个订单哪怕毛利率看起来还可以，但如果总共只赚几百块、几千块，却需要大量内部资源投入——那这个订单可能</a:t>
            </a: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实际上是亏的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。</a:t>
            </a:r>
          </a:p>
        </p:txBody>
      </p:sp>
      <p:sp>
        <p:nvSpPr>
          <p:cNvPr id="5" name="dsl:cost-items-label"/>
          <p:cNvSpPr txBox="1"/>
          <p:nvPr/>
        </p:nvSpPr>
        <p:spPr>
          <a:xfrm>
            <a:off x="571500" y="2143125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一个订单背后隐藏的成本</a:t>
            </a:r>
          </a:p>
        </p:txBody>
      </p:sp>
      <p:sp>
        <p:nvSpPr>
          <p:cNvPr id="6" name="dsl:cost-items-list|s=$body"/>
          <p:cNvSpPr txBox="1"/>
          <p:nvPr/>
        </p:nvSpPr>
        <p:spPr>
          <a:xfrm>
            <a:off x="571500" y="2476500"/>
            <a:ext cx="5715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销售反复沟通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采购找货比价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设计配合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工厂排产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财务对账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管理层开会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售后承担风险</a:t>
            </a:r>
          </a:p>
        </p:txBody>
      </p:sp>
      <p:sp>
        <p:nvSpPr>
          <p:cNvPr id="7" name="dsl:key-standard-bg"/>
          <p:cNvSpPr/>
          <p:nvPr/>
        </p:nvSpPr>
        <p:spPr>
          <a:xfrm>
            <a:off x="6667500" y="2476500"/>
            <a:ext cx="4953000" cy="1143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key-standard-text"/>
          <p:cNvSpPr txBox="1"/>
          <p:nvPr/>
        </p:nvSpPr>
        <p:spPr>
          <a:xfrm>
            <a:off x="6953250" y="2619375"/>
            <a:ext cx="43815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6B3A2A"/>
                </a:solidFill>
                <a:latin typeface="Oranienbaum"/>
                <a:ea typeface="siyuanSongti"/>
              </a:rPr>
              <a:t>关键标准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小订单要看</a:t>
            </a:r>
            <a:r>
              <a:rPr b="1" sz="1350" noProof="1">
                <a:solidFill>
                  <a:srgbClr val="2D2926"/>
                </a:solidFill>
                <a:latin typeface="Liter"/>
                <a:ea typeface="MiSans"/>
              </a:rPr>
              <a:t>绝对毛利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，不只看毛利率</a:t>
            </a:r>
          </a:p>
        </p:txBody>
      </p:sp>
      <p:sp>
        <p:nvSpPr>
          <p:cNvPr id="9" name="dsl:example-bg"/>
          <p:cNvSpPr/>
          <p:nvPr/>
        </p:nvSpPr>
        <p:spPr>
          <a:xfrm>
            <a:off x="6667500" y="3905250"/>
            <a:ext cx="4953000" cy="12382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example-text"/>
          <p:cNvSpPr txBox="1"/>
          <p:nvPr/>
        </p:nvSpPr>
        <p:spPr>
          <a:xfrm>
            <a:off x="6953250" y="4000500"/>
            <a:ext cx="4381500" cy="1047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FFFFFF"/>
                </a:solidFill>
                <a:latin typeface="Liter"/>
                <a:ea typeface="MiSans"/>
              </a:rPr>
              <a:t>示例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FFFFFF"/>
                </a:solidFill>
                <a:latin typeface="Liter"/>
                <a:ea typeface="MiSans"/>
              </a:rPr>
              <a:t>赚500元的订单，如果需要公司多人开会、协调、承担售后风险，本质上就是低质量订单。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小订单必须建立价格底线</a:t>
            </a:r>
          </a:p>
        </p:txBody>
      </p:sp>
      <p:graphicFrame>
        <p:nvGraphicFramePr>
          <p:cNvPr id="4" name="dsl:pricing-table"/>
          <p:cNvGraphicFramePr>
            <a:graphicFrameLocks noGrp="1"/>
          </p:cNvGraphicFramePr>
          <p:nvPr/>
        </p:nvGraphicFramePr>
        <p:xfrm>
          <a:off x="571500" y="1238250"/>
          <a:ext cx="11049000" cy="3619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867150"/>
                <a:gridCol w="7181850"/>
              </a:tblGrid>
              <a:tr h="57912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订单量级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6B3A2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定价原则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6B3A2A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5000片级别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原则上不按大货价格接，必须大幅提高单价或拒接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2万片左右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不能直接套10万片价格，必须提高单价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5万片以上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可以进入议价区间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10万片以上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才具备申请大货价格的基础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低于最低毛利标准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宁可不接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F5F2EC"/>
                    </a:solidFill>
                  </a:tcPr>
                </a:tc>
              </a:tr>
              <a:tr h="5067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有特殊服务要求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D2926"/>
                          </a:solidFill>
                          <a:latin typeface="Liter"/>
                          <a:ea typeface="MiSans"/>
                        </a:rPr>
                        <a:t>必须重新核算服务成本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DEAE4"/>
                      </a:solidFill>
                      <a:prstDash val="solid"/>
                    </a:lnL>
                    <a:lnR w="12700" cap="flat" cmpd="sng" algn="ctr">
                      <a:solidFill>
                        <a:srgbClr val="EDEAE4"/>
                      </a:solidFill>
                      <a:prstDash val="solid"/>
                    </a:lnR>
                    <a:lnT w="12700" cap="flat" cmpd="sng" algn="ctr">
                      <a:solidFill>
                        <a:srgbClr val="EDEAE4"/>
                      </a:solidFill>
                      <a:prstDash val="solid"/>
                    </a:lnT>
                    <a:lnB w="12700" cap="flat" cmpd="sng" algn="ctr">
                      <a:solidFill>
                        <a:srgbClr val="EDEAE4"/>
                      </a:solidFill>
                      <a:prstDash val="soli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5" name="dsl:principle-bg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rinciple-text"/>
          <p:cNvSpPr txBox="1"/>
          <p:nvPr/>
        </p:nvSpPr>
        <p:spPr>
          <a:xfrm>
            <a:off x="952500" y="519112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FFFFFF"/>
                </a:solidFill>
                <a:latin typeface="Oranienbaum"/>
                <a:ea typeface="siyuanSongti"/>
              </a:rPr>
              <a:t>小单有小单价格，小单有小单边界</a:t>
            </a:r>
          </a:p>
        </p:txBody>
      </p:sp>
      <p:sp>
        <p:nvSpPr>
          <p:cNvPr id="7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小订单不能无限占用公司服务资源</a:t>
            </a:r>
          </a:p>
        </p:txBody>
      </p:sp>
      <p:sp>
        <p:nvSpPr>
          <p:cNvPr id="4" name="dsl:intro-text|s=$body"/>
          <p:cNvSpPr txBox="1"/>
          <p:nvPr/>
        </p:nvSpPr>
        <p:spPr>
          <a:xfrm>
            <a:off x="571500" y="1143000"/>
            <a:ext cx="11049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小订单如果同时要求以下服务，就必须</a:t>
            </a: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重新评估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是否值得接：</a:t>
            </a:r>
          </a:p>
        </p:txBody>
      </p:sp>
      <p:sp>
        <p:nvSpPr>
          <p:cNvPr id="5" name="dsl:services-list|s=$body"/>
          <p:cNvSpPr txBox="1"/>
          <p:nvPr/>
        </p:nvSpPr>
        <p:spPr>
          <a:xfrm>
            <a:off x="571500" y="1762125"/>
            <a:ext cx="5143500" cy="3143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免费设计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特殊打样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反复修改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提前备案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账期赊账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特殊包装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特殊交期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多部门协同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管理层介入</a:t>
            </a:r>
          </a:p>
        </p:txBody>
      </p:sp>
      <p:sp>
        <p:nvSpPr>
          <p:cNvPr id="6" name="dsl:criteria-bg"/>
          <p:cNvSpPr/>
          <p:nvPr/>
        </p:nvSpPr>
        <p:spPr>
          <a:xfrm>
            <a:off x="6286500" y="1762125"/>
            <a:ext cx="5334000" cy="1524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riteria-label"/>
          <p:cNvSpPr txBox="1"/>
          <p:nvPr/>
        </p:nvSpPr>
        <p:spPr>
          <a:xfrm>
            <a:off x="6572250" y="1857375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判断标准</a:t>
            </a:r>
          </a:p>
        </p:txBody>
      </p:sp>
      <p:sp>
        <p:nvSpPr>
          <p:cNvPr id="8" name="dsl:criteria-text|s=$body"/>
          <p:cNvSpPr txBox="1"/>
          <p:nvPr/>
        </p:nvSpPr>
        <p:spPr>
          <a:xfrm>
            <a:off x="6572250" y="2190750"/>
            <a:ext cx="4762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如果一个小订单占用了大客户级别的服务资源，它就必须支付相应价格。</a:t>
            </a:r>
          </a:p>
        </p:txBody>
      </p:sp>
      <p:sp>
        <p:nvSpPr>
          <p:cNvPr id="9" name="dsl:quote-bg"/>
          <p:cNvSpPr/>
          <p:nvPr/>
        </p:nvSpPr>
        <p:spPr>
          <a:xfrm>
            <a:off x="571500" y="5238750"/>
            <a:ext cx="11049000" cy="6667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uote-text"/>
          <p:cNvSpPr txBox="1"/>
          <p:nvPr/>
        </p:nvSpPr>
        <p:spPr>
          <a:xfrm>
            <a:off x="952500" y="528637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 noProof="1">
                <a:solidFill>
                  <a:srgbClr val="FFFFFF"/>
                </a:solidFill>
                <a:latin typeface="Oranienbaum"/>
                <a:ea typeface="siyuanSongti"/>
              </a:rPr>
              <a:t>低利润订单，不能享受高成本服务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762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风险比订单更重要</a:t>
            </a:r>
          </a:p>
        </p:txBody>
      </p:sp>
      <p:sp>
        <p:nvSpPr>
          <p:cNvPr id="4" name="dsl:intro-text|s=$body"/>
          <p:cNvSpPr txBox="1"/>
          <p:nvPr/>
        </p:nvSpPr>
        <p:spPr>
          <a:xfrm>
            <a:off x="571500" y="1143000"/>
            <a:ext cx="5715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以后以下情况必须</a:t>
            </a: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谨慎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：</a:t>
            </a:r>
          </a:p>
        </p:txBody>
      </p:sp>
      <p:sp>
        <p:nvSpPr>
          <p:cNvPr id="5" name="dsl:risk-list|s=$body"/>
          <p:cNvSpPr txBox="1"/>
          <p:nvPr/>
        </p:nvSpPr>
        <p:spPr>
          <a:xfrm>
            <a:off x="571500" y="1619250"/>
            <a:ext cx="6667500" cy="304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客户不愿意预付款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未下单就要求备案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订单金额小但售后风险大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包材、喷头、漏液类高风险产品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客户只画大饼，不承担实际成本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利润很低，但赔付风险很高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客户已有应收账款风险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熟人关系推动，但商业条件不合理</a:t>
            </a:r>
          </a:p>
        </p:txBody>
      </p:sp>
      <p:sp>
        <p:nvSpPr>
          <p:cNvPr id="6" name="dsl:bottom-line-bg"/>
          <p:cNvSpPr/>
          <p:nvPr/>
        </p:nvSpPr>
        <p:spPr>
          <a:xfrm>
            <a:off x="571500" y="4953000"/>
            <a:ext cx="11049000" cy="857250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ottom-line-text"/>
          <p:cNvSpPr txBox="1"/>
          <p:nvPr/>
        </p:nvSpPr>
        <p:spPr>
          <a:xfrm>
            <a:off x="952500" y="5000625"/>
            <a:ext cx="10287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Oranienbaum"/>
                <a:ea typeface="siyuanSongti"/>
              </a:rPr>
              <a:t>未付款，不提前备案；低毛利小单，不赊账；高风险订单，不低价接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不能为了小利润承担大风险</a:t>
            </a:r>
          </a:p>
        </p:txBody>
      </p:sp>
      <p:sp>
        <p:nvSpPr>
          <p:cNvPr id="4" name="dsl:intro-text|s=$body"/>
          <p:cNvSpPr txBox="1"/>
          <p:nvPr/>
        </p:nvSpPr>
        <p:spPr>
          <a:xfrm>
            <a:off x="571500" y="1143000"/>
            <a:ext cx="1104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会议中提到的典型问题：有些小订单看似能赚几百元、几千元，但产品一旦出现漏液、质量问题、交付异常，客户实际货值可能是</a:t>
            </a: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几万、几十万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。</a:t>
            </a:r>
          </a:p>
        </p:txBody>
      </p:sp>
      <p:sp>
        <p:nvSpPr>
          <p:cNvPr id="5" name="dsl:problems-label"/>
          <p:cNvSpPr txBox="1"/>
          <p:nvPr/>
        </p:nvSpPr>
        <p:spPr>
          <a:xfrm>
            <a:off x="571500" y="2047875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这类订单的问题</a:t>
            </a:r>
          </a:p>
        </p:txBody>
      </p:sp>
      <p:sp>
        <p:nvSpPr>
          <p:cNvPr id="6" name="dsl:problems-list|s=$body"/>
          <p:cNvSpPr txBox="1"/>
          <p:nvPr/>
        </p:nvSpPr>
        <p:spPr>
          <a:xfrm>
            <a:off x="571500" y="2381250"/>
            <a:ext cx="5143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利润极低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风险极高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赔付不可控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售后消耗大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容易拖累团队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得罪客户后还影响公司信誉</a:t>
            </a:r>
          </a:p>
        </p:txBody>
      </p:sp>
      <p:sp>
        <p:nvSpPr>
          <p:cNvPr id="7" name="dsl:visual-comparison-bg"/>
          <p:cNvSpPr/>
          <p:nvPr/>
        </p:nvSpPr>
        <p:spPr>
          <a:xfrm>
            <a:off x="6286500" y="2381250"/>
            <a:ext cx="5334000" cy="1905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visual-profit"/>
          <p:cNvSpPr txBox="1"/>
          <p:nvPr/>
        </p:nvSpPr>
        <p:spPr>
          <a:xfrm>
            <a:off x="6572250" y="2524125"/>
            <a:ext cx="4762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预期利润</a:t>
            </a:r>
          </a:p>
          <a:p>
            <a:pPr algn="l"/>
            <a:r>
              <a:rPr sz="2700" noProof="1">
                <a:solidFill>
                  <a:srgbClr val="6B3A2A"/>
                </a:solidFill>
                <a:latin typeface="Oranienbaum"/>
                <a:ea typeface="siyuanSongti"/>
              </a:rPr>
              <a:t>几百 ~ 几千元</a:t>
            </a:r>
          </a:p>
        </p:txBody>
      </p:sp>
      <p:sp>
        <p:nvSpPr>
          <p:cNvPr id="9" name="dsl:visual-risk"/>
          <p:cNvSpPr txBox="1"/>
          <p:nvPr/>
        </p:nvSpPr>
        <p:spPr>
          <a:xfrm>
            <a:off x="6572250" y="3381375"/>
            <a:ext cx="4762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潜在风险</a:t>
            </a:r>
          </a:p>
          <a:p>
            <a:pPr algn="l"/>
            <a:r>
              <a:rPr sz="2700" noProof="1">
                <a:solidFill>
                  <a:srgbClr val="A04030"/>
                </a:solidFill>
                <a:latin typeface="Oranienbaum"/>
                <a:ea typeface="siyuanSongti"/>
              </a:rPr>
              <a:t>几万 ~ 几十万元</a:t>
            </a:r>
          </a:p>
        </p:txBody>
      </p:sp>
      <p:sp>
        <p:nvSpPr>
          <p:cNvPr id="10" name="dsl:conclusion-bg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nclusion-text"/>
          <p:cNvSpPr txBox="1"/>
          <p:nvPr/>
        </p:nvSpPr>
        <p:spPr>
          <a:xfrm>
            <a:off x="952500" y="519112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FFFFFF"/>
                </a:solidFill>
                <a:latin typeface="Oranienbaum"/>
                <a:ea typeface="siyuanSongti"/>
              </a:rPr>
              <a:t>利润和风险不匹配的订单，不能接</a:t>
            </a:r>
          </a:p>
        </p:txBody>
      </p:sp>
      <p:sp>
        <p:nvSpPr>
          <p:cNvPr id="12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以后接单前，必须先过六个判断</a:t>
            </a:r>
          </a:p>
        </p:txBody>
      </p:sp>
      <p:sp>
        <p:nvSpPr>
          <p:cNvPr id="4" name="dsl:subtitle-text"/>
          <p:cNvSpPr txBox="1"/>
          <p:nvPr/>
        </p:nvSpPr>
        <p:spPr>
          <a:xfrm>
            <a:off x="571500" y="1095375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每个订单都要回答六个问题</a:t>
            </a:r>
          </a:p>
        </p:txBody>
      </p:sp>
      <p:sp>
        <p:nvSpPr>
          <p:cNvPr id="5" name="dsl:q1-bg"/>
          <p:cNvSpPr/>
          <p:nvPr/>
        </p:nvSpPr>
        <p:spPr>
          <a:xfrm>
            <a:off x="571500" y="152400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1-text|s=$body"/>
          <p:cNvSpPr txBox="1"/>
          <p:nvPr/>
        </p:nvSpPr>
        <p:spPr>
          <a:xfrm>
            <a:off x="762000" y="161925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01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这个订单能赚多少钱？</a:t>
            </a:r>
          </a:p>
        </p:txBody>
      </p:sp>
      <p:sp>
        <p:nvSpPr>
          <p:cNvPr id="7" name="dsl:q2-bg"/>
          <p:cNvSpPr/>
          <p:nvPr/>
        </p:nvSpPr>
        <p:spPr>
          <a:xfrm>
            <a:off x="4333875" y="152400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q2-text|s=$body"/>
          <p:cNvSpPr txBox="1"/>
          <p:nvPr/>
        </p:nvSpPr>
        <p:spPr>
          <a:xfrm>
            <a:off x="4524375" y="161925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02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这个订单回款安全吗？</a:t>
            </a:r>
          </a:p>
        </p:txBody>
      </p:sp>
      <p:sp>
        <p:nvSpPr>
          <p:cNvPr id="9" name="dsl:q3-bg"/>
          <p:cNvSpPr/>
          <p:nvPr/>
        </p:nvSpPr>
        <p:spPr>
          <a:xfrm>
            <a:off x="8096250" y="152400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3-text|s=$body"/>
          <p:cNvSpPr txBox="1"/>
          <p:nvPr/>
        </p:nvSpPr>
        <p:spPr>
          <a:xfrm>
            <a:off x="8286750" y="161925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03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质量风险大不大？</a:t>
            </a:r>
          </a:p>
        </p:txBody>
      </p:sp>
      <p:sp>
        <p:nvSpPr>
          <p:cNvPr id="11" name="dsl:q4-bg"/>
          <p:cNvSpPr/>
          <p:nvPr/>
        </p:nvSpPr>
        <p:spPr>
          <a:xfrm>
            <a:off x="571500" y="257175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q4-text|s=$body"/>
          <p:cNvSpPr txBox="1"/>
          <p:nvPr/>
        </p:nvSpPr>
        <p:spPr>
          <a:xfrm>
            <a:off x="762000" y="266700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04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会占用多少内部资源？</a:t>
            </a:r>
          </a:p>
        </p:txBody>
      </p:sp>
      <p:sp>
        <p:nvSpPr>
          <p:cNvPr id="13" name="dsl:q5-bg"/>
          <p:cNvSpPr/>
          <p:nvPr/>
        </p:nvSpPr>
        <p:spPr>
          <a:xfrm>
            <a:off x="4333875" y="257175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q5-text|s=$body"/>
          <p:cNvSpPr txBox="1"/>
          <p:nvPr/>
        </p:nvSpPr>
        <p:spPr>
          <a:xfrm>
            <a:off x="4524375" y="266700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05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客户有没有长期价值？</a:t>
            </a:r>
          </a:p>
        </p:txBody>
      </p:sp>
      <p:sp>
        <p:nvSpPr>
          <p:cNvPr id="15" name="dsl:q6-bg"/>
          <p:cNvSpPr/>
          <p:nvPr/>
        </p:nvSpPr>
        <p:spPr>
          <a:xfrm>
            <a:off x="8096250" y="2571750"/>
            <a:ext cx="3524250" cy="85725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q6-text|s=$body"/>
          <p:cNvSpPr txBox="1"/>
          <p:nvPr/>
        </p:nvSpPr>
        <p:spPr>
          <a:xfrm>
            <a:off x="8286750" y="2667000"/>
            <a:ext cx="3143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noProof="1">
                <a:solidFill>
                  <a:srgbClr val="6B3A2A"/>
                </a:solidFill>
                <a:latin typeface="Oranienbaum"/>
                <a:ea typeface="siyuanSongti"/>
              </a:rPr>
              <a:t>06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出问题最大损失是多少？</a:t>
            </a:r>
          </a:p>
        </p:txBody>
      </p:sp>
      <p:sp>
        <p:nvSpPr>
          <p:cNvPr id="17" name="dsl:conclusion-label"/>
          <p:cNvSpPr txBox="1"/>
          <p:nvPr/>
        </p:nvSpPr>
        <p:spPr>
          <a:xfrm>
            <a:off x="571500" y="37147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结论分类</a:t>
            </a:r>
          </a:p>
        </p:txBody>
      </p:sp>
      <p:sp>
        <p:nvSpPr>
          <p:cNvPr id="18" name="dsl:conclusion-items|s=$body"/>
          <p:cNvSpPr txBox="1"/>
          <p:nvPr/>
        </p:nvSpPr>
        <p:spPr>
          <a:xfrm>
            <a:off x="571500" y="4095750"/>
            <a:ext cx="11049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b="1" sz="1500" noProof="1">
                <a:solidFill>
                  <a:srgbClr val="4A7C59"/>
                </a:solidFill>
                <a:latin typeface="Liter"/>
                <a:ea typeface="MiSans"/>
              </a:rPr>
              <a:t>● 值得接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　　</a:t>
            </a:r>
            <a:r>
              <a:rPr b="1" sz="1500" noProof="1">
                <a:solidFill>
                  <a:srgbClr val="6B3A2A"/>
                </a:solidFill>
                <a:latin typeface="Liter"/>
                <a:ea typeface="MiSans"/>
              </a:rPr>
              <a:t>● 涨价接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　　</a:t>
            </a:r>
            <a:r>
              <a:rPr b="1" sz="1500" noProof="1">
                <a:solidFill>
                  <a:srgbClr val="C4851A"/>
                </a:solidFill>
                <a:latin typeface="Liter"/>
                <a:ea typeface="MiSans"/>
              </a:rPr>
              <a:t>● 收预付款接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　　</a:t>
            </a:r>
            <a:r>
              <a:rPr b="1" sz="1500" noProof="1">
                <a:solidFill>
                  <a:srgbClr val="9E968D"/>
                </a:solidFill>
                <a:latin typeface="Liter"/>
                <a:ea typeface="MiSans"/>
              </a:rPr>
              <a:t>● 限制服务接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　　</a:t>
            </a: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● 拒绝接</a:t>
            </a:r>
          </a:p>
        </p:txBody>
      </p:sp>
      <p:sp>
        <p:nvSpPr>
          <p:cNvPr id="19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不是所有订单都用同一种服务标准</a:t>
            </a:r>
          </a:p>
        </p:txBody>
      </p:sp>
      <p:sp>
        <p:nvSpPr>
          <p:cNvPr id="4" name="dsl:a-card-bg"/>
          <p:cNvSpPr/>
          <p:nvPr/>
        </p:nvSpPr>
        <p:spPr>
          <a:xfrm>
            <a:off x="571500" y="1190625"/>
            <a:ext cx="5286375" cy="1095375"/>
          </a:xfrm>
          <a:prstGeom prst="rect">
            <a:avLst/>
          </a:prstGeom>
          <a:solidFill>
            <a:srgbClr val="4A7C59">
              <a:alpha val="125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a-card-accent"/>
          <p:cNvSpPr/>
          <p:nvPr/>
        </p:nvSpPr>
        <p:spPr>
          <a:xfrm>
            <a:off x="571500" y="1190625"/>
            <a:ext cx="47625" cy="1095375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a-card-text|s=$body"/>
          <p:cNvSpPr txBox="1"/>
          <p:nvPr/>
        </p:nvSpPr>
        <p:spPr>
          <a:xfrm>
            <a:off x="809625" y="1238250"/>
            <a:ext cx="4857750" cy="1000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500" noProof="1">
                <a:solidFill>
                  <a:srgbClr val="4A7C59"/>
                </a:solidFill>
                <a:latin typeface="Oranienbaum"/>
                <a:ea typeface="siyuanSongti"/>
              </a:rPr>
              <a:t>A类 优质订单</a:t>
            </a:r>
          </a:p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高毛利、现金安全、长期价值高 → </a:t>
            </a:r>
            <a:r>
              <a:rPr b="1" sz="1275" noProof="1">
                <a:solidFill>
                  <a:srgbClr val="2D2926"/>
                </a:solidFill>
                <a:latin typeface="Liter"/>
                <a:ea typeface="MiSans"/>
              </a:rPr>
              <a:t>优先服务、重点维护</a:t>
            </a:r>
          </a:p>
        </p:txBody>
      </p:sp>
      <p:sp>
        <p:nvSpPr>
          <p:cNvPr id="7" name="dsl:b-card-bg"/>
          <p:cNvSpPr/>
          <p:nvPr/>
        </p:nvSpPr>
        <p:spPr>
          <a:xfrm>
            <a:off x="6334125" y="1190625"/>
            <a:ext cx="5286375" cy="109537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-card-accent"/>
          <p:cNvSpPr/>
          <p:nvPr/>
        </p:nvSpPr>
        <p:spPr>
          <a:xfrm>
            <a:off x="6334125" y="1190625"/>
            <a:ext cx="47625" cy="10953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-card-text|s=$body"/>
          <p:cNvSpPr txBox="1"/>
          <p:nvPr/>
        </p:nvSpPr>
        <p:spPr>
          <a:xfrm>
            <a:off x="6572250" y="1238250"/>
            <a:ext cx="4857750" cy="1000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500" noProof="1">
                <a:solidFill>
                  <a:srgbClr val="6B3A2A"/>
                </a:solidFill>
                <a:latin typeface="Oranienbaum"/>
                <a:ea typeface="siyuanSongti"/>
              </a:rPr>
              <a:t>B类 正常订单</a:t>
            </a:r>
          </a:p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利润正常、风险可控、流程清晰 → </a:t>
            </a:r>
            <a:r>
              <a:rPr b="1" sz="1275" noProof="1">
                <a:solidFill>
                  <a:srgbClr val="2D2926"/>
                </a:solidFill>
                <a:latin typeface="Liter"/>
                <a:ea typeface="MiSans"/>
              </a:rPr>
              <a:t>正常推进</a:t>
            </a:r>
          </a:p>
        </p:txBody>
      </p:sp>
      <p:sp>
        <p:nvSpPr>
          <p:cNvPr id="10" name="dsl:c-card-bg"/>
          <p:cNvSpPr/>
          <p:nvPr/>
        </p:nvSpPr>
        <p:spPr>
          <a:xfrm>
            <a:off x="571500" y="2476500"/>
            <a:ext cx="5286375" cy="1095375"/>
          </a:xfrm>
          <a:prstGeom prst="rect">
            <a:avLst/>
          </a:prstGeom>
          <a:solidFill>
            <a:srgbClr val="C4851A">
              <a:alpha val="125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-card-accent"/>
          <p:cNvSpPr/>
          <p:nvPr/>
        </p:nvSpPr>
        <p:spPr>
          <a:xfrm>
            <a:off x="571500" y="2476500"/>
            <a:ext cx="47625" cy="1095375"/>
          </a:xfrm>
          <a:prstGeom prst="rect">
            <a:avLst/>
          </a:prstGeom>
          <a:solidFill>
            <a:srgbClr val="C48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-card-text|s=$body"/>
          <p:cNvSpPr txBox="1"/>
          <p:nvPr/>
        </p:nvSpPr>
        <p:spPr>
          <a:xfrm>
            <a:off x="809625" y="2524125"/>
            <a:ext cx="4857750" cy="1000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500" noProof="1">
                <a:solidFill>
                  <a:srgbClr val="C4851A"/>
                </a:solidFill>
                <a:latin typeface="Oranienbaum"/>
                <a:ea typeface="siyuanSongti"/>
              </a:rPr>
              <a:t>C类 谨慎订单</a:t>
            </a:r>
          </a:p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小单、低毛利、服务消耗大、有一定风险 → </a:t>
            </a:r>
            <a:r>
              <a:rPr b="1" sz="1275" noProof="1">
                <a:solidFill>
                  <a:srgbClr val="2D2926"/>
                </a:solidFill>
                <a:latin typeface="Liter"/>
                <a:ea typeface="MiSans"/>
              </a:rPr>
              <a:t>涨价、收预付款、限制服务</a:t>
            </a:r>
          </a:p>
        </p:txBody>
      </p:sp>
      <p:sp>
        <p:nvSpPr>
          <p:cNvPr id="13" name="dsl:d-card-bg"/>
          <p:cNvSpPr/>
          <p:nvPr/>
        </p:nvSpPr>
        <p:spPr>
          <a:xfrm>
            <a:off x="6334125" y="2476500"/>
            <a:ext cx="5286375" cy="1095375"/>
          </a:xfrm>
          <a:prstGeom prst="rect">
            <a:avLst/>
          </a:prstGeom>
          <a:solidFill>
            <a:srgbClr val="A04030">
              <a:alpha val="125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d-card-accent"/>
          <p:cNvSpPr/>
          <p:nvPr/>
        </p:nvSpPr>
        <p:spPr>
          <a:xfrm>
            <a:off x="6334125" y="2476500"/>
            <a:ext cx="47625" cy="1095375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d-card-text|s=$body"/>
          <p:cNvSpPr txBox="1"/>
          <p:nvPr/>
        </p:nvSpPr>
        <p:spPr>
          <a:xfrm>
            <a:off x="6572250" y="2524125"/>
            <a:ext cx="4857750" cy="1000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500" noProof="1">
                <a:solidFill>
                  <a:srgbClr val="A04030"/>
                </a:solidFill>
                <a:latin typeface="Oranienbaum"/>
                <a:ea typeface="siyuanSongti"/>
              </a:rPr>
              <a:t>D类 拒接订单</a:t>
            </a:r>
          </a:p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低利润、高风险、赊账、售后隐患大 → </a:t>
            </a:r>
            <a:r>
              <a:rPr b="1" sz="1275" noProof="1">
                <a:solidFill>
                  <a:srgbClr val="2D2926"/>
                </a:solidFill>
                <a:latin typeface="Liter"/>
                <a:ea typeface="MiSans"/>
              </a:rPr>
              <a:t>原则上不接</a:t>
            </a:r>
          </a:p>
        </p:txBody>
      </p:sp>
      <p:sp>
        <p:nvSpPr>
          <p:cNvPr id="16" name="dsl:quote-bg"/>
          <p:cNvSpPr/>
          <p:nvPr/>
        </p:nvSpPr>
        <p:spPr>
          <a:xfrm>
            <a:off x="571500" y="4000500"/>
            <a:ext cx="11049000" cy="6667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quote-text"/>
          <p:cNvSpPr txBox="1"/>
          <p:nvPr/>
        </p:nvSpPr>
        <p:spPr>
          <a:xfrm>
            <a:off x="952500" y="404812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 noProof="1">
                <a:solidFill>
                  <a:srgbClr val="FFFFFF"/>
                </a:solidFill>
                <a:latin typeface="Oranienbaum"/>
                <a:ea typeface="siyuanSongti"/>
              </a:rPr>
              <a:t>客户要分级，订单也要分级</a:t>
            </a:r>
          </a:p>
        </p:txBody>
      </p:sp>
      <p:sp>
        <p:nvSpPr>
          <p:cNvPr id="18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销售报价前必须先完成这张检查表</a:t>
            </a:r>
          </a:p>
        </p:txBody>
      </p:sp>
      <p:sp>
        <p:nvSpPr>
          <p:cNvPr id="4" name="dsl:checklist-col1|s=$body"/>
          <p:cNvSpPr txBox="1"/>
          <p:nvPr/>
        </p:nvSpPr>
        <p:spPr>
          <a:xfrm>
            <a:off x="571500" y="1143000"/>
            <a:ext cx="533400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01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客户订单数量是多少？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02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是否低于公司最小起订量？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03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是否直接套用了大货价格？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04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预计绝对毛利是多少？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05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是否需要设计、打样、备案、特殊沟通？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06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是否存在质量、漏液、售后、赔付风险？</a:t>
            </a:r>
          </a:p>
        </p:txBody>
      </p:sp>
      <p:sp>
        <p:nvSpPr>
          <p:cNvPr id="5" name="dsl:checklist-col2|s=$body"/>
          <p:cNvSpPr txBox="1"/>
          <p:nvPr/>
        </p:nvSpPr>
        <p:spPr>
          <a:xfrm>
            <a:off x="6286500" y="1143000"/>
            <a:ext cx="533400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07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客户是否愿意预付款？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08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是否存在赊账或账期要求？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09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如果出问题，最大损失可能是多少？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10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这个客户是否有长期价值？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11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是否会占用大量内部协同资源？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12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最终建议：接 / 涨价接 / 收预付款接 / 拒接</a:t>
            </a:r>
          </a:p>
        </p:txBody>
      </p:sp>
      <p:sp>
        <p:nvSpPr>
          <p:cNvPr id="6" name="dsl:result-bg"/>
          <p:cNvSpPr/>
          <p:nvPr/>
        </p:nvSpPr>
        <p:spPr>
          <a:xfrm>
            <a:off x="571500" y="4953000"/>
            <a:ext cx="11049000" cy="762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result-text"/>
          <p:cNvSpPr txBox="1"/>
          <p:nvPr/>
        </p:nvSpPr>
        <p:spPr>
          <a:xfrm>
            <a:off x="952500" y="5000625"/>
            <a:ext cx="10287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6B3A2A"/>
                </a:solidFill>
                <a:latin typeface="Oranienbaum"/>
                <a:ea typeface="siyuanSongti"/>
              </a:rPr>
              <a:t>最终建议：接　/　涨价接　/　收预付款接　/　拒接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优秀业务不是会接单，而是会判断订单质量</a:t>
            </a:r>
          </a:p>
        </p:txBody>
      </p:sp>
      <p:sp>
        <p:nvSpPr>
          <p:cNvPr id="4" name="dsl:past-label"/>
          <p:cNvSpPr txBox="1"/>
          <p:nvPr/>
        </p:nvSpPr>
        <p:spPr>
          <a:xfrm>
            <a:off x="571500" y="1238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过去业务的能力</a:t>
            </a:r>
          </a:p>
        </p:txBody>
      </p:sp>
      <p:sp>
        <p:nvSpPr>
          <p:cNvPr id="5" name="dsl:past-list|s=$body"/>
          <p:cNvSpPr txBox="1"/>
          <p:nvPr/>
        </p:nvSpPr>
        <p:spPr>
          <a:xfrm>
            <a:off x="571500" y="1619250"/>
            <a:ext cx="4762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能沟通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能报价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能成交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9E968D"/>
                </a:solidFill>
                <a:latin typeface="Liter"/>
                <a:ea typeface="MiSans"/>
              </a:rPr>
              <a:t>○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能跟进客户</a:t>
            </a:r>
          </a:p>
        </p:txBody>
      </p:sp>
      <p:sp>
        <p:nvSpPr>
          <p:cNvPr id="6" name="dsl:future-label"/>
          <p:cNvSpPr txBox="1"/>
          <p:nvPr/>
        </p:nvSpPr>
        <p:spPr>
          <a:xfrm>
            <a:off x="6286500" y="1238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未来业务的能力</a:t>
            </a:r>
          </a:p>
        </p:txBody>
      </p:sp>
      <p:sp>
        <p:nvSpPr>
          <p:cNvPr id="7" name="dsl:future-list|s=$body"/>
          <p:cNvSpPr txBox="1"/>
          <p:nvPr/>
        </p:nvSpPr>
        <p:spPr>
          <a:xfrm>
            <a:off x="6286500" y="1619250"/>
            <a:ext cx="5334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能判断客户价值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能识别订单风险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能核算绝对毛利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能设计谈判策略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能坚持价格底线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能拒绝低质量订单</a:t>
            </a:r>
          </a:p>
          <a:p>
            <a:pPr algn="l">
              <a:lnSpc>
                <a:spcPct val="170000"/>
              </a:lnSpc>
            </a:pPr>
            <a:r>
              <a:rPr b="1" sz="1350" noProof="1">
                <a:solidFill>
                  <a:srgbClr val="A04030"/>
                </a:solidFill>
                <a:latin typeface="Liter"/>
                <a:ea typeface="MiSans"/>
              </a:rPr>
              <a:t>●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能把客户引导到合理成交条件</a:t>
            </a:r>
          </a:p>
        </p:txBody>
      </p:sp>
      <p:pic>
        <p:nvPicPr>
          <p:cNvPr id="8" name="dsl:arrow-icon|i=fas:arrow-right" descr="tmp8lg1fa2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2190750"/>
            <a:ext cx="476250" cy="4762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dsl:divider-line"/>
          <p:cNvSpPr/>
          <p:nvPr/>
        </p:nvSpPr>
        <p:spPr>
          <a:xfrm>
            <a:off x="571500" y="4381500"/>
            <a:ext cx="1104900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upgrade-text"/>
          <p:cNvSpPr txBox="1"/>
          <p:nvPr/>
        </p:nvSpPr>
        <p:spPr>
          <a:xfrm>
            <a:off x="571500" y="4619625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6B3A2A"/>
                </a:solidFill>
                <a:latin typeface="Oranienbaum"/>
                <a:ea typeface="siyuanSongti"/>
              </a:rPr>
              <a:t>核心升级：业务员要从销售人员，升级为</a:t>
            </a:r>
            <a:r>
              <a:rPr b="1" sz="1650" noProof="1">
                <a:solidFill>
                  <a:srgbClr val="A04030"/>
                </a:solidFill>
                <a:latin typeface="Oranienbaum"/>
                <a:ea typeface="siyuanSongti"/>
              </a:rPr>
              <a:t>经营型业务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管理层不能被低价值问题消耗</a:t>
            </a:r>
          </a:p>
        </p:txBody>
      </p:sp>
      <p:sp>
        <p:nvSpPr>
          <p:cNvPr id="4" name="dsl:should-label"/>
          <p:cNvSpPr txBox="1"/>
          <p:nvPr/>
        </p:nvSpPr>
        <p:spPr>
          <a:xfrm>
            <a:off x="571500" y="1190625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4A7C59"/>
                </a:solidFill>
                <a:latin typeface="Liter"/>
                <a:ea typeface="MiSans"/>
              </a:rPr>
              <a:t>管理层时间应该用在</a:t>
            </a:r>
          </a:p>
        </p:txBody>
      </p:sp>
      <p:sp>
        <p:nvSpPr>
          <p:cNvPr id="5" name="dsl:should-list|s=$body"/>
          <p:cNvSpPr txBox="1"/>
          <p:nvPr/>
        </p:nvSpPr>
        <p:spPr>
          <a:xfrm>
            <a:off x="571500" y="1524000"/>
            <a:ext cx="51435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优质客户开发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高毛利产品研究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大客户服务机制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产品结构升级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团队能力训练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4A7C59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经营风控系统建设</a:t>
            </a:r>
          </a:p>
        </p:txBody>
      </p:sp>
      <p:sp>
        <p:nvSpPr>
          <p:cNvPr id="6" name="dsl:should-not-label"/>
          <p:cNvSpPr txBox="1"/>
          <p:nvPr/>
        </p:nvSpPr>
        <p:spPr>
          <a:xfrm>
            <a:off x="6286500" y="1190625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A04030"/>
                </a:solidFill>
                <a:latin typeface="Liter"/>
                <a:ea typeface="MiSans"/>
              </a:rPr>
              <a:t>不应该长期被消耗在</a:t>
            </a:r>
          </a:p>
        </p:txBody>
      </p:sp>
      <p:sp>
        <p:nvSpPr>
          <p:cNvPr id="7" name="dsl:should-not-list|s=$body"/>
          <p:cNvSpPr txBox="1"/>
          <p:nvPr/>
        </p:nvSpPr>
        <p:spPr>
          <a:xfrm>
            <a:off x="6286500" y="1524000"/>
            <a:ext cx="5334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几百元利润的小单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低质量客户反复沟通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原本可以标准化的问题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因低价接单造成的售后扯皮</a:t>
            </a: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A04030"/>
                </a:solidFill>
                <a:latin typeface="Liter"/>
                <a:ea typeface="MiSans"/>
              </a:rPr>
              <a:t>▸</a:t>
            </a: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  本可提前风控的问题补救</a:t>
            </a:r>
          </a:p>
        </p:txBody>
      </p:sp>
      <p:sp>
        <p:nvSpPr>
          <p:cNvPr id="8" name="dsl:quote-bg"/>
          <p:cNvSpPr/>
          <p:nvPr/>
        </p:nvSpPr>
        <p:spPr>
          <a:xfrm>
            <a:off x="571500" y="4191000"/>
            <a:ext cx="11049000" cy="6667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quote-text"/>
          <p:cNvSpPr txBox="1"/>
          <p:nvPr/>
        </p:nvSpPr>
        <p:spPr>
          <a:xfrm>
            <a:off x="952500" y="423862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 noProof="1">
                <a:solidFill>
                  <a:srgbClr val="FFFFFF"/>
                </a:solidFill>
                <a:latin typeface="Oranienbaum"/>
                <a:ea typeface="siyuanSongti"/>
              </a:rPr>
              <a:t>管理层时间，也是公司成本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从普通接单部门，升级为高价值客户服务部门</a:t>
            </a:r>
          </a:p>
        </p:txBody>
      </p:sp>
      <p:sp>
        <p:nvSpPr>
          <p:cNvPr id="4" name="dsl:direction-text|s=$body"/>
          <p:cNvSpPr txBox="1"/>
          <p:nvPr/>
        </p:nvSpPr>
        <p:spPr>
          <a:xfrm>
            <a:off x="571500" y="114300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会议中提到一个重要方向：公司部分业务部门应参考大客户服务模式，不应该把大量精力放在低毛利、琐碎、低价值的小客户订单上。</a:t>
            </a:r>
          </a:p>
        </p:txBody>
      </p:sp>
      <p:sp>
        <p:nvSpPr>
          <p:cNvPr id="5" name="dsl:future-label"/>
          <p:cNvSpPr txBox="1"/>
          <p:nvPr/>
        </p:nvSpPr>
        <p:spPr>
          <a:xfrm>
            <a:off x="571500" y="185737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6B3A2A"/>
                </a:solidFill>
                <a:latin typeface="Liter"/>
                <a:ea typeface="MiSans"/>
              </a:rPr>
              <a:t>未来部门定位</a:t>
            </a:r>
          </a:p>
        </p:txBody>
      </p:sp>
      <p:sp>
        <p:nvSpPr>
          <p:cNvPr id="6" name="dsl:future-list|s=$body"/>
          <p:cNvSpPr txBox="1"/>
          <p:nvPr/>
        </p:nvSpPr>
        <p:spPr>
          <a:xfrm>
            <a:off x="571500" y="2238375"/>
            <a:ext cx="5715000" cy="2571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服务优质客户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筛选高价值项目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推动高毛利产品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管理客户风险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提升成交质量</a:t>
            </a:r>
          </a:p>
          <a:p>
            <a:pPr algn="l">
              <a:lnSpc>
                <a:spcPct val="180000"/>
              </a:lnSpc>
            </a:pPr>
            <a:r>
              <a:rPr sz="1500" noProof="1">
                <a:solidFill>
                  <a:srgbClr val="6B3A2A"/>
                </a:solidFill>
                <a:latin typeface="Liter"/>
                <a:ea typeface="MiSans"/>
              </a:rPr>
              <a:t>▸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  建立可持续利润</a:t>
            </a:r>
          </a:p>
        </p:txBody>
      </p:sp>
      <p:sp>
        <p:nvSpPr>
          <p:cNvPr id="7" name="dsl:conclusion-bg"/>
          <p:cNvSpPr/>
          <p:nvPr/>
        </p:nvSpPr>
        <p:spPr>
          <a:xfrm>
            <a:off x="6667500" y="2238375"/>
            <a:ext cx="4953000" cy="1143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onclusion-text"/>
          <p:cNvSpPr txBox="1"/>
          <p:nvPr/>
        </p:nvSpPr>
        <p:spPr>
          <a:xfrm>
            <a:off x="6953250" y="2381250"/>
            <a:ext cx="43815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650" noProof="1">
                <a:solidFill>
                  <a:srgbClr val="6B3A2A"/>
                </a:solidFill>
                <a:latin typeface="Oranienbaum"/>
                <a:ea typeface="siyuanSongti"/>
              </a:rPr>
              <a:t>核心判断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不是客户越多越好，而是客户质量越高越好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会议不能停留在纪要，要变成企业资产</a:t>
            </a:r>
          </a:p>
        </p:txBody>
      </p:sp>
      <p:sp>
        <p:nvSpPr>
          <p:cNvPr id="4" name="dsl:subtitle-text"/>
          <p:cNvSpPr txBox="1"/>
          <p:nvPr/>
        </p:nvSpPr>
        <p:spPr>
          <a:xfrm>
            <a:off x="571500" y="1095375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E968D"/>
                </a:solidFill>
                <a:latin typeface="Liter"/>
                <a:ea typeface="MiSans"/>
              </a:rPr>
              <a:t>本次会议应沉淀为</a:t>
            </a:r>
          </a:p>
        </p:txBody>
      </p:sp>
      <p:sp>
        <p:nvSpPr>
          <p:cNvPr id="5" name="dsl:assets-col1|s=$body"/>
          <p:cNvSpPr txBox="1"/>
          <p:nvPr/>
        </p:nvSpPr>
        <p:spPr>
          <a:xfrm>
            <a:off x="571500" y="1476375"/>
            <a:ext cx="5334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01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小订单经营风控原则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02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小订单定价标准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03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报价前风控检查表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04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订单A/B/C/D分级机制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05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预付款与备案风控标准</a:t>
            </a:r>
          </a:p>
        </p:txBody>
      </p:sp>
      <p:sp>
        <p:nvSpPr>
          <p:cNvPr id="6" name="dsl:assets-col2|s=$body"/>
          <p:cNvSpPr txBox="1"/>
          <p:nvPr/>
        </p:nvSpPr>
        <p:spPr>
          <a:xfrm>
            <a:off x="6286500" y="1476375"/>
            <a:ext cx="5334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06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小订单服务边界标准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07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高风险品类接单标准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08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典型亏损/风险案例库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09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销售报价训练机制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10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管理层订单复盘机制</a:t>
            </a:r>
          </a:p>
        </p:txBody>
      </p:sp>
      <p:sp>
        <p:nvSpPr>
          <p:cNvPr id="7" name="dsl:core-bg"/>
          <p:cNvSpPr/>
          <p:nvPr/>
        </p:nvSpPr>
        <p:spPr>
          <a:xfrm>
            <a:off x="571500" y="4476750"/>
            <a:ext cx="11049000" cy="857250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ore-text"/>
          <p:cNvSpPr txBox="1"/>
          <p:nvPr/>
        </p:nvSpPr>
        <p:spPr>
          <a:xfrm>
            <a:off x="952500" y="4524375"/>
            <a:ext cx="10287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350" noProof="1">
                <a:solidFill>
                  <a:srgbClr val="FFFFFF"/>
                </a:solidFill>
                <a:latin typeface="Liter"/>
                <a:ea typeface="MiSans"/>
              </a:rPr>
              <a:t>核心：会议只是认知发生的地方，企业资产是让以后的人不用再靠老板临场判断，也能做出正确动作。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8572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会后必须立刻落地的动作</a:t>
            </a:r>
          </a:p>
        </p:txBody>
      </p:sp>
      <p:sp>
        <p:nvSpPr>
          <p:cNvPr id="4" name="dsl:actions-col1|s=$body"/>
          <p:cNvSpPr txBox="1"/>
          <p:nvPr/>
        </p:nvSpPr>
        <p:spPr>
          <a:xfrm>
            <a:off x="571500" y="1190625"/>
            <a:ext cx="5334000" cy="3714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01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建立小订单报价底线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02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明确不同数量区间的报价原则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03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制作报价前风控检查表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04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所有低毛利小单必须预付款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05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未付款、未下单，不提前备案</a:t>
            </a:r>
          </a:p>
        </p:txBody>
      </p:sp>
      <p:sp>
        <p:nvSpPr>
          <p:cNvPr id="5" name="dsl:actions-col2|s=$body"/>
          <p:cNvSpPr txBox="1"/>
          <p:nvPr/>
        </p:nvSpPr>
        <p:spPr>
          <a:xfrm>
            <a:off x="6286500" y="1190625"/>
            <a:ext cx="5334000" cy="3714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06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包材、喷头、漏液类订单列入高风险品类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07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每周复盘1-2个典型订单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08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销售团队训练「接 / 涨价接 / 拒接」的判断能力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09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把本次会议整理进企业大脑</a:t>
            </a:r>
          </a:p>
          <a:p>
            <a:pPr algn="l">
              <a:lnSpc>
                <a:spcPct val="165000"/>
              </a:lnSpc>
            </a:pPr>
            <a:r>
              <a:rPr b="1" sz="1275" noProof="1">
                <a:solidFill>
                  <a:srgbClr val="6B3A2A"/>
                </a:solidFill>
                <a:latin typeface="Liter"/>
                <a:ea typeface="MiSans"/>
              </a:rPr>
              <a:t>10</a:t>
            </a:r>
            <a:r>
              <a:rPr sz="1275" noProof="1">
                <a:solidFill>
                  <a:srgbClr val="2D2926"/>
                </a:solidFill>
                <a:latin typeface="Liter"/>
                <a:ea typeface="MiSans"/>
              </a:rPr>
              <a:t>  后续形成正式SOP</a:t>
            </a:r>
          </a:p>
        </p:txBody>
      </p:sp>
      <p:sp>
        <p:nvSpPr>
          <p:cNvPr id="6" name="dsl:urgency-bg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urgency-text"/>
          <p:cNvSpPr txBox="1"/>
          <p:nvPr/>
        </p:nvSpPr>
        <p:spPr>
          <a:xfrm>
            <a:off x="952500" y="5191125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FFFFFF"/>
                </a:solidFill>
                <a:latin typeface="Oranienbaum"/>
                <a:ea typeface="siyuanSongti"/>
              </a:rPr>
              <a:t>行动胜于认知，执行胜于讨论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accent"/>
          <p:cNvSpPr/>
          <p:nvPr/>
        </p:nvSpPr>
        <p:spPr>
          <a:xfrm>
            <a:off x="571500" y="381000"/>
            <a:ext cx="762000" cy="28575"/>
          </a:xfrm>
          <a:prstGeom prst="rect">
            <a:avLst/>
          </a:prstGeom>
          <a:solidFill>
            <a:srgbClr val="6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heading"/>
          <p:cNvSpPr txBox="1"/>
          <p:nvPr/>
        </p:nvSpPr>
        <p:spPr>
          <a:xfrm>
            <a:off x="571500" y="571500"/>
            <a:ext cx="762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6B3A2A"/>
                </a:solidFill>
                <a:latin typeface="Oranienbaum"/>
                <a:ea typeface="siyuanSongti"/>
              </a:rPr>
              <a:t>小订单经营风控原则</a:t>
            </a:r>
          </a:p>
        </p:txBody>
      </p:sp>
      <p:sp>
        <p:nvSpPr>
          <p:cNvPr id="4" name="dsl:main-statement"/>
          <p:cNvSpPr txBox="1"/>
          <p:nvPr/>
        </p:nvSpPr>
        <p:spPr>
          <a:xfrm>
            <a:off x="571500" y="1238250"/>
            <a:ext cx="1104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A04030"/>
                </a:solidFill>
                <a:latin typeface="Oranienbaum"/>
                <a:ea typeface="siyuanSongti"/>
              </a:rPr>
              <a:t>不是所有订单都是机会，有些订单本质上是风险。</a:t>
            </a:r>
          </a:p>
        </p:txBody>
      </p:sp>
      <p:sp>
        <p:nvSpPr>
          <p:cNvPr id="5" name="dsl:principle-text|s=$body"/>
          <p:cNvSpPr txBox="1"/>
          <p:nvPr/>
        </p:nvSpPr>
        <p:spPr>
          <a:xfrm>
            <a:off x="571500" y="2000250"/>
            <a:ext cx="11049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小订单不能直接套用大订单价格，不能享受大客户资源，更不能用微薄利润让公司承担高额质量、售后、应收、备案和管理成本。</a:t>
            </a:r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公司必须从</a:t>
            </a:r>
            <a:r>
              <a:rPr sz="1500" noProof="1">
                <a:solidFill>
                  <a:srgbClr val="9E968D"/>
                </a:solidFill>
                <a:latin typeface="Liter"/>
                <a:ea typeface="MiSans"/>
              </a:rPr>
              <a:t>「饥饿型接单」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转向</a:t>
            </a:r>
            <a:r>
              <a:rPr b="1" sz="1500" noProof="1">
                <a:solidFill>
                  <a:srgbClr val="A04030"/>
                </a:solidFill>
                <a:latin typeface="Liter"/>
                <a:ea typeface="MiSans"/>
              </a:rPr>
              <a:t>「经营型接单」</a:t>
            </a: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：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500" noProof="1">
                <a:solidFill>
                  <a:srgbClr val="2D2926"/>
                </a:solidFill>
                <a:latin typeface="Liter"/>
                <a:ea typeface="MiSans"/>
              </a:rPr>
              <a:t>先判断利润、现金流、风险、服务消耗和长期价值，再决定是否承接。</a:t>
            </a:r>
          </a:p>
        </p:txBody>
      </p:sp>
      <p:sp>
        <p:nvSpPr>
          <p:cNvPr id="6" name="dsl:summary-bg"/>
          <p:cNvSpPr/>
          <p:nvPr/>
        </p:nvSpPr>
        <p:spPr>
          <a:xfrm>
            <a:off x="571500" y="4286250"/>
            <a:ext cx="11049000" cy="1143000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ummary-text"/>
          <p:cNvSpPr txBox="1"/>
          <p:nvPr/>
        </p:nvSpPr>
        <p:spPr>
          <a:xfrm>
            <a:off x="952500" y="4381500"/>
            <a:ext cx="10287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小单有小单价格　·　小单有小单边界</a:t>
            </a:r>
          </a:p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2D2926"/>
                </a:solidFill>
                <a:latin typeface="Liter"/>
                <a:ea typeface="MiSans"/>
              </a:rPr>
              <a:t>订单要创造利润　·　而不是制造风险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9E968D"/>
                </a:solidFill>
                <a:latin typeface="Liter"/>
                <a:ea typeface="Mi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 t="7845" b="7845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dsl_mask_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D2926">
                  <a:alpha val="90980"/>
                </a:srgbClr>
              </a:gs>
              <a:gs pos="60000">
                <a:srgbClr val="2D2926">
                  <a:alpha val="80000"/>
                </a:srgbClr>
              </a:gs>
              <a:gs pos="100000">
                <a:srgbClr val="2D2926">
                  <a:alpha val="25098"/>
                </a:srgbClr>
              </a:gs>
            </a:gsLst>
            <a:lin scaled="1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losing-title|s=$title"/>
          <p:cNvSpPr txBox="1"/>
          <p:nvPr/>
        </p:nvSpPr>
        <p:spPr>
          <a:xfrm>
            <a:off x="571500" y="1524000"/>
            <a:ext cx="8572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300" noProof="1">
                <a:solidFill>
                  <a:srgbClr val="FFFFFF"/>
                </a:solidFill>
                <a:latin typeface="Oranienbaum"/>
                <a:ea typeface="siyuanSongti"/>
              </a:rPr>
              <a:t>我们要的不是更多订单，</a:t>
            </a:r>
          </a:p>
          <a:p>
            <a:pPr algn="l">
              <a:lnSpc>
                <a:spcPct val="120000"/>
              </a:lnSpc>
            </a:pPr>
            <a:r>
              <a:rPr sz="3300" noProof="1">
                <a:solidFill>
                  <a:srgbClr val="FFFFFF"/>
                </a:solidFill>
                <a:latin typeface="Oranienbaum"/>
                <a:ea typeface="siyuanSongti"/>
              </a:rPr>
              <a:t>而是更高质量的订单</a:t>
            </a:r>
          </a:p>
        </p:txBody>
      </p:sp>
      <p:sp>
        <p:nvSpPr>
          <p:cNvPr id="4" name="dsl:direction-list"/>
          <p:cNvSpPr txBox="1"/>
          <p:nvPr/>
        </p:nvSpPr>
        <p:spPr>
          <a:xfrm>
            <a:off x="571500" y="2952750"/>
            <a:ext cx="7620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FFFFFF">
                    <a:alpha val="80000"/>
                  </a:srgbClr>
                </a:solidFill>
                <a:latin typeface="Liter"/>
                <a:ea typeface="MiSans"/>
              </a:rPr>
              <a:t>●  不做低价值消耗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FFFFFF">
                    <a:alpha val="80000"/>
                  </a:srgbClr>
                </a:solidFill>
                <a:latin typeface="Liter"/>
                <a:ea typeface="MiSans"/>
              </a:rPr>
              <a:t>●  不接高风险低利润订单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FFFFFF">
                    <a:alpha val="80000"/>
                  </a:srgbClr>
                </a:solidFill>
                <a:latin typeface="Liter"/>
                <a:ea typeface="MiSans"/>
              </a:rPr>
              <a:t>●  不用大客户资源服务低质量小单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FFFFFF">
                    <a:alpha val="80000"/>
                  </a:srgbClr>
                </a:solidFill>
                <a:latin typeface="Liter"/>
                <a:ea typeface="MiSans"/>
              </a:rPr>
              <a:t>●  不用营业额掩盖亏损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FFFFFF">
                    <a:alpha val="80000"/>
                  </a:srgbClr>
                </a:solidFill>
                <a:latin typeface="Liter"/>
                <a:ea typeface="MiSans"/>
              </a:rPr>
              <a:t>●  不用忙碌代替经营质量</a:t>
            </a:r>
          </a:p>
        </p:txBody>
      </p:sp>
      <p:sp>
        <p:nvSpPr>
          <p:cNvPr id="5" name="dsl:goal-text"/>
          <p:cNvSpPr txBox="1"/>
          <p:nvPr/>
        </p:nvSpPr>
        <p:spPr>
          <a:xfrm>
            <a:off x="571500" y="4857750"/>
            <a:ext cx="8572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FFFFFF"/>
                </a:solidFill>
                <a:latin typeface="Oranienbaum"/>
                <a:ea typeface="siyuanSongti"/>
              </a:rPr>
              <a:t>让每一个订单，都经得起利润、现金流、风险和资源投入的检验。</a:t>
            </a:r>
          </a:p>
        </p:txBody>
      </p:sp>
      <p:sp>
        <p:nvSpPr>
          <p:cNvPr id="6" name="dsl:closing-quote"/>
          <p:cNvSpPr txBox="1"/>
          <p:nvPr/>
        </p:nvSpPr>
        <p:spPr>
          <a:xfrm>
            <a:off x="571500" y="55245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>
                    <a:alpha val="53333"/>
                  </a:srgbClr>
                </a:solidFill>
                <a:latin typeface="Liter"/>
                <a:ea typeface="MiSans"/>
              </a:rPr>
              <a:t>小单要有小单价格，小单要有小单边界；订单要创造利润，而不是制造风险。</a:t>
            </a:r>
          </a:p>
        </p:txBody>
      </p:sp>
      <p:sp>
        <p:nvSpPr>
          <p:cNvPr id="7" name="dsl:bottom-line"/>
          <p:cNvSpPr/>
          <p:nvPr/>
        </p:nvSpPr>
        <p:spPr>
          <a:xfrm>
            <a:off x="571500" y="6096000"/>
            <a:ext cx="1428750" cy="19050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6B3A2A"/>
    <Color name="secondary" value="#9E968D"/>
    <Color name="accent" value="#A04030"/>
    <Color name="background" value="#F5F2EC"/>
    <Color name="text" value="#2D2926"/>
    <Color name="light" value="#EDEAE4"/>
    <Color name="white" value="#FFFFFF"/>
  </Colors>
  <TextStyles>
    <TextStyle name="title" font_size="48.0" color="$white" font_family="Oranienbaum, siyuanSongti" line_height="1.2"/>
    <TextStyle name="subtitle" font_size="22.0" color="$white" font_family="Liter, MiSans" line_height="1.4"/>
    <TextStyle name="heading" font_size="30.0" color="$primary" font_family="Oranienbaum, siyuanSongti" line_height="1.3"/>
    <TextStyle name="body" font_size="18.0" color="$text" font_family="Liter, MiSans" line_height="1.6"/>
    <TextStyle name="highlight" font_size="22.0" color="$accent" font_family="Liter, MiSans" line_height="1.5"/>
    <TextStyle name="caption" font_size="12.0" color="$secondary" font_family="Liter, MiSans" line_height="1.4"/>
  </TextStyles>
  <TableStyles>
    <TableStyle name="default" fontSize="16.0" fontFamily="Liter, MiSans" headerFill="$primary" headerColor="$white" headerBold="true" bodyFill="$background,$light" bodyColor="$text" firstColumnBold="false">
      <Border style="solid" width="1.0" color="$light"/>
    </TableStyle>
  </TableStyles>
</DslMetadata>
</file>

<file path=customXml/itemProps1.xml><?xml version="1.0" encoding="utf-8"?>
<ns0:datastoreItem xmlns:ns0="http://schemas.openxmlformats.org/officeDocument/2006/customXml" ns0:itemID="{F91280B4-6231-4001-8F86-70673309204F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